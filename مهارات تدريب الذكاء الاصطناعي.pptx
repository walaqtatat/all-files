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أهلاً وسهلاً بكم في دورة "مهارات تدريب الذكاء الاصطناعي". نحن اليوم نشهد انفجاراً غير مسبوق في تطبيقات الذكاء الاصطناعي — من ChatGPT والمساعدات الذكية إلى السيارات ذاتية القيادة والتشخيص الطبي. لكن ما يميّز خبيراً حقيقياً عن مستخدم عادي هو قدرته على تدريب النماذج نفسها، لا مجرد استدعائها. تدريب النماذج هو المهارة الأكثر قيمة في العقد القادم. على مدى اثنتي عشرة شريحة، سنتنقل معاً عبر أربعة محاور رئيسية: أساسيات الذكاء الاصطناعي، إعداد البيانات، أنواع التعلم، وخوارزميات التدريب. سنرافق المفاهيم النظرية بأمثلة كود PyTorch حقيقية. جهّزوا دفاتركم، ولنبدأ الرحلة.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رحلتنا اليوم مبنية على أربعة محاور مترابطة. نبدأ بالأساسيات لفهم ماهية الذكاء الاصطناعي وأنواعه، لأن من لا يفهم الأساس لن يتقن التفاصيل. ثم ننتقل إلى إعداد البيانات، الذي يستهلك غالباً معظم وقت المشاريع الحقيقية؛ فالبيانات الجيدة هي نصف الحل. المحور الثالث يستعرض أنواع التعلم الآلي الأربعة، الإشراف وغير الإشراف والتعزيز ونقل المعرفة، لتعرف متى تستخدم أي نوع. وأخيراً نخوض في خوارزميات التدريب نفسها: SGD وAdam، معدل التعلم وحجم الدفعة، وحلقة التدريب العملية مع كود PyTorch. كل محور يبني على السابق، فلا تتابع قبل أن تستوعب البنية الكلية.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رحلتنا بالمحور الأول وهو الأساسيات، لأن فهم ماهية الذكاء الاصطناعي يسبق أي حديث عن تدريبه. سنتعرف أولاً على المفهوم الدقيق: ما الذي يميز AI عن البرمجة التقليدية، وأين تكمن قدرته على التعلم. ثم ننتقل إلى الأنواع الرئيسية الثلاثة: الذكاء الضيق ANI الذي نستخدمه اليوم، والذكاء العام AGI الذي لا يزال هدفاً بحثياً، والذكاء الخارق ASI النظري. وأخيراً نستعرض تطبيقات حديثة من صناعات مختلفة لنرى أين وصلت التقنية فعلاً. هذه الأساسيات ستمنحكم الإطار الذهني اللازم لفهم بقية المحاور بعمق.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الذكاء الاصطناعي ببساطة هو قدرة الآلة على محاكاة الذكاء البشري — تتعلم من البيانات، تستنتج، تتخذ القرارات، وتحل المشكلات المعقدة دون تدخل بشري مباشر. أمثلة من حياتنا اليومية: ترجمة Google، مساعدة Siri الصوتية، والقيادة الذاتية في Tesla. كلها نماذج تعلمت من ملايين الأمثلة. الآن إلى الأنواع: الأول هو ANI، الذكاء الضيق، وهو ما نستخدمه اليوم في كل مكان — متخصص في مهمة واحدة. الثاني AGI، الذكاء العام، وهو الحلم البحثي النشط؛ نموذج يماثل الإنسان عبر مجالات متعددة. الثالث ASI، الذكاء الخارق، يفوق الإنسان في كل شيء، وما زال نظرياً ويطرح أسئلة أخلاقية عميقة حول مستقبلنا المشترك مع الآلة.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ننتقل الآن إلى المحور الثاني وهو إعداد البيانات، الذي يشكل أساس أي مشروع ذكاء اصطناعي ناجح. المبدأ الشهير في هذا المجال هو "garbage in, garbage out" — ما تدخله من بيانات رديئة يخرج نموذجاً رديئاً، مهما كانت خوارزميتك ذكية. سنستعرض في الفصول القادمة خط أنابيب كامل من خمس مراحل: جمع البيانات من مصادرها المختلفة، تنظيفها من الضوضاء والقيم المفقودة، وسمها بدقة، تقسيمها إلى مجموعات التدريب والتحقق والاختبار، وأخيراً تدعيمها لتوسيع تنوعها. هذه المراحل تستهلك عادةً 60 إلى 80 بالمئة من وقت المشروع كاملاً، فهي جوهر عمل خبير البيانات الحقيقي.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خط أنابيب إعداد البيانات يمر بخمس مراحل متتالية. الأولى هي الجمع، نأتي بالبيانات من APIs أو قواعد البيانات أو الكاميرات أو الويب؛ مثال شهير هو مجموعة ImageNet لأكثر من 14 مليون صورة. الثانية هي التنظيف، نزيل القيم المفقودة والضوضاء والتكرارات باستخدام أدوات pandas. الثالثة هي الوسم، نضيف وسوماً دقيقة سواء تصنيفاً أو إطارات أو وصفاً نصياً، وأداة labelImg شائعة لوسم الصور. الرابعة هي التقسيم، نفصل البيانات إلى Train و Validation و Test بنسب 70 و 15 و 15 عبر دالة train_test_split من scikit-learn. الخامسة هي التدعيم، نوسّع البيانات بقلب الصور وتكبيرها وإضافة ضوضاء باستخدام ImageDataGenerator من Keras. تذكروا: هذه المراحل تستهلك 60 إلى 80 بالمئة من وقت المشروع كاملاً.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ننتقل الآن إلى الفصل الثالث من رحلتنا — أنواع التعلم الآلي. سنتعرف على أربع طرق رئيسية يتعلم بها الذكاء الاصطناعي من البيانات: التعلم بالإشراف حيث نُعلّم النموذج بأمثلة مُوسومة بالمدخلات والمخرجات الصحيحة، والتعلم بدون إشراف حيث يكتشف النموذج الأنماط الخفية بنفسه، والتعلم بالتعزيز الذي يتعلم عبر المكافأة والتجربة والخطأ، وأخيراً نقل المعرفة الذي يعيد استخدام نموذج مُدرّب مسبقاً على مهمة جديدة. تذكروا أن الأنظمة الحديثة غالباً ما تجمع أكثر من نمط واحد. اختيار النوع الصحيح لطبيعة مشكلتك هو نصف الحل، وسنتعمق في كل نوع عبر أمثلة عملية في الشريحة التالية.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نتعمق الآن في الأنواع الأربعة. التعلم بالإشراف هو الأكثر شيوعاً — كل تصنيف للصور، كشف السبام، والتنبؤ بأسعار المساكن يعتمد عليه، فهو يحتاج بيانات مُوسومة بدقة. التعلم بدون إشراف مناسب عندما لا تملك وسوماً، مثلاً تقسيم العملاء إلى شرائح أو اكتشاف الاحتيال عبر الأنماط الشاذة. التعلم بالتعزيز هو ما جعل AlphaGo يهزم بطل العالم ويسيطر على الألعاب والروبوتات والقيادة الذاتية، عبر المكافأة والعقاب. أما نقل المعرفة فهو الاختصار العملي الذي يستخدمه 90% من الممارسين اليوم عبر Hugging Face وtorchvision — نأخذ نموذجاً مُدرّباً مسبقاً مثل BERT أو ResNet ونُكيّفه على مهمتنا. اختيار النوع الصحيح يحفظ أسابيع من العمل ويضاعف دقة النتائج.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وصلنا إلى الفصل الأخير والأكثر تقنية — خوارزميات التدريب. هنا سنُجيب عن السؤال الأهم: كيف يتعلم النموذج فعلاً؟ سنفهم حلقة التدريب الداخلية، الفرق بين SGD وAdam كأشهر خوارزميتين تحسين، ودور المعلمات الفائقة الحرجة: معدل التعلم الذي يحدد حجم الخطوة، وحجم الدفعة التي تحدد عدد العينات لكل تحديث. سنتوجّه بعد ذلك إلى مثال كود حقيقي بلغة PyTorch نكتب فيه حلقة تدريب كاملة من الصفر — عشر أسطر فقط لكنها قلب كل أنظمة الذكاء الاصطناعي الحديثة. استعدوا للجزء العملي.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نقارن الآن الخوارزميتين الأكثر استخداماً في تدريب النماذج. SGD أو الانحدار التدرجي العشوائي هو الأقدم والأبسط — يأخذ خطوة ثابتة في اتجاه عكس التدرج، يحتاج ذاكرة قليلة لكنه يتطلب ضبطاً دقيقاً لمعدل التعلم، وهو المفضّل في الأبحاث الأكاديمية والنماذج الكبيرة جداً لأنه يعطي تعميماً أفضل أحياناً. Adam من جهته يدمج Momentum وRMSProp فيعرف كيف يُكيّف خطوته تلقائياً، يتقارب أسرع بكثير، وهو الخيار الافتراضي اليوم لمعظم الممارسين خاصة في NLP ونقل المعرفة. المعلمات الفائقة الحرجة: معدل التعلم هو حجم الخطوة نحو القاع، حاول 0.001 مع Adam و0.01 مع SGD. حجم الدفعة عدد العينات في كل تحديث — 32 إلى 256 قاعدة جيدة. Epochs عدد المرّات التي يرى فيها النموذج كامل البيانات. ابدأ بقيم متوسطة ثم راقب منحنى الخسارة.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هذه هي حلقة التدريب الكاملة بعشر أسطر، قلب كل نظام ذكاء اصطناعي حديث. نبدأ بإعداد النموذج ونقله إلى GPU لأسرع تدريب، ثم نُعرّف المحسّن Adam بمعدل تعلم 0.001 ودالة الخسارة CrossEntropy للمسائل التصنيفية. داخل الحلقة لدينا حلقتان متداخلتان: خارجية على Epochs لتمر على البيانات بأكملها عدة مرات، وداخلية على الدفعات Batches. في كل دفعة: ننقل البيانات إلى GPU، نُمرّر تمريراً أمامياً للحصول على التنبؤات ونحسب الخسارة مقارنة بالإجابات الصحيحة. ثم نستدعي zero_grad لمسح التدرجات القديمة، backward لحساب التدرجات الجديدة عبر الانتشار العكسي، وstep لتحديث الأوزان. نطبع الخسارة في نهاية كل Epoch لمراقبة التقارب. هذه الأسطر هي ما يدرب GPT وResNet وكل نماذج اليوم — بسيطة لكنها قوية.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وصلنا إلى ختام رحلتنا. لنُلخّص النقاط الخمس الجوهرية: أولاً، البيانات الجيدة أهم من الخوارزمية الذكية، فأنظمة العالم الحقيقية تموت ببيانات رديئة مهما كان النموذج عبقرياً. ثانياً، اختيار نوع التعلم المناسب لطبيعة مشكلتك نصف الحل — إشراف، بدون إشراف، تعزيز، أو نقل معرفة. ثالثاً، Adam هو المحسّن الافتراضي لمعظم التطبيقات، ابدأ به قبل أن تجرب غيره. رابعاً، حلقة التدريب بكل بساطتها Forward + Backward + Step، وهي قلب كل أنظمة اليوم. خامساً، القياس والمراقبة المستمرة هما مفتاح التحسين. تذكروا أن الممارسة أقوى من النظرية — ابدأوا بتطبيق حلقة PyTorch على بيانات MNIST هذا الأسبوع. شكراً لكم، والآن الباب مفتوح للأسئلة والنقاش.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slideLayout" Target="../slideLayouts/slideLayout1.xml"/><Relationship Id="rId1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slideLayout" Target="../slideLayouts/slideLayout1.xml"/><Relationship Id="rId1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slideLayout" Target="../slideLayouts/slideLayout1.xml"/><Relationship Id="rId1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66000"/>
          </a:blip>
          <a:stretch>
            <a:fillRect/>
          </a:stretch>
        </p:blipFill>
        <p:spPr>
          <a:xfrm>
            <a:off x="6715125" y="-1000125"/>
            <a:ext cx="3429000" cy="3429000"/>
          </a:xfrm>
          <a:prstGeom prst="rect">
            <a:avLst/>
          </a:prstGeom>
        </p:spPr>
      </p:pic>
      <p:sp>
        <p:nvSpPr>
          <p:cNvPr id="4" name="Text 0"/>
          <p:cNvSpPr/>
          <p:nvPr/>
        </p:nvSpPr>
        <p:spPr>
          <a:xfrm>
            <a:off x="6715125" y="-1000125"/>
            <a:ext cx="3429000" cy="3429000"/>
          </a:xfrm>
          <a:prstGeom prst="ellipse">
            <a:avLst/>
          </a:prstGeom>
          <a:solidFill>
            <a:srgbClr val="FFFFFF">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66000"/>
          </a:blip>
          <a:stretch>
            <a:fillRect/>
          </a:stretch>
        </p:blipFill>
        <p:spPr>
          <a:xfrm>
            <a:off x="2743200" y="3286125"/>
            <a:ext cx="3000375" cy="3000375"/>
          </a:xfrm>
          <a:prstGeom prst="rect">
            <a:avLst/>
          </a:prstGeom>
        </p:spPr>
      </p:pic>
      <p:sp>
        <p:nvSpPr>
          <p:cNvPr id="6" name="Text 1"/>
          <p:cNvSpPr/>
          <p:nvPr/>
        </p:nvSpPr>
        <p:spPr>
          <a:xfrm>
            <a:off x="2743200" y="3286125"/>
            <a:ext cx="3000375" cy="3000375"/>
          </a:xfrm>
          <a:prstGeom prst="ellipse">
            <a:avLst/>
          </a:prstGeom>
          <a:solidFill>
            <a:srgbClr val="FFFFFF">
              <a:alpha val="0"/>
            </a:srgbClr>
          </a:solidFill>
          <a:ln/>
        </p:spPr>
        <p:txBody>
          <a:bodyPr wrap="square" rtlCol="0" anchor="ctr"/>
          <a:lstStyle/>
          <a:p>
            <a:pPr indent="0" marL="0">
              <a:buNone/>
            </a:pPr>
            <a:endParaRPr lang="en-US" dirty="0"/>
          </a:p>
        </p:txBody>
      </p:sp>
      <p:pic>
        <p:nvPicPr>
          <p:cNvPr id="7" name="Image 3" descr="preencoded.png">    </p:cNvPr>
          <p:cNvPicPr>
            <a:picLocks noChangeAspect="1"/>
          </p:cNvPicPr>
          <p:nvPr/>
        </p:nvPicPr>
        <p:blipFill>
          <a:blip r:embed="rId4"/>
          <a:stretch>
            <a:fillRect/>
          </a:stretch>
        </p:blipFill>
        <p:spPr>
          <a:xfrm>
            <a:off x="0" y="0"/>
            <a:ext cx="4114800" cy="5143500"/>
          </a:xfrm>
          <a:prstGeom prst="rect">
            <a:avLst/>
          </a:prstGeom>
        </p:spPr>
      </p:pic>
      <p:pic>
        <p:nvPicPr>
          <p:cNvPr id="8" name="Image 4" descr="/tmp/h2p-fit-1789027890037-97lrwv.png">    </p:cNvPr>
          <p:cNvPicPr>
            <a:picLocks noChangeAspect="1"/>
          </p:cNvPicPr>
          <p:nvPr/>
        </p:nvPicPr>
        <p:blipFill>
          <a:blip r:embed="rId5"/>
          <a:stretch>
            <a:fillRect/>
          </a:stretch>
        </p:blipFill>
        <p:spPr>
          <a:xfrm>
            <a:off x="0" y="0"/>
            <a:ext cx="4114800" cy="5143500"/>
          </a:xfrm>
          <a:prstGeom prst="rect">
            <a:avLst/>
          </a:prstGeom>
        </p:spPr>
      </p:pic>
      <p:pic>
        <p:nvPicPr>
          <p:cNvPr id="9" name="Image 5" descr="preencoded.png">    </p:cNvPr>
          <p:cNvPicPr>
            <a:picLocks noChangeAspect="1"/>
          </p:cNvPicPr>
          <p:nvPr/>
        </p:nvPicPr>
        <p:blipFill>
          <a:blip r:embed="rId6">
            <a:alphaModFix amt="70000"/>
          </a:blip>
          <a:stretch>
            <a:fillRect/>
          </a:stretch>
        </p:blipFill>
        <p:spPr>
          <a:xfrm>
            <a:off x="4114800" y="571500"/>
            <a:ext cx="7144" cy="4000500"/>
          </a:xfrm>
          <a:prstGeom prst="rect">
            <a:avLst/>
          </a:prstGeom>
        </p:spPr>
      </p:pic>
      <p:sp>
        <p:nvSpPr>
          <p:cNvPr id="10" name="Text 2"/>
          <p:cNvSpPr/>
          <p:nvPr/>
        </p:nvSpPr>
        <p:spPr>
          <a:xfrm>
            <a:off x="7096333" y="432120"/>
            <a:ext cx="1556177" cy="293494"/>
          </a:xfrm>
          <a:prstGeom prst="roundRect">
            <a:avLst>
              <a:gd name="adj" fmla="val 3242136"/>
            </a:avLst>
          </a:prstGeom>
          <a:solidFill>
            <a:srgbClr val="B845FF">
              <a:alpha val="12000"/>
            </a:srgbClr>
          </a:solidFill>
          <a:ln w="7144">
            <a:solidFill>
              <a:srgbClr val="B845FF"/>
            </a:solidFill>
            <a:prstDash val="solid"/>
          </a:ln>
        </p:spPr>
        <p:txBody>
          <a:bodyPr wrap="square" rtlCol="0" anchor="ctr"/>
          <a:lstStyle/>
          <a:p>
            <a:pPr indent="0" marL="0">
              <a:buNone/>
            </a:pPr>
            <a:endParaRPr lang="en-US" dirty="0"/>
          </a:p>
        </p:txBody>
      </p:sp>
      <p:sp>
        <p:nvSpPr>
          <p:cNvPr id="11" name="Text 3"/>
          <p:cNvSpPr/>
          <p:nvPr/>
        </p:nvSpPr>
        <p:spPr>
          <a:xfrm>
            <a:off x="8393906" y="521717"/>
            <a:ext cx="114300" cy="114300"/>
          </a:xfrm>
          <a:prstGeom prst="rect">
            <a:avLst/>
          </a:prstGeom>
          <a:noFill/>
          <a:ln/>
        </p:spPr>
        <p:txBody>
          <a:bodyPr wrap="none" lIns="0" tIns="0" rIns="0" bIns="0" rtlCol="0" anchor="ctr"/>
          <a:lstStyle/>
          <a:p>
            <a:pPr algn="ctr" indent="0" marL="0">
              <a:buNone/>
            </a:pPr>
            <a:r>
              <a:rPr lang="en-US" sz="1125" dirty="0">
                <a:solidFill>
                  <a:srgbClr val="B845FF"/>
                </a:solidFill>
                <a:latin typeface="Segoe UI Symbol" pitchFamily="34" charset="0"/>
                <a:ea typeface="Segoe UI Symbol" pitchFamily="34" charset="-122"/>
                <a:cs typeface="Segoe UI Symbol" pitchFamily="34" charset="-120"/>
              </a:rPr>
              <a:t>✦</a:t>
            </a:r>
            <a:endParaRPr lang="en-US" sz="1125" dirty="0"/>
          </a:p>
        </p:txBody>
      </p:sp>
      <p:sp>
        <p:nvSpPr>
          <p:cNvPr id="12" name="Text 4"/>
          <p:cNvSpPr/>
          <p:nvPr/>
        </p:nvSpPr>
        <p:spPr>
          <a:xfrm>
            <a:off x="7240637" y="509215"/>
            <a:ext cx="1267569" cy="139303"/>
          </a:xfrm>
          <a:prstGeom prst="rect">
            <a:avLst/>
          </a:prstGeom>
          <a:noFill/>
          <a:ln/>
        </p:spPr>
        <p:txBody>
          <a:bodyPr wrap="none" lIns="0" tIns="0" rIns="0" bIns="0" rtlCol="0" anchor="t"/>
          <a:lstStyle/>
          <a:p>
            <a:pPr algn="l" indent="0" marL="0">
              <a:lnSpc>
                <a:spcPts val="1097"/>
              </a:lnSpc>
              <a:buNone/>
            </a:pPr>
            <a:r>
              <a:rPr lang="en-US" sz="800" dirty="0">
                <a:solidFill>
                  <a:srgbClr val="B845FF"/>
                </a:solidFill>
                <a:latin typeface="Carlito" pitchFamily="34" charset="0"/>
                <a:ea typeface="Carlito" pitchFamily="34" charset="-122"/>
                <a:cs typeface="Carlito" pitchFamily="34" charset="-120"/>
              </a:rPr>
              <a:t>محاضرة تفاعلية • 2026</a:t>
            </a:r>
            <a:endParaRPr lang="en-US" sz="800" dirty="0"/>
          </a:p>
        </p:txBody>
      </p:sp>
      <p:sp>
        <p:nvSpPr>
          <p:cNvPr id="13" name="Text 5"/>
          <p:cNvSpPr/>
          <p:nvPr/>
        </p:nvSpPr>
        <p:spPr>
          <a:xfrm>
            <a:off x="4572000" y="912837"/>
            <a:ext cx="4463415" cy="1767435"/>
          </a:xfrm>
          <a:prstGeom prst="rect">
            <a:avLst/>
          </a:prstGeom>
          <a:noFill/>
          <a:ln/>
        </p:spPr>
        <p:txBody>
          <a:bodyPr wrap="none" lIns="0" tIns="0" rIns="0" bIns="0" rtlCol="0" anchor="t">
            <a:normAutofit/>
          </a:bodyPr>
          <a:lstStyle/>
          <a:p>
            <a:pPr algn="l" indent="0" marL="0">
              <a:lnSpc>
                <a:spcPts val="4374"/>
              </a:lnSpc>
              <a:buNone/>
            </a:pPr>
            <a:r>
              <a:rPr lang="en-US" sz="4050" b="1" spc="-28" kern="0" dirty="0">
                <a:solidFill>
                  <a:srgbClr val="00D9FF"/>
                </a:solidFill>
                <a:latin typeface="Carlito" pitchFamily="34" charset="0"/>
                <a:ea typeface="Carlito" pitchFamily="34" charset="-122"/>
                <a:cs typeface="Carlito" pitchFamily="34" charset="-120"/>
              </a:rPr>
              <a:t>مهارات تدريب</a:t>
            </a:r>
            <a:endParaRPr lang="en-US" sz="4050" dirty="0"/>
          </a:p>
          <a:p>
            <a:pPr algn="l" indent="0" marL="0">
              <a:lnSpc>
                <a:spcPts val="4374"/>
              </a:lnSpc>
              <a:buNone/>
            </a:pPr>
            <a:r>
              <a:rPr lang="en-US" sz="4050" b="1" spc="-28" kern="0" dirty="0">
                <a:solidFill>
                  <a:srgbClr val="00D9FF"/>
                </a:solidFill>
                <a:latin typeface="Carlito" pitchFamily="34" charset="0"/>
                <a:ea typeface="Carlito" pitchFamily="34" charset="-122"/>
                <a:cs typeface="Carlito" pitchFamily="34" charset="-120"/>
              </a:rPr>
              <a:t>الذكاء الاصطناعي</a:t>
            </a:r>
            <a:endParaRPr lang="en-US" sz="4050" dirty="0"/>
          </a:p>
        </p:txBody>
      </p:sp>
      <p:sp>
        <p:nvSpPr>
          <p:cNvPr id="14" name="Text 6"/>
          <p:cNvSpPr/>
          <p:nvPr/>
        </p:nvSpPr>
        <p:spPr>
          <a:xfrm>
            <a:off x="4247388" y="2707704"/>
            <a:ext cx="4382262" cy="185166"/>
          </a:xfrm>
          <a:prstGeom prst="rect">
            <a:avLst/>
          </a:prstGeom>
          <a:noFill/>
          <a:ln/>
        </p:spPr>
        <p:txBody>
          <a:bodyPr wrap="square" lIns="0" tIns="0" rIns="0" bIns="0" rtlCol="0" anchor="t"/>
          <a:lstStyle/>
          <a:p>
            <a:pPr algn="r" indent="0" marL="0">
              <a:lnSpc>
                <a:spcPts val="1350"/>
              </a:lnSpc>
              <a:buNone/>
            </a:pPr>
            <a:r>
              <a:rPr lang="en-US" sz="900" spc="56" kern="0" dirty="0">
                <a:solidFill>
                  <a:srgbClr val="00D9FF"/>
                </a:solidFill>
                <a:latin typeface="Courier New" pitchFamily="34" charset="0"/>
                <a:ea typeface="Courier New" pitchFamily="34" charset="-122"/>
                <a:cs typeface="Courier New" pitchFamily="34" charset="-120"/>
              </a:rPr>
              <a:t>AI Training Skills — From Data to Deployment</a:t>
            </a:r>
            <a:endParaRPr lang="en-US" sz="900" dirty="0"/>
          </a:p>
        </p:txBody>
      </p:sp>
      <p:sp>
        <p:nvSpPr>
          <p:cNvPr id="15" name="Text 7"/>
          <p:cNvSpPr/>
          <p:nvPr/>
        </p:nvSpPr>
        <p:spPr>
          <a:xfrm>
            <a:off x="4772025" y="3036317"/>
            <a:ext cx="3857625" cy="483650"/>
          </a:xfrm>
          <a:prstGeom prst="rect">
            <a:avLst/>
          </a:prstGeom>
          <a:noFill/>
          <a:ln/>
        </p:spPr>
        <p:txBody>
          <a:bodyPr wrap="square" lIns="0" tIns="0" rIns="0" bIns="0" rtlCol="0" anchor="t"/>
          <a:lstStyle/>
          <a:p>
            <a:pPr algn="l" indent="0" marL="0">
              <a:lnSpc>
                <a:spcPts val="1763"/>
              </a:lnSpc>
              <a:buNone/>
            </a:pPr>
            <a:r>
              <a:rPr lang="en-US" sz="1069" dirty="0">
                <a:solidFill>
                  <a:srgbClr val="8AA0CC"/>
                </a:solidFill>
                <a:latin typeface="Carlito" pitchFamily="34" charset="0"/>
                <a:ea typeface="Carlito" pitchFamily="34" charset="-122"/>
                <a:cs typeface="Carlito" pitchFamily="34" charset="-120"/>
              </a:rPr>
              <a:t>دليلك الشامل لإتقان أساسيات تدريب نماذج الذكاء الاصطناعي وتطبيقاتها العملية</a:t>
            </a:r>
            <a:endParaRPr lang="en-US" sz="1069" dirty="0"/>
          </a:p>
        </p:txBody>
      </p:sp>
      <p:sp>
        <p:nvSpPr>
          <p:cNvPr id="16" name="Text 8"/>
          <p:cNvSpPr/>
          <p:nvPr/>
        </p:nvSpPr>
        <p:spPr>
          <a:xfrm>
            <a:off x="7728109" y="3728514"/>
            <a:ext cx="924401" cy="332784"/>
          </a:xfrm>
          <a:prstGeom prst="roundRect">
            <a:avLst>
              <a:gd name="adj" fmla="val 2859355"/>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17" name="Text 9"/>
          <p:cNvSpPr/>
          <p:nvPr/>
        </p:nvSpPr>
        <p:spPr>
          <a:xfrm>
            <a:off x="8379619" y="3837756"/>
            <a:ext cx="114300" cy="114300"/>
          </a:xfrm>
          <a:prstGeom prst="rect">
            <a:avLst/>
          </a:prstGeom>
          <a:noFill/>
          <a:ln/>
        </p:spPr>
        <p:txBody>
          <a:bodyPr wrap="none" lIns="0" tIns="0" rIns="0" bIns="0" rtlCol="0" anchor="ctr"/>
          <a:lstStyle/>
          <a:p>
            <a:pPr algn="ctr" indent="0" marL="0">
              <a:buNone/>
            </a:pPr>
            <a:r>
              <a:rPr lang="en-US" sz="1125" dirty="0">
                <a:solidFill>
                  <a:srgbClr val="00D9FF"/>
                </a:solidFill>
                <a:latin typeface="Segoe UI Symbol" pitchFamily="34" charset="0"/>
                <a:ea typeface="Segoe UI Symbol" pitchFamily="34" charset="-122"/>
                <a:cs typeface="Segoe UI Symbol" pitchFamily="34" charset="-120"/>
              </a:rPr>
              <a:t>▦</a:t>
            </a:r>
            <a:endParaRPr lang="en-US" sz="1125" dirty="0"/>
          </a:p>
        </p:txBody>
      </p:sp>
      <p:sp>
        <p:nvSpPr>
          <p:cNvPr id="18" name="Text 10"/>
          <p:cNvSpPr/>
          <p:nvPr/>
        </p:nvSpPr>
        <p:spPr>
          <a:xfrm>
            <a:off x="7886700" y="3819897"/>
            <a:ext cx="607219" cy="150019"/>
          </a:xfrm>
          <a:prstGeom prst="rect">
            <a:avLst/>
          </a:prstGeom>
          <a:noFill/>
          <a:ln/>
        </p:spPr>
        <p:txBody>
          <a:bodyPr wrap="none" lIns="0" tIns="0" rIns="0" bIns="0" rtlCol="0" anchor="t"/>
          <a:lstStyle/>
          <a:p>
            <a:pPr algn="l" indent="0" marL="0">
              <a:lnSpc>
                <a:spcPts val="1181"/>
              </a:lnSpc>
              <a:buNone/>
            </a:pPr>
            <a:r>
              <a:rPr lang="en-US" sz="800" dirty="0">
                <a:solidFill>
                  <a:srgbClr val="EAF6FF"/>
                </a:solidFill>
                <a:latin typeface="Carlito" pitchFamily="34" charset="0"/>
                <a:ea typeface="Carlito" pitchFamily="34" charset="-122"/>
                <a:cs typeface="Carlito" pitchFamily="34" charset="-120"/>
              </a:rPr>
              <a:t>12 شريحة</a:t>
            </a:r>
            <a:endParaRPr lang="en-US" sz="800" dirty="0"/>
          </a:p>
        </p:txBody>
      </p:sp>
      <p:sp>
        <p:nvSpPr>
          <p:cNvPr id="19" name="Text 11"/>
          <p:cNvSpPr/>
          <p:nvPr/>
        </p:nvSpPr>
        <p:spPr>
          <a:xfrm>
            <a:off x="6193542" y="3728514"/>
            <a:ext cx="1237387" cy="332784"/>
          </a:xfrm>
          <a:prstGeom prst="roundRect">
            <a:avLst>
              <a:gd name="adj" fmla="val 2859355"/>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20" name="Text 12"/>
          <p:cNvSpPr/>
          <p:nvPr/>
        </p:nvSpPr>
        <p:spPr>
          <a:xfrm>
            <a:off x="7158038" y="3837756"/>
            <a:ext cx="114300" cy="114300"/>
          </a:xfrm>
          <a:prstGeom prst="rect">
            <a:avLst/>
          </a:prstGeom>
          <a:noFill/>
          <a:ln/>
        </p:spPr>
        <p:txBody>
          <a:bodyPr wrap="none" lIns="0" tIns="0" rIns="0" bIns="0" rtlCol="0" anchor="ctr"/>
          <a:lstStyle/>
          <a:p>
            <a:pPr algn="ctr" indent="0" marL="0">
              <a:buNone/>
            </a:pPr>
            <a:r>
              <a:rPr lang="en-US" sz="1125" dirty="0">
                <a:solidFill>
                  <a:srgbClr val="B845FF"/>
                </a:solidFill>
                <a:latin typeface="Segoe UI Symbol" pitchFamily="34" charset="0"/>
                <a:ea typeface="Segoe UI Symbol" pitchFamily="34" charset="-122"/>
                <a:cs typeface="Segoe UI Symbol" pitchFamily="34" charset="-120"/>
              </a:rPr>
              <a:t>▣</a:t>
            </a:r>
            <a:endParaRPr lang="en-US" sz="1125" dirty="0"/>
          </a:p>
        </p:txBody>
      </p:sp>
      <p:sp>
        <p:nvSpPr>
          <p:cNvPr id="21" name="Text 13"/>
          <p:cNvSpPr/>
          <p:nvPr/>
        </p:nvSpPr>
        <p:spPr>
          <a:xfrm>
            <a:off x="6352133" y="3819897"/>
            <a:ext cx="920204" cy="150019"/>
          </a:xfrm>
          <a:prstGeom prst="rect">
            <a:avLst/>
          </a:prstGeom>
          <a:noFill/>
          <a:ln/>
        </p:spPr>
        <p:txBody>
          <a:bodyPr wrap="none" lIns="0" tIns="0" rIns="0" bIns="0" rtlCol="0" anchor="t"/>
          <a:lstStyle/>
          <a:p>
            <a:pPr algn="l" indent="0" marL="0">
              <a:lnSpc>
                <a:spcPts val="1181"/>
              </a:lnSpc>
              <a:buNone/>
            </a:pPr>
            <a:r>
              <a:rPr lang="en-US" sz="800" dirty="0">
                <a:solidFill>
                  <a:srgbClr val="EAF6FF"/>
                </a:solidFill>
                <a:latin typeface="Carlito" pitchFamily="34" charset="0"/>
                <a:ea typeface="Carlito" pitchFamily="34" charset="-122"/>
                <a:cs typeface="Carlito" pitchFamily="34" charset="-120"/>
              </a:rPr>
              <a:t>4 محاور رئيسية</a:t>
            </a:r>
            <a:endParaRPr lang="en-US" sz="800" dirty="0"/>
          </a:p>
        </p:txBody>
      </p:sp>
      <p:sp>
        <p:nvSpPr>
          <p:cNvPr id="22" name="Text 14"/>
          <p:cNvSpPr/>
          <p:nvPr/>
        </p:nvSpPr>
        <p:spPr>
          <a:xfrm>
            <a:off x="7303725" y="4378595"/>
            <a:ext cx="1348785" cy="332784"/>
          </a:xfrm>
          <a:prstGeom prst="roundRect">
            <a:avLst>
              <a:gd name="adj" fmla="val 2859355"/>
            </a:avLst>
          </a:prstGeom>
          <a:solidFill>
            <a:srgbClr val="FFD166">
              <a:alpha val="10000"/>
            </a:srgbClr>
          </a:solidFill>
          <a:ln w="7144">
            <a:solidFill>
              <a:srgbClr val="FFD166"/>
            </a:solidFill>
            <a:prstDash val="solid"/>
          </a:ln>
        </p:spPr>
        <p:txBody>
          <a:bodyPr wrap="square" rtlCol="0" anchor="ctr"/>
          <a:lstStyle/>
          <a:p>
            <a:pPr indent="0" marL="0">
              <a:buNone/>
            </a:pPr>
            <a:endParaRPr lang="en-US" dirty="0"/>
          </a:p>
        </p:txBody>
      </p:sp>
      <p:sp>
        <p:nvSpPr>
          <p:cNvPr id="23" name="Text 15"/>
          <p:cNvSpPr/>
          <p:nvPr/>
        </p:nvSpPr>
        <p:spPr>
          <a:xfrm>
            <a:off x="8379619" y="4487838"/>
            <a:ext cx="114300" cy="114300"/>
          </a:xfrm>
          <a:prstGeom prst="rect">
            <a:avLst/>
          </a:prstGeom>
          <a:noFill/>
          <a:ln/>
        </p:spPr>
        <p:txBody>
          <a:bodyPr wrap="none" lIns="0" tIns="0" rIns="0" bIns="0" rtlCol="0" anchor="ctr"/>
          <a:lstStyle/>
          <a:p>
            <a:pPr algn="ctr" indent="0" marL="0">
              <a:buNone/>
            </a:pPr>
            <a:r>
              <a:rPr lang="en-US" sz="1125" dirty="0">
                <a:solidFill>
                  <a:srgbClr val="FFD166"/>
                </a:solidFill>
                <a:latin typeface="Segoe UI Symbol" pitchFamily="34" charset="0"/>
                <a:ea typeface="Segoe UI Symbol" pitchFamily="34" charset="-122"/>
                <a:cs typeface="Segoe UI Symbol" pitchFamily="34" charset="-120"/>
              </a:rPr>
              <a:t>✦</a:t>
            </a:r>
            <a:endParaRPr lang="en-US" sz="1125" dirty="0"/>
          </a:p>
        </p:txBody>
      </p:sp>
      <p:sp>
        <p:nvSpPr>
          <p:cNvPr id="24" name="Text 16"/>
          <p:cNvSpPr/>
          <p:nvPr/>
        </p:nvSpPr>
        <p:spPr>
          <a:xfrm>
            <a:off x="7462317" y="4469978"/>
            <a:ext cx="1031602" cy="150019"/>
          </a:xfrm>
          <a:prstGeom prst="rect">
            <a:avLst/>
          </a:prstGeom>
          <a:noFill/>
          <a:ln/>
        </p:spPr>
        <p:txBody>
          <a:bodyPr wrap="none" lIns="0" tIns="0" rIns="0" bIns="0" rtlCol="0" anchor="t"/>
          <a:lstStyle/>
          <a:p>
            <a:pPr algn="l" indent="0" marL="0">
              <a:lnSpc>
                <a:spcPts val="1181"/>
              </a:lnSpc>
              <a:buNone/>
            </a:pPr>
            <a:r>
              <a:rPr lang="en-US" sz="800" dirty="0">
                <a:solidFill>
                  <a:srgbClr val="EAF6FF"/>
                </a:solidFill>
                <a:latin typeface="Carlito" pitchFamily="34" charset="0"/>
                <a:ea typeface="Carlito" pitchFamily="34" charset="-122"/>
                <a:cs typeface="Carlito" pitchFamily="34" charset="-120"/>
              </a:rPr>
              <a:t>أمثلة كود حقيقية</a:t>
            </a:r>
            <a:endParaRPr lang="en-US" sz="800" dirty="0"/>
          </a:p>
        </p:txBody>
      </p:sp>
      <p:sp>
        <p:nvSpPr>
          <p:cNvPr id="25" name="Text 17"/>
          <p:cNvSpPr/>
          <p:nvPr/>
        </p:nvSpPr>
        <p:spPr>
          <a:xfrm>
            <a:off x="8351705" y="4857750"/>
            <a:ext cx="433588"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صفحة 01</a:t>
            </a:r>
            <a:endParaRPr lang="en-US" sz="800" dirty="0"/>
          </a:p>
        </p:txBody>
      </p:sp>
      <p:sp>
        <p:nvSpPr>
          <p:cNvPr id="26" name="Text 18"/>
          <p:cNvSpPr/>
          <p:nvPr/>
        </p:nvSpPr>
        <p:spPr>
          <a:xfrm>
            <a:off x="989075" y="4900613"/>
            <a:ext cx="42863" cy="42863"/>
          </a:xfrm>
          <a:prstGeom prst="roundRect">
            <a:avLst>
              <a:gd name="adj" fmla="val 66666"/>
            </a:avLst>
          </a:prstGeom>
          <a:solidFill>
            <a:srgbClr val="00D9FF"/>
          </a:solidFill>
          <a:ln/>
        </p:spPr>
        <p:txBody>
          <a:bodyPr wrap="square" rtlCol="0" anchor="ctr"/>
          <a:lstStyle/>
          <a:p>
            <a:pPr indent="0" marL="0">
              <a:buNone/>
            </a:pPr>
            <a:endParaRPr lang="en-US" dirty="0"/>
          </a:p>
        </p:txBody>
      </p:sp>
      <p:sp>
        <p:nvSpPr>
          <p:cNvPr id="27" name="Text 19"/>
          <p:cNvSpPr/>
          <p:nvPr/>
        </p:nvSpPr>
        <p:spPr>
          <a:xfrm>
            <a:off x="457200" y="4857750"/>
            <a:ext cx="7886700"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 AI SKILLS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65000"/>
          </a:blip>
          <a:stretch>
            <a:fillRect/>
          </a:stretch>
        </p:blipFill>
        <p:spPr>
          <a:xfrm>
            <a:off x="6572250" y="-1143000"/>
            <a:ext cx="3429000" cy="3429000"/>
          </a:xfrm>
          <a:prstGeom prst="rect">
            <a:avLst/>
          </a:prstGeom>
        </p:spPr>
      </p:pic>
      <p:sp>
        <p:nvSpPr>
          <p:cNvPr id="4" name="Text 0"/>
          <p:cNvSpPr/>
          <p:nvPr/>
        </p:nvSpPr>
        <p:spPr>
          <a:xfrm>
            <a:off x="6572250" y="-1143000"/>
            <a:ext cx="3429000" cy="3429000"/>
          </a:xfrm>
          <a:prstGeom prst="ellipse">
            <a:avLst/>
          </a:prstGeom>
          <a:solidFill>
            <a:srgbClr val="FFFFFF">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65000"/>
          </a:blip>
          <a:stretch>
            <a:fillRect/>
          </a:stretch>
        </p:blipFill>
        <p:spPr>
          <a:xfrm>
            <a:off x="-714375" y="3429000"/>
            <a:ext cx="3000375" cy="3000375"/>
          </a:xfrm>
          <a:prstGeom prst="rect">
            <a:avLst/>
          </a:prstGeom>
        </p:spPr>
      </p:pic>
      <p:sp>
        <p:nvSpPr>
          <p:cNvPr id="6" name="Text 1"/>
          <p:cNvSpPr/>
          <p:nvPr/>
        </p:nvSpPr>
        <p:spPr>
          <a:xfrm>
            <a:off x="-714375" y="3429000"/>
            <a:ext cx="3000375" cy="3000375"/>
          </a:xfrm>
          <a:prstGeom prst="ellipse">
            <a:avLst/>
          </a:prstGeom>
          <a:solidFill>
            <a:srgbClr val="FFFFFF">
              <a:alpha val="0"/>
            </a:srgbClr>
          </a:solidFill>
          <a:ln/>
        </p:spPr>
        <p:txBody>
          <a:bodyPr wrap="square" rtlCol="0" anchor="ctr"/>
          <a:lstStyle/>
          <a:p>
            <a:pPr indent="0" marL="0">
              <a:buNone/>
            </a:pPr>
            <a:endParaRPr lang="en-US" dirty="0"/>
          </a:p>
        </p:txBody>
      </p:sp>
      <p:sp>
        <p:nvSpPr>
          <p:cNvPr id="7" name="Text 2"/>
          <p:cNvSpPr/>
          <p:nvPr/>
        </p:nvSpPr>
        <p:spPr>
          <a:xfrm>
            <a:off x="7952914" y="387248"/>
            <a:ext cx="756746" cy="264919"/>
          </a:xfrm>
          <a:prstGeom prst="roundRect">
            <a:avLst>
              <a:gd name="adj" fmla="val 3591843"/>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8" name="Text 3"/>
          <p:cNvSpPr/>
          <p:nvPr/>
        </p:nvSpPr>
        <p:spPr>
          <a:xfrm>
            <a:off x="8032625" y="457200"/>
            <a:ext cx="440161" cy="143490"/>
          </a:xfrm>
          <a:prstGeom prst="rect">
            <a:avLst/>
          </a:prstGeom>
          <a:noFill/>
          <a:ln/>
        </p:spPr>
        <p:txBody>
          <a:bodyPr wrap="none" lIns="0" tIns="0" rIns="0" bIns="0" rtlCol="0" anchor="t"/>
          <a:lstStyle/>
          <a:p>
            <a:pPr algn="l" indent="0" marL="0">
              <a:lnSpc>
                <a:spcPts val="1097"/>
              </a:lnSpc>
              <a:buNone/>
            </a:pPr>
            <a:r>
              <a:rPr lang="en-US" sz="731" dirty="0">
                <a:solidFill>
                  <a:srgbClr val="00D9FF"/>
                </a:solidFill>
                <a:latin typeface="Carlito" pitchFamily="34" charset="0"/>
                <a:ea typeface="Carlito" pitchFamily="34" charset="-122"/>
                <a:cs typeface="Carlito" pitchFamily="34" charset="-120"/>
              </a:rPr>
              <a:t>AGENDA</a:t>
            </a:r>
            <a:endParaRPr lang="en-US" sz="731" dirty="0"/>
          </a:p>
        </p:txBody>
      </p:sp>
      <p:sp>
        <p:nvSpPr>
          <p:cNvPr id="9" name="Text 4"/>
          <p:cNvSpPr/>
          <p:nvPr/>
        </p:nvSpPr>
        <p:spPr>
          <a:xfrm>
            <a:off x="8479631" y="469702"/>
            <a:ext cx="100013" cy="100013"/>
          </a:xfrm>
          <a:prstGeom prst="rect">
            <a:avLst/>
          </a:prstGeom>
          <a:noFill/>
          <a:ln/>
        </p:spPr>
        <p:txBody>
          <a:bodyPr wrap="none" lIns="0" tIns="0" rIns="0" bIns="0" rtlCol="0" anchor="ctr"/>
          <a:lstStyle/>
          <a:p>
            <a:pPr algn="ctr" indent="0" marL="0">
              <a:buNone/>
            </a:pPr>
            <a:r>
              <a:rPr lang="en-US" sz="984" dirty="0">
                <a:solidFill>
                  <a:srgbClr val="00D9FF"/>
                </a:solidFill>
                <a:latin typeface="Segoe UI Symbol" pitchFamily="34" charset="0"/>
                <a:ea typeface="Segoe UI Symbol" pitchFamily="34" charset="-122"/>
                <a:cs typeface="Segoe UI Symbol" pitchFamily="34" charset="-120"/>
              </a:rPr>
              <a:t>▣</a:t>
            </a:r>
            <a:endParaRPr lang="en-US" sz="984" dirty="0"/>
          </a:p>
        </p:txBody>
      </p:sp>
      <p:sp>
        <p:nvSpPr>
          <p:cNvPr id="10" name="Text 5"/>
          <p:cNvSpPr/>
          <p:nvPr/>
        </p:nvSpPr>
        <p:spPr>
          <a:xfrm>
            <a:off x="3857067" y="725091"/>
            <a:ext cx="5071220" cy="407555"/>
          </a:xfrm>
          <a:prstGeom prst="rect">
            <a:avLst/>
          </a:prstGeom>
          <a:noFill/>
          <a:ln/>
        </p:spPr>
        <p:txBody>
          <a:bodyPr wrap="none" lIns="0" tIns="0" rIns="0" bIns="0" rtlCol="0" anchor="t"/>
          <a:lstStyle/>
          <a:p>
            <a:pPr algn="l" indent="0" marL="0">
              <a:lnSpc>
                <a:spcPts val="2976"/>
              </a:lnSpc>
              <a:buNone/>
            </a:pPr>
            <a:r>
              <a:rPr lang="en-US" sz="2588" b="1" dirty="0">
                <a:solidFill>
                  <a:srgbClr val="00D9FF"/>
                </a:solidFill>
                <a:latin typeface="Carlito" pitchFamily="34" charset="0"/>
                <a:ea typeface="Carlito" pitchFamily="34" charset="-122"/>
                <a:cs typeface="Carlito" pitchFamily="34" charset="-120"/>
              </a:rPr>
              <a:t>خريطة الرحلة التعليمية</a:t>
            </a:r>
            <a:endParaRPr lang="en-US" sz="2588" dirty="0"/>
          </a:p>
        </p:txBody>
      </p:sp>
      <p:sp>
        <p:nvSpPr>
          <p:cNvPr id="11" name="Text 6"/>
          <p:cNvSpPr/>
          <p:nvPr/>
        </p:nvSpPr>
        <p:spPr>
          <a:xfrm>
            <a:off x="3857067" y="1160078"/>
            <a:ext cx="4829733" cy="203249"/>
          </a:xfrm>
          <a:prstGeom prst="rect">
            <a:avLst/>
          </a:prstGeom>
          <a:noFill/>
          <a:ln/>
        </p:spPr>
        <p:txBody>
          <a:bodyPr wrap="square" lIns="0" tIns="0" rIns="0" bIns="0" rtlCol="0" anchor="t"/>
          <a:lstStyle/>
          <a:p>
            <a:pPr algn="l" indent="0" marL="0">
              <a:lnSpc>
                <a:spcPts val="1482"/>
              </a:lnSpc>
              <a:buNone/>
            </a:pPr>
            <a:r>
              <a:rPr lang="en-US" sz="956" dirty="0">
                <a:solidFill>
                  <a:srgbClr val="8AA0CC"/>
                </a:solidFill>
                <a:latin typeface="Carlito" pitchFamily="34" charset="0"/>
                <a:ea typeface="Carlito" pitchFamily="34" charset="-122"/>
                <a:cs typeface="Carlito" pitchFamily="34" charset="-120"/>
              </a:rPr>
              <a:t>أربعة محاور ستأخذك من المفهوم إلى التطبيق العملي في تدريب الذكاء الاصطناعي</a:t>
            </a:r>
            <a:endParaRPr lang="en-US" sz="956" dirty="0"/>
          </a:p>
        </p:txBody>
      </p:sp>
      <p:sp>
        <p:nvSpPr>
          <p:cNvPr id="12" name="Text 7"/>
          <p:cNvSpPr/>
          <p:nvPr/>
        </p:nvSpPr>
        <p:spPr>
          <a:xfrm>
            <a:off x="434340" y="1147603"/>
            <a:ext cx="752951" cy="212027"/>
          </a:xfrm>
          <a:prstGeom prst="roundRect">
            <a:avLst>
              <a:gd name="adj" fmla="val 26954"/>
            </a:avLst>
          </a:prstGeom>
          <a:noFill/>
          <a:ln w="7144">
            <a:solidFill>
              <a:srgbClr val="00D9FF"/>
            </a:solidFill>
            <a:prstDash val="solid"/>
          </a:ln>
        </p:spPr>
        <p:txBody>
          <a:bodyPr wrap="square" rtlCol="0" anchor="ctr"/>
          <a:lstStyle/>
          <a:p>
            <a:pPr indent="0" marL="0">
              <a:buNone/>
            </a:pPr>
            <a:endParaRPr lang="en-US" dirty="0"/>
          </a:p>
        </p:txBody>
      </p:sp>
      <p:sp>
        <p:nvSpPr>
          <p:cNvPr id="13" name="Text 8"/>
          <p:cNvSpPr/>
          <p:nvPr/>
        </p:nvSpPr>
        <p:spPr>
          <a:xfrm>
            <a:off x="404599" y="1158962"/>
            <a:ext cx="812434" cy="189309"/>
          </a:xfrm>
          <a:prstGeom prst="rect">
            <a:avLst/>
          </a:prstGeom>
          <a:noFill/>
          <a:ln/>
        </p:spPr>
        <p:txBody>
          <a:bodyPr wrap="none" lIns="0" tIns="0" rIns="0" bIns="0" rtlCol="0" anchor="ctr"/>
          <a:lstStyle/>
          <a:p>
            <a:pPr algn="ctr" indent="0" marL="0">
              <a:lnSpc>
                <a:spcPts val="928"/>
              </a:lnSpc>
              <a:buNone/>
            </a:pPr>
            <a:r>
              <a:rPr lang="en-US" sz="800" spc="84" kern="0" dirty="0">
                <a:solidFill>
                  <a:srgbClr val="5B6B96"/>
                </a:solidFill>
                <a:latin typeface="Liberation Sans Narrow" pitchFamily="34" charset="0"/>
                <a:ea typeface="Liberation Sans Narrow" pitchFamily="34" charset="-122"/>
                <a:cs typeface="Liberation Sans Narrow" pitchFamily="34" charset="-120"/>
              </a:rPr>
              <a:t>04 CHAPTERS</a:t>
            </a:r>
            <a:endParaRPr lang="en-US" sz="800" dirty="0"/>
          </a:p>
        </p:txBody>
      </p:sp>
      <p:pic>
        <p:nvPicPr>
          <p:cNvPr id="14" name="Image 3" descr="preencoded.png">    </p:cNvPr>
          <p:cNvPicPr>
            <a:picLocks noChangeAspect="1"/>
          </p:cNvPicPr>
          <p:nvPr/>
        </p:nvPicPr>
        <p:blipFill>
          <a:blip r:embed="rId4"/>
          <a:stretch>
            <a:fillRect/>
          </a:stretch>
        </p:blipFill>
        <p:spPr>
          <a:xfrm>
            <a:off x="457200" y="1448284"/>
            <a:ext cx="8229600" cy="14288"/>
          </a:xfrm>
          <a:prstGeom prst="rect">
            <a:avLst/>
          </a:prstGeom>
        </p:spPr>
      </p:pic>
      <p:sp>
        <p:nvSpPr>
          <p:cNvPr id="15" name="Text 9"/>
          <p:cNvSpPr/>
          <p:nvPr/>
        </p:nvSpPr>
        <p:spPr>
          <a:xfrm>
            <a:off x="4639866" y="1623306"/>
            <a:ext cx="4043363" cy="1400175"/>
          </a:xfrm>
          <a:prstGeom prst="roundRect">
            <a:avLst>
              <a:gd name="adj" fmla="val 12245"/>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sp>
        <p:nvSpPr>
          <p:cNvPr id="16" name="Text 10"/>
          <p:cNvSpPr/>
          <p:nvPr/>
        </p:nvSpPr>
        <p:spPr>
          <a:xfrm>
            <a:off x="4759949" y="1712602"/>
            <a:ext cx="569934" cy="339471"/>
          </a:xfrm>
          <a:prstGeom prst="rect">
            <a:avLst/>
          </a:prstGeom>
          <a:noFill/>
          <a:ln/>
        </p:spPr>
        <p:txBody>
          <a:bodyPr wrap="square" lIns="0" tIns="0" rIns="0" bIns="0" rtlCol="0" anchor="t"/>
          <a:lstStyle/>
          <a:p>
            <a:pPr algn="l" indent="0" marL="0">
              <a:lnSpc>
                <a:spcPts val="2475"/>
              </a:lnSpc>
              <a:buNone/>
            </a:pPr>
            <a:r>
              <a:rPr lang="en-US" sz="2475" b="1" dirty="0">
                <a:solidFill>
                  <a:srgbClr val="00D9FF">
                    <a:alpha val="85000"/>
                  </a:srgbClr>
                </a:solidFill>
                <a:latin typeface="Liberation Sans Narrow" pitchFamily="34" charset="0"/>
                <a:ea typeface="Liberation Sans Narrow" pitchFamily="34" charset="-122"/>
                <a:cs typeface="Liberation Sans Narrow" pitchFamily="34" charset="-120"/>
              </a:rPr>
              <a:t>01</a:t>
            </a:r>
            <a:endParaRPr lang="en-US" sz="2475" dirty="0"/>
          </a:p>
        </p:txBody>
      </p:sp>
      <p:pic>
        <p:nvPicPr>
          <p:cNvPr id="17" name="Image 4" descr="preencoded.png">    </p:cNvPr>
          <p:cNvPicPr>
            <a:picLocks noChangeAspect="1"/>
          </p:cNvPicPr>
          <p:nvPr/>
        </p:nvPicPr>
        <p:blipFill>
          <a:blip r:embed="rId5"/>
          <a:stretch>
            <a:fillRect/>
          </a:stretch>
        </p:blipFill>
        <p:spPr>
          <a:xfrm>
            <a:off x="8136731" y="1769752"/>
            <a:ext cx="371475" cy="371475"/>
          </a:xfrm>
          <a:prstGeom prst="rect">
            <a:avLst/>
          </a:prstGeom>
        </p:spPr>
      </p:pic>
      <p:sp>
        <p:nvSpPr>
          <p:cNvPr id="18" name="Text 11"/>
          <p:cNvSpPr/>
          <p:nvPr/>
        </p:nvSpPr>
        <p:spPr>
          <a:xfrm>
            <a:off x="8140303" y="1773324"/>
            <a:ext cx="364331" cy="364331"/>
          </a:xfrm>
          <a:prstGeom prst="roundRect">
            <a:avLst>
              <a:gd name="adj" fmla="val 36601"/>
            </a:avLst>
          </a:prstGeom>
          <a:noFill/>
          <a:ln w="7144">
            <a:solidFill>
              <a:srgbClr val="00D9FF"/>
            </a:solidFill>
            <a:prstDash val="solid"/>
          </a:ln>
        </p:spPr>
        <p:txBody>
          <a:bodyPr wrap="square" rtlCol="0" anchor="ctr"/>
          <a:lstStyle/>
          <a:p>
            <a:pPr indent="0" marL="0">
              <a:buNone/>
            </a:pPr>
            <a:endParaRPr lang="en-US" dirty="0"/>
          </a:p>
        </p:txBody>
      </p:sp>
      <p:sp>
        <p:nvSpPr>
          <p:cNvPr id="19" name="Text 12"/>
          <p:cNvSpPr/>
          <p:nvPr/>
        </p:nvSpPr>
        <p:spPr>
          <a:xfrm>
            <a:off x="8187809" y="1820830"/>
            <a:ext cx="269319" cy="269319"/>
          </a:xfrm>
          <a:prstGeom prst="rect">
            <a:avLst/>
          </a:prstGeom>
          <a:noFill/>
          <a:ln/>
        </p:spPr>
        <p:txBody>
          <a:bodyPr wrap="none" lIns="0" tIns="0" rIns="0" bIns="0" rtlCol="0" anchor="ctr"/>
          <a:lstStyle/>
          <a:p>
            <a:pPr algn="ctr" indent="0" marL="0">
              <a:buNone/>
            </a:pPr>
            <a:r>
              <a:rPr lang="en-US" sz="1828" dirty="0">
                <a:solidFill>
                  <a:srgbClr val="00D9FF"/>
                </a:solidFill>
                <a:latin typeface="Segoe UI Symbol" pitchFamily="34" charset="0"/>
                <a:ea typeface="Segoe UI Symbol" pitchFamily="34" charset="-122"/>
                <a:cs typeface="Segoe UI Symbol" pitchFamily="34" charset="-120"/>
              </a:rPr>
              <a:t>▦</a:t>
            </a:r>
            <a:endParaRPr lang="en-US" sz="1828" dirty="0"/>
          </a:p>
        </p:txBody>
      </p:sp>
      <p:sp>
        <p:nvSpPr>
          <p:cNvPr id="20" name="Text 13"/>
          <p:cNvSpPr/>
          <p:nvPr/>
        </p:nvSpPr>
        <p:spPr>
          <a:xfrm>
            <a:off x="4792028" y="1758394"/>
            <a:ext cx="640995" cy="212027"/>
          </a:xfrm>
          <a:prstGeom prst="roundRect">
            <a:avLst>
              <a:gd name="adj" fmla="val 4487860"/>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21" name="Text 14"/>
          <p:cNvSpPr/>
          <p:nvPr/>
        </p:nvSpPr>
        <p:spPr>
          <a:xfrm>
            <a:off x="4743473" y="1769752"/>
            <a:ext cx="738104" cy="189309"/>
          </a:xfrm>
          <a:prstGeom prst="rect">
            <a:avLst/>
          </a:prstGeom>
          <a:noFill/>
          <a:ln/>
        </p:spPr>
        <p:txBody>
          <a:bodyPr wrap="none" lIns="0" tIns="0" rIns="0" bIns="0" rtlCol="0" anchor="ctr"/>
          <a:lstStyle/>
          <a:p>
            <a:pPr algn="ctr" indent="0" marL="0">
              <a:lnSpc>
                <a:spcPts val="928"/>
              </a:lnSpc>
              <a:buNone/>
            </a:pPr>
            <a:r>
              <a:rPr lang="en-US" sz="800" dirty="0">
                <a:solidFill>
                  <a:srgbClr val="00D9FF"/>
                </a:solidFill>
                <a:latin typeface="Liberation Sans Narrow" pitchFamily="34" charset="0"/>
                <a:ea typeface="Liberation Sans Narrow" pitchFamily="34" charset="-122"/>
                <a:cs typeface="Liberation Sans Narrow" pitchFamily="34" charset="-120"/>
              </a:rPr>
              <a:t>CHAPTER 01</a:t>
            </a:r>
            <a:endParaRPr lang="en-US" sz="800" dirty="0"/>
          </a:p>
        </p:txBody>
      </p:sp>
      <p:sp>
        <p:nvSpPr>
          <p:cNvPr id="22" name="Text 15"/>
          <p:cNvSpPr/>
          <p:nvPr/>
        </p:nvSpPr>
        <p:spPr>
          <a:xfrm>
            <a:off x="4814888" y="2241240"/>
            <a:ext cx="3693319" cy="251174"/>
          </a:xfrm>
          <a:prstGeom prst="rect">
            <a:avLst/>
          </a:prstGeom>
          <a:noFill/>
          <a:ln/>
        </p:spPr>
        <p:txBody>
          <a:bodyPr wrap="none" lIns="0" tIns="0" rIns="0" bIns="0" rtlCol="0" anchor="t">
            <a:normAutofit/>
          </a:bodyPr>
          <a:lstStyle/>
          <a:p>
            <a:pPr algn="l" indent="0" marL="0">
              <a:lnSpc>
                <a:spcPts val="1856"/>
              </a:lnSpc>
              <a:buNone/>
            </a:pPr>
            <a:r>
              <a:rPr lang="en-US" sz="1238" b="1" dirty="0">
                <a:solidFill>
                  <a:srgbClr val="EAF6FF"/>
                </a:solidFill>
                <a:latin typeface="Carlito" pitchFamily="34" charset="0"/>
                <a:ea typeface="Carlito" pitchFamily="34" charset="-122"/>
                <a:cs typeface="Carlito" pitchFamily="34" charset="-120"/>
              </a:rPr>
              <a:t>أساسيات الذكاء الاصطناعي</a:t>
            </a:r>
            <a:endParaRPr lang="en-US" sz="1238" dirty="0"/>
          </a:p>
        </p:txBody>
      </p:sp>
      <p:sp>
        <p:nvSpPr>
          <p:cNvPr id="23" name="Text 16"/>
          <p:cNvSpPr/>
          <p:nvPr/>
        </p:nvSpPr>
        <p:spPr>
          <a:xfrm>
            <a:off x="4814888" y="2519846"/>
            <a:ext cx="3693319" cy="346704"/>
          </a:xfrm>
          <a:prstGeom prst="rect">
            <a:avLst/>
          </a:prstGeom>
          <a:noFill/>
          <a:ln/>
        </p:spPr>
        <p:txBody>
          <a:bodyPr wrap="square" lIns="0" tIns="0" rIns="0" bIns="0" rtlCol="0" anchor="t"/>
          <a:lstStyle/>
          <a:p>
            <a:pPr algn="l" indent="0" marL="0">
              <a:lnSpc>
                <a:spcPts val="1264"/>
              </a:lnSpc>
              <a:buNone/>
            </a:pPr>
            <a:r>
              <a:rPr lang="en-US" sz="816" dirty="0">
                <a:solidFill>
                  <a:srgbClr val="8AA0CC"/>
                </a:solidFill>
                <a:latin typeface="Carlito" pitchFamily="34" charset="0"/>
                <a:ea typeface="Carlito" pitchFamily="34" charset="-122"/>
                <a:cs typeface="Carlito" pitchFamily="34" charset="-120"/>
              </a:rPr>
              <a:t>فهم مفهوم الذكاء الاصطناعي، أنواعه، تطبيقاته الحديثة في الصناعة</a:t>
            </a:r>
            <a:endParaRPr lang="en-US" sz="816" dirty="0"/>
          </a:p>
        </p:txBody>
      </p:sp>
      <p:pic>
        <p:nvPicPr>
          <p:cNvPr id="24" name="Image 5" descr="preencoded.png">    </p:cNvPr>
          <p:cNvPicPr>
            <a:picLocks noChangeAspect="1"/>
          </p:cNvPicPr>
          <p:nvPr/>
        </p:nvPicPr>
        <p:blipFill>
          <a:blip r:embed="rId6"/>
          <a:stretch>
            <a:fillRect/>
          </a:stretch>
        </p:blipFill>
        <p:spPr>
          <a:xfrm>
            <a:off x="8251031" y="2940881"/>
            <a:ext cx="257175" cy="21431"/>
          </a:xfrm>
          <a:prstGeom prst="rect">
            <a:avLst/>
          </a:prstGeom>
        </p:spPr>
      </p:pic>
      <p:pic>
        <p:nvPicPr>
          <p:cNvPr id="25" name="Image 6" descr="preencoded.png">    </p:cNvPr>
          <p:cNvPicPr>
            <a:picLocks noChangeAspect="1"/>
          </p:cNvPicPr>
          <p:nvPr/>
        </p:nvPicPr>
        <p:blipFill>
          <a:blip r:embed="rId7"/>
          <a:stretch>
            <a:fillRect/>
          </a:stretch>
        </p:blipFill>
        <p:spPr>
          <a:xfrm>
            <a:off x="457200" y="1619734"/>
            <a:ext cx="4050506" cy="1407319"/>
          </a:xfrm>
          <a:prstGeom prst="rect">
            <a:avLst/>
          </a:prstGeom>
        </p:spPr>
      </p:pic>
      <p:sp>
        <p:nvSpPr>
          <p:cNvPr id="26" name="Text 17"/>
          <p:cNvSpPr/>
          <p:nvPr/>
        </p:nvSpPr>
        <p:spPr>
          <a:xfrm>
            <a:off x="460772" y="1623306"/>
            <a:ext cx="4043363" cy="1400175"/>
          </a:xfrm>
          <a:prstGeom prst="roundRect">
            <a:avLst>
              <a:gd name="adj" fmla="val 12245"/>
            </a:avLst>
          </a:prstGeom>
          <a:noFill/>
          <a:ln w="7144">
            <a:solidFill>
              <a:srgbClr val="B845FF"/>
            </a:solidFill>
            <a:prstDash val="solid"/>
          </a:ln>
        </p:spPr>
        <p:txBody>
          <a:bodyPr wrap="square" rtlCol="0" anchor="ctr"/>
          <a:lstStyle/>
          <a:p>
            <a:pPr indent="0" marL="0">
              <a:buNone/>
            </a:pPr>
            <a:endParaRPr lang="en-US" dirty="0"/>
          </a:p>
        </p:txBody>
      </p:sp>
      <p:sp>
        <p:nvSpPr>
          <p:cNvPr id="27" name="Text 18"/>
          <p:cNvSpPr/>
          <p:nvPr/>
        </p:nvSpPr>
        <p:spPr>
          <a:xfrm>
            <a:off x="580855" y="1712602"/>
            <a:ext cx="569934" cy="339471"/>
          </a:xfrm>
          <a:prstGeom prst="rect">
            <a:avLst/>
          </a:prstGeom>
          <a:noFill/>
          <a:ln/>
        </p:spPr>
        <p:txBody>
          <a:bodyPr wrap="square" lIns="0" tIns="0" rIns="0" bIns="0" rtlCol="0" anchor="t"/>
          <a:lstStyle/>
          <a:p>
            <a:pPr algn="l" indent="0" marL="0">
              <a:lnSpc>
                <a:spcPts val="2475"/>
              </a:lnSpc>
              <a:buNone/>
            </a:pPr>
            <a:r>
              <a:rPr lang="en-US" sz="2475" b="1" dirty="0">
                <a:solidFill>
                  <a:srgbClr val="00D9FF">
                    <a:alpha val="85000"/>
                  </a:srgbClr>
                </a:solidFill>
                <a:latin typeface="Liberation Sans Narrow" pitchFamily="34" charset="0"/>
                <a:ea typeface="Liberation Sans Narrow" pitchFamily="34" charset="-122"/>
                <a:cs typeface="Liberation Sans Narrow" pitchFamily="34" charset="-120"/>
              </a:rPr>
              <a:t>02</a:t>
            </a:r>
            <a:endParaRPr lang="en-US" sz="2475" dirty="0"/>
          </a:p>
        </p:txBody>
      </p:sp>
      <p:pic>
        <p:nvPicPr>
          <p:cNvPr id="28" name="Image 7" descr="preencoded.png">    </p:cNvPr>
          <p:cNvPicPr>
            <a:picLocks noChangeAspect="1"/>
          </p:cNvPicPr>
          <p:nvPr/>
        </p:nvPicPr>
        <p:blipFill>
          <a:blip r:embed="rId8"/>
          <a:stretch>
            <a:fillRect/>
          </a:stretch>
        </p:blipFill>
        <p:spPr>
          <a:xfrm>
            <a:off x="3957638" y="1769752"/>
            <a:ext cx="371475" cy="371475"/>
          </a:xfrm>
          <a:prstGeom prst="rect">
            <a:avLst/>
          </a:prstGeom>
        </p:spPr>
      </p:pic>
      <p:sp>
        <p:nvSpPr>
          <p:cNvPr id="29" name="Text 19"/>
          <p:cNvSpPr/>
          <p:nvPr/>
        </p:nvSpPr>
        <p:spPr>
          <a:xfrm>
            <a:off x="3961209" y="1773324"/>
            <a:ext cx="364331" cy="364331"/>
          </a:xfrm>
          <a:prstGeom prst="roundRect">
            <a:avLst>
              <a:gd name="adj" fmla="val 36601"/>
            </a:avLst>
          </a:prstGeom>
          <a:noFill/>
          <a:ln w="7144">
            <a:solidFill>
              <a:srgbClr val="B845FF"/>
            </a:solidFill>
            <a:prstDash val="solid"/>
          </a:ln>
        </p:spPr>
        <p:txBody>
          <a:bodyPr wrap="square" rtlCol="0" anchor="ctr"/>
          <a:lstStyle/>
          <a:p>
            <a:pPr indent="0" marL="0">
              <a:buNone/>
            </a:pPr>
            <a:endParaRPr lang="en-US" dirty="0"/>
          </a:p>
        </p:txBody>
      </p:sp>
      <p:sp>
        <p:nvSpPr>
          <p:cNvPr id="30" name="Text 20"/>
          <p:cNvSpPr/>
          <p:nvPr/>
        </p:nvSpPr>
        <p:spPr>
          <a:xfrm>
            <a:off x="4008715" y="1820830"/>
            <a:ext cx="269319" cy="269319"/>
          </a:xfrm>
          <a:prstGeom prst="rect">
            <a:avLst/>
          </a:prstGeom>
          <a:noFill/>
          <a:ln/>
        </p:spPr>
        <p:txBody>
          <a:bodyPr wrap="none" lIns="0" tIns="0" rIns="0" bIns="0" rtlCol="0" anchor="ctr"/>
          <a:lstStyle/>
          <a:p>
            <a:pPr algn="ctr" indent="0" marL="0">
              <a:buNone/>
            </a:pPr>
            <a:r>
              <a:rPr lang="en-US" sz="1828" dirty="0">
                <a:solidFill>
                  <a:srgbClr val="B845FF"/>
                </a:solidFill>
                <a:latin typeface="Segoe UI Symbol" pitchFamily="34" charset="0"/>
                <a:ea typeface="Segoe UI Symbol" pitchFamily="34" charset="-122"/>
                <a:cs typeface="Segoe UI Symbol" pitchFamily="34" charset="-120"/>
              </a:rPr>
              <a:t>▦</a:t>
            </a:r>
            <a:endParaRPr lang="en-US" sz="1828" dirty="0"/>
          </a:p>
        </p:txBody>
      </p:sp>
      <p:sp>
        <p:nvSpPr>
          <p:cNvPr id="31" name="Text 21"/>
          <p:cNvSpPr/>
          <p:nvPr/>
        </p:nvSpPr>
        <p:spPr>
          <a:xfrm>
            <a:off x="612934" y="1758394"/>
            <a:ext cx="640995" cy="212027"/>
          </a:xfrm>
          <a:prstGeom prst="roundRect">
            <a:avLst>
              <a:gd name="adj" fmla="val 4487860"/>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32" name="Text 22"/>
          <p:cNvSpPr/>
          <p:nvPr/>
        </p:nvSpPr>
        <p:spPr>
          <a:xfrm>
            <a:off x="564380" y="1769752"/>
            <a:ext cx="738104" cy="189309"/>
          </a:xfrm>
          <a:prstGeom prst="rect">
            <a:avLst/>
          </a:prstGeom>
          <a:noFill/>
          <a:ln/>
        </p:spPr>
        <p:txBody>
          <a:bodyPr wrap="none" lIns="0" tIns="0" rIns="0" bIns="0" rtlCol="0" anchor="ctr"/>
          <a:lstStyle/>
          <a:p>
            <a:pPr algn="ctr" indent="0" marL="0">
              <a:lnSpc>
                <a:spcPts val="928"/>
              </a:lnSpc>
              <a:buNone/>
            </a:pPr>
            <a:r>
              <a:rPr lang="en-US" sz="800" dirty="0">
                <a:solidFill>
                  <a:srgbClr val="B845FF"/>
                </a:solidFill>
                <a:latin typeface="Liberation Sans Narrow" pitchFamily="34" charset="0"/>
                <a:ea typeface="Liberation Sans Narrow" pitchFamily="34" charset="-122"/>
                <a:cs typeface="Liberation Sans Narrow" pitchFamily="34" charset="-120"/>
              </a:rPr>
              <a:t>CHAPTER 02</a:t>
            </a:r>
            <a:endParaRPr lang="en-US" sz="800" dirty="0"/>
          </a:p>
        </p:txBody>
      </p:sp>
      <p:sp>
        <p:nvSpPr>
          <p:cNvPr id="33" name="Text 23"/>
          <p:cNvSpPr/>
          <p:nvPr/>
        </p:nvSpPr>
        <p:spPr>
          <a:xfrm>
            <a:off x="635794" y="2316473"/>
            <a:ext cx="3693319" cy="251174"/>
          </a:xfrm>
          <a:prstGeom prst="rect">
            <a:avLst/>
          </a:prstGeom>
          <a:noFill/>
          <a:ln/>
        </p:spPr>
        <p:txBody>
          <a:bodyPr wrap="none" lIns="0" tIns="0" rIns="0" bIns="0" rtlCol="0" anchor="t">
            <a:normAutofit/>
          </a:bodyPr>
          <a:lstStyle/>
          <a:p>
            <a:pPr algn="l" indent="0" marL="0">
              <a:lnSpc>
                <a:spcPts val="1856"/>
              </a:lnSpc>
              <a:buNone/>
            </a:pPr>
            <a:r>
              <a:rPr lang="en-US" sz="1238" b="1" dirty="0">
                <a:solidFill>
                  <a:srgbClr val="EAF6FF"/>
                </a:solidFill>
                <a:latin typeface="Carlito" pitchFamily="34" charset="0"/>
                <a:ea typeface="Carlito" pitchFamily="34" charset="-122"/>
                <a:cs typeface="Carlito" pitchFamily="34" charset="-120"/>
              </a:rPr>
              <a:t>إعداد البيانات</a:t>
            </a:r>
            <a:endParaRPr lang="en-US" sz="1238" dirty="0"/>
          </a:p>
        </p:txBody>
      </p:sp>
      <p:sp>
        <p:nvSpPr>
          <p:cNvPr id="34" name="Text 24"/>
          <p:cNvSpPr/>
          <p:nvPr/>
        </p:nvSpPr>
        <p:spPr>
          <a:xfrm>
            <a:off x="635794" y="2595079"/>
            <a:ext cx="3693319" cy="173352"/>
          </a:xfrm>
          <a:prstGeom prst="rect">
            <a:avLst/>
          </a:prstGeom>
          <a:noFill/>
          <a:ln/>
        </p:spPr>
        <p:txBody>
          <a:bodyPr wrap="square" lIns="0" tIns="0" rIns="0" bIns="0" rtlCol="0" anchor="t"/>
          <a:lstStyle/>
          <a:p>
            <a:pPr algn="l" indent="0" marL="0">
              <a:lnSpc>
                <a:spcPts val="1264"/>
              </a:lnSpc>
              <a:buNone/>
            </a:pPr>
            <a:r>
              <a:rPr lang="en-US" sz="816" dirty="0">
                <a:solidFill>
                  <a:srgbClr val="8AA0CC"/>
                </a:solidFill>
                <a:latin typeface="Carlito" pitchFamily="34" charset="0"/>
                <a:ea typeface="Carlito" pitchFamily="34" charset="-122"/>
                <a:cs typeface="Carlito" pitchFamily="34" charset="-120"/>
              </a:rPr>
              <a:t>جمع البيانات وتنظيفها ووسمها وتقسيمها — أساس أي نموذج ناجح</a:t>
            </a:r>
            <a:endParaRPr lang="en-US" sz="816" dirty="0"/>
          </a:p>
        </p:txBody>
      </p:sp>
      <p:pic>
        <p:nvPicPr>
          <p:cNvPr id="35" name="Image 8" descr="preencoded.png">    </p:cNvPr>
          <p:cNvPicPr>
            <a:picLocks noChangeAspect="1"/>
          </p:cNvPicPr>
          <p:nvPr/>
        </p:nvPicPr>
        <p:blipFill>
          <a:blip r:embed="rId9"/>
          <a:stretch>
            <a:fillRect/>
          </a:stretch>
        </p:blipFill>
        <p:spPr>
          <a:xfrm>
            <a:off x="4071938" y="2855602"/>
            <a:ext cx="257175" cy="21431"/>
          </a:xfrm>
          <a:prstGeom prst="rect">
            <a:avLst/>
          </a:prstGeom>
        </p:spPr>
      </p:pic>
      <p:sp>
        <p:nvSpPr>
          <p:cNvPr id="36" name="Text 25"/>
          <p:cNvSpPr/>
          <p:nvPr/>
        </p:nvSpPr>
        <p:spPr>
          <a:xfrm>
            <a:off x="4639866" y="3159212"/>
            <a:ext cx="4043363" cy="1400175"/>
          </a:xfrm>
          <a:prstGeom prst="roundRect">
            <a:avLst>
              <a:gd name="adj" fmla="val 12245"/>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sp>
        <p:nvSpPr>
          <p:cNvPr id="37" name="Text 26"/>
          <p:cNvSpPr/>
          <p:nvPr/>
        </p:nvSpPr>
        <p:spPr>
          <a:xfrm>
            <a:off x="4759949" y="3248509"/>
            <a:ext cx="569934" cy="339471"/>
          </a:xfrm>
          <a:prstGeom prst="rect">
            <a:avLst/>
          </a:prstGeom>
          <a:noFill/>
          <a:ln/>
        </p:spPr>
        <p:txBody>
          <a:bodyPr wrap="square" lIns="0" tIns="0" rIns="0" bIns="0" rtlCol="0" anchor="t"/>
          <a:lstStyle/>
          <a:p>
            <a:pPr algn="l" indent="0" marL="0">
              <a:lnSpc>
                <a:spcPts val="2475"/>
              </a:lnSpc>
              <a:buNone/>
            </a:pPr>
            <a:r>
              <a:rPr lang="en-US" sz="2475" b="1" dirty="0">
                <a:solidFill>
                  <a:srgbClr val="00D9FF">
                    <a:alpha val="85000"/>
                  </a:srgbClr>
                </a:solidFill>
                <a:latin typeface="Liberation Sans Narrow" pitchFamily="34" charset="0"/>
                <a:ea typeface="Liberation Sans Narrow" pitchFamily="34" charset="-122"/>
                <a:cs typeface="Liberation Sans Narrow" pitchFamily="34" charset="-120"/>
              </a:rPr>
              <a:t>03</a:t>
            </a:r>
            <a:endParaRPr lang="en-US" sz="2475" dirty="0"/>
          </a:p>
        </p:txBody>
      </p:sp>
      <p:pic>
        <p:nvPicPr>
          <p:cNvPr id="38" name="Image 9" descr="preencoded.png">    </p:cNvPr>
          <p:cNvPicPr>
            <a:picLocks noChangeAspect="1"/>
          </p:cNvPicPr>
          <p:nvPr/>
        </p:nvPicPr>
        <p:blipFill>
          <a:blip r:embed="rId10"/>
          <a:stretch>
            <a:fillRect/>
          </a:stretch>
        </p:blipFill>
        <p:spPr>
          <a:xfrm>
            <a:off x="8136731" y="3305659"/>
            <a:ext cx="371475" cy="371475"/>
          </a:xfrm>
          <a:prstGeom prst="rect">
            <a:avLst/>
          </a:prstGeom>
        </p:spPr>
      </p:pic>
      <p:sp>
        <p:nvSpPr>
          <p:cNvPr id="39" name="Text 27"/>
          <p:cNvSpPr/>
          <p:nvPr/>
        </p:nvSpPr>
        <p:spPr>
          <a:xfrm>
            <a:off x="8140303" y="3309231"/>
            <a:ext cx="364331" cy="364331"/>
          </a:xfrm>
          <a:prstGeom prst="roundRect">
            <a:avLst>
              <a:gd name="adj" fmla="val 36601"/>
            </a:avLst>
          </a:prstGeom>
          <a:noFill/>
          <a:ln w="7144">
            <a:solidFill>
              <a:srgbClr val="00D9FF"/>
            </a:solidFill>
            <a:prstDash val="solid"/>
          </a:ln>
        </p:spPr>
        <p:txBody>
          <a:bodyPr wrap="square" rtlCol="0" anchor="ctr"/>
          <a:lstStyle/>
          <a:p>
            <a:pPr indent="0" marL="0">
              <a:buNone/>
            </a:pPr>
            <a:endParaRPr lang="en-US" dirty="0"/>
          </a:p>
        </p:txBody>
      </p:sp>
      <p:sp>
        <p:nvSpPr>
          <p:cNvPr id="40" name="Text 28"/>
          <p:cNvSpPr/>
          <p:nvPr/>
        </p:nvSpPr>
        <p:spPr>
          <a:xfrm>
            <a:off x="8187809" y="3356737"/>
            <a:ext cx="269319" cy="269319"/>
          </a:xfrm>
          <a:prstGeom prst="rect">
            <a:avLst/>
          </a:prstGeom>
          <a:noFill/>
          <a:ln/>
        </p:spPr>
        <p:txBody>
          <a:bodyPr wrap="none" lIns="0" tIns="0" rIns="0" bIns="0" rtlCol="0" anchor="ctr"/>
          <a:lstStyle/>
          <a:p>
            <a:pPr algn="ctr" indent="0" marL="0">
              <a:buNone/>
            </a:pPr>
            <a:r>
              <a:rPr lang="en-US" sz="1828" dirty="0">
                <a:solidFill>
                  <a:srgbClr val="00D9FF"/>
                </a:solidFill>
                <a:latin typeface="Segoe UI Symbol" pitchFamily="34" charset="0"/>
                <a:ea typeface="Segoe UI Symbol" pitchFamily="34" charset="-122"/>
                <a:cs typeface="Segoe UI Symbol" pitchFamily="34" charset="-120"/>
              </a:rPr>
              <a:t>▿</a:t>
            </a:r>
            <a:endParaRPr lang="en-US" sz="1828" dirty="0"/>
          </a:p>
        </p:txBody>
      </p:sp>
      <p:sp>
        <p:nvSpPr>
          <p:cNvPr id="41" name="Text 29"/>
          <p:cNvSpPr/>
          <p:nvPr/>
        </p:nvSpPr>
        <p:spPr>
          <a:xfrm>
            <a:off x="4792028" y="3294300"/>
            <a:ext cx="640995" cy="212027"/>
          </a:xfrm>
          <a:prstGeom prst="roundRect">
            <a:avLst>
              <a:gd name="adj" fmla="val 4487860"/>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42" name="Text 30"/>
          <p:cNvSpPr/>
          <p:nvPr/>
        </p:nvSpPr>
        <p:spPr>
          <a:xfrm>
            <a:off x="4743473" y="3305659"/>
            <a:ext cx="738104" cy="189309"/>
          </a:xfrm>
          <a:prstGeom prst="rect">
            <a:avLst/>
          </a:prstGeom>
          <a:noFill/>
          <a:ln/>
        </p:spPr>
        <p:txBody>
          <a:bodyPr wrap="none" lIns="0" tIns="0" rIns="0" bIns="0" rtlCol="0" anchor="ctr"/>
          <a:lstStyle/>
          <a:p>
            <a:pPr algn="ctr" indent="0" marL="0">
              <a:lnSpc>
                <a:spcPts val="928"/>
              </a:lnSpc>
              <a:buNone/>
            </a:pPr>
            <a:r>
              <a:rPr lang="en-US" sz="800" dirty="0">
                <a:solidFill>
                  <a:srgbClr val="00D9FF"/>
                </a:solidFill>
                <a:latin typeface="Liberation Sans Narrow" pitchFamily="34" charset="0"/>
                <a:ea typeface="Liberation Sans Narrow" pitchFamily="34" charset="-122"/>
                <a:cs typeface="Liberation Sans Narrow" pitchFamily="34" charset="-120"/>
              </a:rPr>
              <a:t>CHAPTER 03</a:t>
            </a:r>
            <a:endParaRPr lang="en-US" sz="800" dirty="0"/>
          </a:p>
        </p:txBody>
      </p:sp>
      <p:sp>
        <p:nvSpPr>
          <p:cNvPr id="43" name="Text 31"/>
          <p:cNvSpPr/>
          <p:nvPr/>
        </p:nvSpPr>
        <p:spPr>
          <a:xfrm>
            <a:off x="4814888" y="3852379"/>
            <a:ext cx="3693319" cy="251174"/>
          </a:xfrm>
          <a:prstGeom prst="rect">
            <a:avLst/>
          </a:prstGeom>
          <a:noFill/>
          <a:ln/>
        </p:spPr>
        <p:txBody>
          <a:bodyPr wrap="none" lIns="0" tIns="0" rIns="0" bIns="0" rtlCol="0" anchor="t">
            <a:normAutofit/>
          </a:bodyPr>
          <a:lstStyle/>
          <a:p>
            <a:pPr algn="l" indent="0" marL="0">
              <a:lnSpc>
                <a:spcPts val="1856"/>
              </a:lnSpc>
              <a:buNone/>
            </a:pPr>
            <a:r>
              <a:rPr lang="en-US" sz="1238" b="1" dirty="0">
                <a:solidFill>
                  <a:srgbClr val="EAF6FF"/>
                </a:solidFill>
                <a:latin typeface="Carlito" pitchFamily="34" charset="0"/>
                <a:ea typeface="Carlito" pitchFamily="34" charset="-122"/>
                <a:cs typeface="Carlito" pitchFamily="34" charset="-120"/>
              </a:rPr>
              <a:t>أنواع التعلم</a:t>
            </a:r>
            <a:endParaRPr lang="en-US" sz="1238" dirty="0"/>
          </a:p>
        </p:txBody>
      </p:sp>
      <p:sp>
        <p:nvSpPr>
          <p:cNvPr id="44" name="Text 32"/>
          <p:cNvSpPr/>
          <p:nvPr/>
        </p:nvSpPr>
        <p:spPr>
          <a:xfrm>
            <a:off x="4814888" y="4130985"/>
            <a:ext cx="3693319" cy="173352"/>
          </a:xfrm>
          <a:prstGeom prst="rect">
            <a:avLst/>
          </a:prstGeom>
          <a:noFill/>
          <a:ln/>
        </p:spPr>
        <p:txBody>
          <a:bodyPr wrap="square" lIns="0" tIns="0" rIns="0" bIns="0" rtlCol="0" anchor="t"/>
          <a:lstStyle/>
          <a:p>
            <a:pPr algn="l" indent="0" marL="0">
              <a:lnSpc>
                <a:spcPts val="1264"/>
              </a:lnSpc>
              <a:buNone/>
            </a:pPr>
            <a:r>
              <a:rPr lang="en-US" sz="816" dirty="0">
                <a:solidFill>
                  <a:srgbClr val="8AA0CC"/>
                </a:solidFill>
                <a:latin typeface="Carlito" pitchFamily="34" charset="0"/>
                <a:ea typeface="Carlito" pitchFamily="34" charset="-122"/>
                <a:cs typeface="Carlito" pitchFamily="34" charset="-120"/>
              </a:rPr>
              <a:t>التعلم بالإشراف، بدون إشراف، التعزيز، ونقل المعرفة بين النماذج</a:t>
            </a:r>
            <a:endParaRPr lang="en-US" sz="816" dirty="0"/>
          </a:p>
        </p:txBody>
      </p:sp>
      <p:pic>
        <p:nvPicPr>
          <p:cNvPr id="45" name="Image 10" descr="preencoded.png">    </p:cNvPr>
          <p:cNvPicPr>
            <a:picLocks noChangeAspect="1"/>
          </p:cNvPicPr>
          <p:nvPr/>
        </p:nvPicPr>
        <p:blipFill>
          <a:blip r:embed="rId11"/>
          <a:stretch>
            <a:fillRect/>
          </a:stretch>
        </p:blipFill>
        <p:spPr>
          <a:xfrm>
            <a:off x="8251031" y="4391509"/>
            <a:ext cx="257175" cy="21431"/>
          </a:xfrm>
          <a:prstGeom prst="rect">
            <a:avLst/>
          </a:prstGeom>
        </p:spPr>
      </p:pic>
      <p:pic>
        <p:nvPicPr>
          <p:cNvPr id="46" name="Image 11" descr="preencoded.png">    </p:cNvPr>
          <p:cNvPicPr>
            <a:picLocks noChangeAspect="1"/>
          </p:cNvPicPr>
          <p:nvPr/>
        </p:nvPicPr>
        <p:blipFill>
          <a:blip r:embed="rId12"/>
          <a:stretch>
            <a:fillRect/>
          </a:stretch>
        </p:blipFill>
        <p:spPr>
          <a:xfrm>
            <a:off x="457200" y="3155640"/>
            <a:ext cx="4050506" cy="1407319"/>
          </a:xfrm>
          <a:prstGeom prst="rect">
            <a:avLst/>
          </a:prstGeom>
        </p:spPr>
      </p:pic>
      <p:sp>
        <p:nvSpPr>
          <p:cNvPr id="47" name="Text 33"/>
          <p:cNvSpPr/>
          <p:nvPr/>
        </p:nvSpPr>
        <p:spPr>
          <a:xfrm>
            <a:off x="460772" y="3159212"/>
            <a:ext cx="4043363" cy="1400175"/>
          </a:xfrm>
          <a:prstGeom prst="roundRect">
            <a:avLst>
              <a:gd name="adj" fmla="val 12245"/>
            </a:avLst>
          </a:prstGeom>
          <a:noFill/>
          <a:ln w="7144">
            <a:solidFill>
              <a:srgbClr val="B845FF"/>
            </a:solidFill>
            <a:prstDash val="solid"/>
          </a:ln>
        </p:spPr>
        <p:txBody>
          <a:bodyPr wrap="square" rtlCol="0" anchor="ctr"/>
          <a:lstStyle/>
          <a:p>
            <a:pPr indent="0" marL="0">
              <a:buNone/>
            </a:pPr>
            <a:endParaRPr lang="en-US" dirty="0"/>
          </a:p>
        </p:txBody>
      </p:sp>
      <p:sp>
        <p:nvSpPr>
          <p:cNvPr id="48" name="Text 34"/>
          <p:cNvSpPr/>
          <p:nvPr/>
        </p:nvSpPr>
        <p:spPr>
          <a:xfrm>
            <a:off x="580855" y="3248509"/>
            <a:ext cx="569934" cy="339471"/>
          </a:xfrm>
          <a:prstGeom prst="rect">
            <a:avLst/>
          </a:prstGeom>
          <a:noFill/>
          <a:ln/>
        </p:spPr>
        <p:txBody>
          <a:bodyPr wrap="square" lIns="0" tIns="0" rIns="0" bIns="0" rtlCol="0" anchor="t"/>
          <a:lstStyle/>
          <a:p>
            <a:pPr algn="l" indent="0" marL="0">
              <a:lnSpc>
                <a:spcPts val="2475"/>
              </a:lnSpc>
              <a:buNone/>
            </a:pPr>
            <a:r>
              <a:rPr lang="en-US" sz="2475" b="1" dirty="0">
                <a:solidFill>
                  <a:srgbClr val="00D9FF">
                    <a:alpha val="85000"/>
                  </a:srgbClr>
                </a:solidFill>
                <a:latin typeface="Liberation Sans Narrow" pitchFamily="34" charset="0"/>
                <a:ea typeface="Liberation Sans Narrow" pitchFamily="34" charset="-122"/>
                <a:cs typeface="Liberation Sans Narrow" pitchFamily="34" charset="-120"/>
              </a:rPr>
              <a:t>04</a:t>
            </a:r>
            <a:endParaRPr lang="en-US" sz="2475" dirty="0"/>
          </a:p>
        </p:txBody>
      </p:sp>
      <p:pic>
        <p:nvPicPr>
          <p:cNvPr id="49" name="Image 12" descr="preencoded.png">    </p:cNvPr>
          <p:cNvPicPr>
            <a:picLocks noChangeAspect="1"/>
          </p:cNvPicPr>
          <p:nvPr/>
        </p:nvPicPr>
        <p:blipFill>
          <a:blip r:embed="rId13"/>
          <a:stretch>
            <a:fillRect/>
          </a:stretch>
        </p:blipFill>
        <p:spPr>
          <a:xfrm>
            <a:off x="3957638" y="3305659"/>
            <a:ext cx="371475" cy="371475"/>
          </a:xfrm>
          <a:prstGeom prst="rect">
            <a:avLst/>
          </a:prstGeom>
        </p:spPr>
      </p:pic>
      <p:sp>
        <p:nvSpPr>
          <p:cNvPr id="50" name="Text 35"/>
          <p:cNvSpPr/>
          <p:nvPr/>
        </p:nvSpPr>
        <p:spPr>
          <a:xfrm>
            <a:off x="3961209" y="3309231"/>
            <a:ext cx="364331" cy="364331"/>
          </a:xfrm>
          <a:prstGeom prst="roundRect">
            <a:avLst>
              <a:gd name="adj" fmla="val 36601"/>
            </a:avLst>
          </a:prstGeom>
          <a:noFill/>
          <a:ln w="7144">
            <a:solidFill>
              <a:srgbClr val="B845FF"/>
            </a:solidFill>
            <a:prstDash val="solid"/>
          </a:ln>
        </p:spPr>
        <p:txBody>
          <a:bodyPr wrap="square" rtlCol="0" anchor="ctr"/>
          <a:lstStyle/>
          <a:p>
            <a:pPr indent="0" marL="0">
              <a:buNone/>
            </a:pPr>
            <a:endParaRPr lang="en-US" dirty="0"/>
          </a:p>
        </p:txBody>
      </p:sp>
      <p:sp>
        <p:nvSpPr>
          <p:cNvPr id="51" name="Text 36"/>
          <p:cNvSpPr/>
          <p:nvPr/>
        </p:nvSpPr>
        <p:spPr>
          <a:xfrm>
            <a:off x="4008715" y="3356737"/>
            <a:ext cx="269319" cy="269319"/>
          </a:xfrm>
          <a:prstGeom prst="rect">
            <a:avLst/>
          </a:prstGeom>
          <a:noFill/>
          <a:ln/>
        </p:spPr>
        <p:txBody>
          <a:bodyPr wrap="none" lIns="0" tIns="0" rIns="0" bIns="0" rtlCol="0" anchor="ctr"/>
          <a:lstStyle/>
          <a:p>
            <a:pPr algn="ctr" indent="0" marL="0">
              <a:buNone/>
            </a:pPr>
            <a:r>
              <a:rPr lang="en-US" sz="1828" dirty="0">
                <a:solidFill>
                  <a:srgbClr val="B845FF"/>
                </a:solidFill>
                <a:latin typeface="Segoe UI Symbol" pitchFamily="34" charset="0"/>
                <a:ea typeface="Segoe UI Symbol" pitchFamily="34" charset="-122"/>
                <a:cs typeface="Segoe UI Symbol" pitchFamily="34" charset="-120"/>
              </a:rPr>
              <a:t>⚙</a:t>
            </a:r>
            <a:endParaRPr lang="en-US" sz="1828" dirty="0"/>
          </a:p>
        </p:txBody>
      </p:sp>
      <p:sp>
        <p:nvSpPr>
          <p:cNvPr id="52" name="Text 37"/>
          <p:cNvSpPr/>
          <p:nvPr/>
        </p:nvSpPr>
        <p:spPr>
          <a:xfrm>
            <a:off x="612934" y="3294300"/>
            <a:ext cx="640995" cy="212027"/>
          </a:xfrm>
          <a:prstGeom prst="roundRect">
            <a:avLst>
              <a:gd name="adj" fmla="val 4487860"/>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53" name="Text 38"/>
          <p:cNvSpPr/>
          <p:nvPr/>
        </p:nvSpPr>
        <p:spPr>
          <a:xfrm>
            <a:off x="564380" y="3305659"/>
            <a:ext cx="738104" cy="189309"/>
          </a:xfrm>
          <a:prstGeom prst="rect">
            <a:avLst/>
          </a:prstGeom>
          <a:noFill/>
          <a:ln/>
        </p:spPr>
        <p:txBody>
          <a:bodyPr wrap="none" lIns="0" tIns="0" rIns="0" bIns="0" rtlCol="0" anchor="ctr"/>
          <a:lstStyle/>
          <a:p>
            <a:pPr algn="ctr" indent="0" marL="0">
              <a:lnSpc>
                <a:spcPts val="928"/>
              </a:lnSpc>
              <a:buNone/>
            </a:pPr>
            <a:r>
              <a:rPr lang="en-US" sz="800" dirty="0">
                <a:solidFill>
                  <a:srgbClr val="B845FF"/>
                </a:solidFill>
                <a:latin typeface="Liberation Sans Narrow" pitchFamily="34" charset="0"/>
                <a:ea typeface="Liberation Sans Narrow" pitchFamily="34" charset="-122"/>
                <a:cs typeface="Liberation Sans Narrow" pitchFamily="34" charset="-120"/>
              </a:rPr>
              <a:t>CHAPTER 04</a:t>
            </a:r>
            <a:endParaRPr lang="en-US" sz="800" dirty="0"/>
          </a:p>
        </p:txBody>
      </p:sp>
      <p:sp>
        <p:nvSpPr>
          <p:cNvPr id="54" name="Text 39"/>
          <p:cNvSpPr/>
          <p:nvPr/>
        </p:nvSpPr>
        <p:spPr>
          <a:xfrm>
            <a:off x="635794" y="3852379"/>
            <a:ext cx="3693319" cy="251174"/>
          </a:xfrm>
          <a:prstGeom prst="rect">
            <a:avLst/>
          </a:prstGeom>
          <a:noFill/>
          <a:ln/>
        </p:spPr>
        <p:txBody>
          <a:bodyPr wrap="none" lIns="0" tIns="0" rIns="0" bIns="0" rtlCol="0" anchor="t">
            <a:normAutofit/>
          </a:bodyPr>
          <a:lstStyle/>
          <a:p>
            <a:pPr algn="l" indent="0" marL="0">
              <a:lnSpc>
                <a:spcPts val="1856"/>
              </a:lnSpc>
              <a:buNone/>
            </a:pPr>
            <a:r>
              <a:rPr lang="en-US" sz="1238" b="1" dirty="0">
                <a:solidFill>
                  <a:srgbClr val="EAF6FF"/>
                </a:solidFill>
                <a:latin typeface="Carlito" pitchFamily="34" charset="0"/>
                <a:ea typeface="Carlito" pitchFamily="34" charset="-122"/>
                <a:cs typeface="Carlito" pitchFamily="34" charset="-120"/>
              </a:rPr>
              <a:t>خوارزميات التدريب</a:t>
            </a:r>
            <a:endParaRPr lang="en-US" sz="1238" dirty="0"/>
          </a:p>
        </p:txBody>
      </p:sp>
      <p:sp>
        <p:nvSpPr>
          <p:cNvPr id="55" name="Text 40"/>
          <p:cNvSpPr/>
          <p:nvPr/>
        </p:nvSpPr>
        <p:spPr>
          <a:xfrm>
            <a:off x="635794" y="4130985"/>
            <a:ext cx="3693319" cy="173352"/>
          </a:xfrm>
          <a:prstGeom prst="rect">
            <a:avLst/>
          </a:prstGeom>
          <a:noFill/>
          <a:ln/>
        </p:spPr>
        <p:txBody>
          <a:bodyPr wrap="square" lIns="0" tIns="0" rIns="0" bIns="0" rtlCol="0" anchor="t"/>
          <a:lstStyle/>
          <a:p>
            <a:pPr algn="l" indent="0" marL="0">
              <a:lnSpc>
                <a:spcPts val="1264"/>
              </a:lnSpc>
              <a:buNone/>
            </a:pPr>
            <a:r>
              <a:rPr lang="en-US" sz="816" dirty="0">
                <a:solidFill>
                  <a:srgbClr val="8AA0CC"/>
                </a:solidFill>
                <a:latin typeface="Carlito" pitchFamily="34" charset="0"/>
                <a:ea typeface="Carlito" pitchFamily="34" charset="-122"/>
                <a:cs typeface="Carlito" pitchFamily="34" charset="-120"/>
              </a:rPr>
              <a:t>SGD، Adam، معدل التعلم، حجم الدفعة، وحلقة التدريب العملية</a:t>
            </a:r>
            <a:endParaRPr lang="en-US" sz="816" dirty="0"/>
          </a:p>
        </p:txBody>
      </p:sp>
      <p:pic>
        <p:nvPicPr>
          <p:cNvPr id="56" name="Image 13" descr="preencoded.png">    </p:cNvPr>
          <p:cNvPicPr>
            <a:picLocks noChangeAspect="1"/>
          </p:cNvPicPr>
          <p:nvPr/>
        </p:nvPicPr>
        <p:blipFill>
          <a:blip r:embed="rId14"/>
          <a:stretch>
            <a:fillRect/>
          </a:stretch>
        </p:blipFill>
        <p:spPr>
          <a:xfrm>
            <a:off x="4071938" y="4391509"/>
            <a:ext cx="257175" cy="21431"/>
          </a:xfrm>
          <a:prstGeom prst="rect">
            <a:avLst/>
          </a:prstGeom>
        </p:spPr>
      </p:pic>
      <p:sp>
        <p:nvSpPr>
          <p:cNvPr id="57" name="Text 41"/>
          <p:cNvSpPr/>
          <p:nvPr/>
        </p:nvSpPr>
        <p:spPr>
          <a:xfrm>
            <a:off x="8351705" y="4857750"/>
            <a:ext cx="433588"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صفحة 02</a:t>
            </a:r>
            <a:endParaRPr lang="en-US" sz="800" dirty="0"/>
          </a:p>
        </p:txBody>
      </p:sp>
      <p:sp>
        <p:nvSpPr>
          <p:cNvPr id="58" name="Text 42"/>
          <p:cNvSpPr/>
          <p:nvPr/>
        </p:nvSpPr>
        <p:spPr>
          <a:xfrm>
            <a:off x="989075" y="4900613"/>
            <a:ext cx="42863" cy="42863"/>
          </a:xfrm>
          <a:prstGeom prst="roundRect">
            <a:avLst>
              <a:gd name="adj" fmla="val 66666"/>
            </a:avLst>
          </a:prstGeom>
          <a:solidFill>
            <a:srgbClr val="00D9FF"/>
          </a:solidFill>
          <a:ln/>
        </p:spPr>
        <p:txBody>
          <a:bodyPr wrap="square" rtlCol="0" anchor="ctr"/>
          <a:lstStyle/>
          <a:p>
            <a:pPr indent="0" marL="0">
              <a:buNone/>
            </a:pPr>
            <a:endParaRPr lang="en-US" dirty="0"/>
          </a:p>
        </p:txBody>
      </p:sp>
      <p:sp>
        <p:nvSpPr>
          <p:cNvPr id="59" name="Text 43"/>
          <p:cNvSpPr/>
          <p:nvPr/>
        </p:nvSpPr>
        <p:spPr>
          <a:xfrm>
            <a:off x="457200" y="4857750"/>
            <a:ext cx="7886700"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 AI SKILLS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65000"/>
          </a:blip>
          <a:stretch>
            <a:fillRect/>
          </a:stretch>
        </p:blipFill>
        <p:spPr>
          <a:xfrm>
            <a:off x="6572250" y="-1143000"/>
            <a:ext cx="3429000" cy="3429000"/>
          </a:xfrm>
          <a:prstGeom prst="rect">
            <a:avLst/>
          </a:prstGeom>
        </p:spPr>
      </p:pic>
      <p:sp>
        <p:nvSpPr>
          <p:cNvPr id="4" name="Text 0"/>
          <p:cNvSpPr/>
          <p:nvPr/>
        </p:nvSpPr>
        <p:spPr>
          <a:xfrm>
            <a:off x="6572250" y="-1143000"/>
            <a:ext cx="3429000" cy="3429000"/>
          </a:xfrm>
          <a:prstGeom prst="ellipse">
            <a:avLst/>
          </a:prstGeom>
          <a:solidFill>
            <a:srgbClr val="FFFFFF">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65000"/>
          </a:blip>
          <a:stretch>
            <a:fillRect/>
          </a:stretch>
        </p:blipFill>
        <p:spPr>
          <a:xfrm>
            <a:off x="-857250" y="3429000"/>
            <a:ext cx="3000375" cy="3000375"/>
          </a:xfrm>
          <a:prstGeom prst="rect">
            <a:avLst/>
          </a:prstGeom>
        </p:spPr>
      </p:pic>
      <p:sp>
        <p:nvSpPr>
          <p:cNvPr id="6" name="Text 1"/>
          <p:cNvSpPr/>
          <p:nvPr/>
        </p:nvSpPr>
        <p:spPr>
          <a:xfrm>
            <a:off x="-857250" y="3429000"/>
            <a:ext cx="3000375" cy="3000375"/>
          </a:xfrm>
          <a:prstGeom prst="ellipse">
            <a:avLst/>
          </a:prstGeom>
          <a:solidFill>
            <a:srgbClr val="FFFFFF">
              <a:alpha val="0"/>
            </a:srgbClr>
          </a:solidFill>
          <a:ln/>
        </p:spPr>
        <p:txBody>
          <a:bodyPr wrap="square" rtlCol="0" anchor="ctr"/>
          <a:lstStyle/>
          <a:p>
            <a:pPr indent="0" marL="0">
              <a:buNone/>
            </a:pPr>
            <a:endParaRPr lang="en-US" dirty="0"/>
          </a:p>
        </p:txBody>
      </p:sp>
      <p:sp>
        <p:nvSpPr>
          <p:cNvPr id="7" name="Text 2"/>
          <p:cNvSpPr/>
          <p:nvPr/>
        </p:nvSpPr>
        <p:spPr>
          <a:xfrm>
            <a:off x="236372" y="1428750"/>
            <a:ext cx="4144975" cy="2468880"/>
          </a:xfrm>
          <a:prstGeom prst="rect">
            <a:avLst/>
          </a:prstGeom>
          <a:noFill/>
          <a:ln/>
        </p:spPr>
        <p:txBody>
          <a:bodyPr wrap="square" lIns="0" tIns="0" rIns="0" bIns="0" rtlCol="0" anchor="t"/>
          <a:lstStyle/>
          <a:p>
            <a:pPr algn="l" indent="0" marL="0">
              <a:lnSpc>
                <a:spcPts val="18000"/>
              </a:lnSpc>
              <a:buNone/>
            </a:pPr>
            <a:r>
              <a:rPr lang="en-US" sz="18000" b="1" spc="-450" kern="0" dirty="0">
                <a:solidFill>
                  <a:srgbClr val="00D9FF">
                    <a:alpha val="8000"/>
                  </a:srgbClr>
                </a:solidFill>
                <a:latin typeface="Liberation Sans Narrow" pitchFamily="34" charset="0"/>
                <a:ea typeface="Liberation Sans Narrow" pitchFamily="34" charset="-122"/>
                <a:cs typeface="Liberation Sans Narrow" pitchFamily="34" charset="-120"/>
              </a:rPr>
              <a:t>01</a:t>
            </a:r>
            <a:endParaRPr lang="en-US" sz="18000" dirty="0"/>
          </a:p>
        </p:txBody>
      </p:sp>
      <p:pic>
        <p:nvPicPr>
          <p:cNvPr id="8" name="Image 3" descr="preencoded.png">    </p:cNvPr>
          <p:cNvPicPr>
            <a:picLocks noChangeAspect="1"/>
          </p:cNvPicPr>
          <p:nvPr/>
        </p:nvPicPr>
        <p:blipFill>
          <a:blip r:embed="rId4"/>
          <a:stretch>
            <a:fillRect/>
          </a:stretch>
        </p:blipFill>
        <p:spPr>
          <a:xfrm>
            <a:off x="9129713" y="571500"/>
            <a:ext cx="14288" cy="4000500"/>
          </a:xfrm>
          <a:prstGeom prst="rect">
            <a:avLst/>
          </a:prstGeom>
        </p:spPr>
      </p:pic>
      <p:sp>
        <p:nvSpPr>
          <p:cNvPr id="9" name="Text 3"/>
          <p:cNvSpPr/>
          <p:nvPr/>
        </p:nvSpPr>
        <p:spPr>
          <a:xfrm>
            <a:off x="5629275" y="1370595"/>
            <a:ext cx="766864" cy="129731"/>
          </a:xfrm>
          <a:prstGeom prst="rect">
            <a:avLst/>
          </a:prstGeom>
          <a:noFill/>
          <a:ln/>
        </p:spPr>
        <p:txBody>
          <a:bodyPr wrap="none" lIns="0" tIns="0" rIns="0" bIns="0" rtlCol="0" anchor="t">
            <a:normAutofit/>
          </a:bodyPr>
          <a:lstStyle/>
          <a:p>
            <a:pPr algn="l" indent="0" marL="0">
              <a:lnSpc>
                <a:spcPts val="1013"/>
              </a:lnSpc>
              <a:buNone/>
            </a:pPr>
            <a:r>
              <a:rPr lang="en-US" sz="800" spc="169" kern="0" dirty="0">
                <a:solidFill>
                  <a:srgbClr val="5B6B96"/>
                </a:solidFill>
                <a:latin typeface="Courier New" pitchFamily="34" charset="0"/>
                <a:ea typeface="Courier New" pitchFamily="34" charset="-122"/>
                <a:cs typeface="Courier New" pitchFamily="34" charset="-120"/>
              </a:rPr>
              <a:t>PART ONE</a:t>
            </a:r>
            <a:endParaRPr lang="en-US" sz="800" dirty="0"/>
          </a:p>
        </p:txBody>
      </p:sp>
      <p:sp>
        <p:nvSpPr>
          <p:cNvPr id="10" name="Text 4"/>
          <p:cNvSpPr/>
          <p:nvPr/>
        </p:nvSpPr>
        <p:spPr>
          <a:xfrm>
            <a:off x="5202347" y="1514956"/>
            <a:ext cx="1368207" cy="293494"/>
          </a:xfrm>
          <a:prstGeom prst="roundRect">
            <a:avLst>
              <a:gd name="adj" fmla="val 3242136"/>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11" name="Text 5"/>
          <p:cNvSpPr/>
          <p:nvPr/>
        </p:nvSpPr>
        <p:spPr>
          <a:xfrm>
            <a:off x="5347249" y="1599195"/>
            <a:ext cx="921239" cy="143490"/>
          </a:xfrm>
          <a:prstGeom prst="rect">
            <a:avLst/>
          </a:prstGeom>
          <a:noFill/>
          <a:ln/>
        </p:spPr>
        <p:txBody>
          <a:bodyPr wrap="none" lIns="0" tIns="0" rIns="0" bIns="0" rtlCol="0" anchor="t"/>
          <a:lstStyle/>
          <a:p>
            <a:pPr algn="l" indent="0" marL="0">
              <a:lnSpc>
                <a:spcPts val="1097"/>
              </a:lnSpc>
              <a:buNone/>
            </a:pPr>
            <a:r>
              <a:rPr lang="en-US" sz="731" spc="84" kern="0" dirty="0">
                <a:solidFill>
                  <a:srgbClr val="B845FF"/>
                </a:solidFill>
                <a:latin typeface="Liberation Sans Narrow" pitchFamily="34" charset="0"/>
                <a:ea typeface="Liberation Sans Narrow" pitchFamily="34" charset="-122"/>
                <a:cs typeface="Liberation Sans Narrow" pitchFamily="34" charset="-120"/>
              </a:rPr>
              <a:t>CHAPTER 01 / 04</a:t>
            </a:r>
            <a:endParaRPr lang="en-US" sz="731" dirty="0"/>
          </a:p>
        </p:txBody>
      </p:sp>
      <p:sp>
        <p:nvSpPr>
          <p:cNvPr id="12" name="Text 6"/>
          <p:cNvSpPr/>
          <p:nvPr/>
        </p:nvSpPr>
        <p:spPr>
          <a:xfrm>
            <a:off x="6311950" y="1611697"/>
            <a:ext cx="100013" cy="100013"/>
          </a:xfrm>
          <a:prstGeom prst="rect">
            <a:avLst/>
          </a:prstGeom>
          <a:noFill/>
          <a:ln/>
        </p:spPr>
        <p:txBody>
          <a:bodyPr wrap="none" lIns="0" tIns="0" rIns="0" bIns="0" rtlCol="0" anchor="ctr"/>
          <a:lstStyle/>
          <a:p>
            <a:pPr algn="ctr" indent="0" marL="0">
              <a:buNone/>
            </a:pPr>
            <a:r>
              <a:rPr lang="en-US" sz="984" dirty="0">
                <a:solidFill>
                  <a:srgbClr val="B845FF"/>
                </a:solidFill>
                <a:latin typeface="Segoe UI Symbol" pitchFamily="34" charset="0"/>
                <a:ea typeface="Segoe UI Symbol" pitchFamily="34" charset="-122"/>
                <a:cs typeface="Segoe UI Symbol" pitchFamily="34" charset="-120"/>
              </a:rPr>
              <a:t>❏</a:t>
            </a:r>
            <a:endParaRPr lang="en-US" sz="984" dirty="0"/>
          </a:p>
        </p:txBody>
      </p:sp>
      <p:sp>
        <p:nvSpPr>
          <p:cNvPr id="13" name="Text 7"/>
          <p:cNvSpPr/>
          <p:nvPr/>
        </p:nvSpPr>
        <p:spPr>
          <a:xfrm>
            <a:off x="2903220" y="1952811"/>
            <a:ext cx="5966460" cy="1086163"/>
          </a:xfrm>
          <a:prstGeom prst="rect">
            <a:avLst/>
          </a:prstGeom>
          <a:noFill/>
          <a:ln/>
        </p:spPr>
        <p:txBody>
          <a:bodyPr wrap="none" lIns="0" tIns="0" rIns="0" bIns="0" rtlCol="0" anchor="t"/>
          <a:lstStyle/>
          <a:p>
            <a:pPr algn="ctr" indent="0" marL="0">
              <a:lnSpc>
                <a:spcPts val="3960"/>
              </a:lnSpc>
              <a:buNone/>
            </a:pPr>
            <a:r>
              <a:rPr lang="en-US" sz="3600" b="1" dirty="0">
                <a:solidFill>
                  <a:srgbClr val="00D9FF"/>
                </a:solidFill>
                <a:latin typeface="Carlito" pitchFamily="34" charset="0"/>
                <a:ea typeface="Carlito" pitchFamily="34" charset="-122"/>
                <a:cs typeface="Carlito" pitchFamily="34" charset="-120"/>
              </a:rPr>
              <a:t>أساسيات الذكاء الاصطناعي</a:t>
            </a:r>
            <a:endParaRPr lang="en-US" sz="3600" dirty="0"/>
          </a:p>
        </p:txBody>
      </p:sp>
      <p:pic>
        <p:nvPicPr>
          <p:cNvPr id="14" name="Image 4" descr="preencoded.png">    </p:cNvPr>
          <p:cNvPicPr>
            <a:picLocks noChangeAspect="1"/>
          </p:cNvPicPr>
          <p:nvPr/>
        </p:nvPicPr>
        <p:blipFill>
          <a:blip r:embed="rId5"/>
          <a:stretch>
            <a:fillRect/>
          </a:stretch>
        </p:blipFill>
        <p:spPr>
          <a:xfrm>
            <a:off x="5172075" y="3129967"/>
            <a:ext cx="1428750" cy="14288"/>
          </a:xfrm>
          <a:prstGeom prst="rect">
            <a:avLst/>
          </a:prstGeom>
        </p:spPr>
      </p:pic>
      <p:sp>
        <p:nvSpPr>
          <p:cNvPr id="15" name="Text 8"/>
          <p:cNvSpPr/>
          <p:nvPr/>
        </p:nvSpPr>
        <p:spPr>
          <a:xfrm>
            <a:off x="3743325" y="3315705"/>
            <a:ext cx="4286250" cy="493776"/>
          </a:xfrm>
          <a:prstGeom prst="rect">
            <a:avLst/>
          </a:prstGeom>
          <a:noFill/>
          <a:ln/>
        </p:spPr>
        <p:txBody>
          <a:bodyPr wrap="square" lIns="0" tIns="0" rIns="0" bIns="0" rtlCol="0" anchor="t"/>
          <a:lstStyle/>
          <a:p>
            <a:pPr algn="ctr" indent="0" marL="0">
              <a:lnSpc>
                <a:spcPts val="1800"/>
              </a:lnSpc>
              <a:buNone/>
            </a:pPr>
            <a:r>
              <a:rPr lang="en-US" sz="1125" dirty="0">
                <a:solidFill>
                  <a:srgbClr val="8AA0CC"/>
                </a:solidFill>
                <a:latin typeface="Carlito" pitchFamily="34" charset="0"/>
                <a:ea typeface="Carlito" pitchFamily="34" charset="-122"/>
                <a:cs typeface="Carlito" pitchFamily="34" charset="-120"/>
              </a:rPr>
              <a:t>ما هو الذكاء الاصطناعي؟ كيف يعمل؟ وما هي أنواعه الرئيسية؟</a:t>
            </a:r>
            <a:endParaRPr lang="en-US" sz="1125" dirty="0"/>
          </a:p>
        </p:txBody>
      </p:sp>
      <p:sp>
        <p:nvSpPr>
          <p:cNvPr id="16" name="Text 9"/>
          <p:cNvSpPr/>
          <p:nvPr/>
        </p:nvSpPr>
        <p:spPr>
          <a:xfrm>
            <a:off x="6778414" y="4209155"/>
            <a:ext cx="833586" cy="318497"/>
          </a:xfrm>
          <a:prstGeom prst="roundRect">
            <a:avLst>
              <a:gd name="adj" fmla="val 2987618"/>
            </a:avLst>
          </a:prstGeom>
          <a:solidFill>
            <a:srgbClr val="111638">
              <a:alpha val="60000"/>
            </a:srgbClr>
          </a:solidFill>
          <a:ln w="7144">
            <a:solidFill>
              <a:srgbClr val="00D9FF"/>
            </a:solidFill>
            <a:prstDash val="solid"/>
          </a:ln>
        </p:spPr>
        <p:txBody>
          <a:bodyPr wrap="square" rtlCol="0" anchor="ctr"/>
          <a:lstStyle/>
          <a:p>
            <a:pPr indent="0" marL="0">
              <a:buNone/>
            </a:pPr>
            <a:endParaRPr lang="en-US" dirty="0"/>
          </a:p>
        </p:txBody>
      </p:sp>
      <p:sp>
        <p:nvSpPr>
          <p:cNvPr id="17" name="Text 10"/>
          <p:cNvSpPr/>
          <p:nvPr/>
        </p:nvSpPr>
        <p:spPr>
          <a:xfrm>
            <a:off x="7369113" y="4314825"/>
            <a:ext cx="107156" cy="107156"/>
          </a:xfrm>
          <a:prstGeom prst="rect">
            <a:avLst/>
          </a:prstGeom>
          <a:noFill/>
          <a:ln/>
        </p:spPr>
        <p:txBody>
          <a:bodyPr wrap="none" lIns="0" tIns="0" rIns="0" bIns="0" rtlCol="0" anchor="ctr"/>
          <a:lstStyle/>
          <a:p>
            <a:pPr algn="ctr" indent="0" marL="0">
              <a:buNone/>
            </a:pPr>
            <a:r>
              <a:rPr lang="en-US" sz="1055" dirty="0">
                <a:solidFill>
                  <a:srgbClr val="00D9FF"/>
                </a:solidFill>
                <a:latin typeface="Segoe UI Symbol" pitchFamily="34" charset="0"/>
                <a:ea typeface="Segoe UI Symbol" pitchFamily="34" charset="-122"/>
                <a:cs typeface="Segoe UI Symbol" pitchFamily="34" charset="-120"/>
              </a:rPr>
              <a:t>◆</a:t>
            </a:r>
            <a:endParaRPr lang="en-US" sz="1055" dirty="0"/>
          </a:p>
        </p:txBody>
      </p:sp>
      <p:sp>
        <p:nvSpPr>
          <p:cNvPr id="18" name="Text 11"/>
          <p:cNvSpPr/>
          <p:nvPr/>
        </p:nvSpPr>
        <p:spPr>
          <a:xfrm>
            <a:off x="6914145" y="4293394"/>
            <a:ext cx="562124" cy="150019"/>
          </a:xfrm>
          <a:prstGeom prst="rect">
            <a:avLst/>
          </a:prstGeom>
          <a:noFill/>
          <a:ln/>
        </p:spPr>
        <p:txBody>
          <a:bodyPr wrap="none" lIns="0" tIns="0" rIns="0" bIns="0" rtlCol="0" anchor="t"/>
          <a:lstStyle/>
          <a:p>
            <a:pPr algn="l" indent="0" marL="0">
              <a:lnSpc>
                <a:spcPts val="1181"/>
              </a:lnSpc>
              <a:buNone/>
            </a:pPr>
            <a:r>
              <a:rPr lang="en-US" sz="800" dirty="0">
                <a:solidFill>
                  <a:srgbClr val="EAF6FF"/>
                </a:solidFill>
                <a:latin typeface="Carlito" pitchFamily="34" charset="0"/>
                <a:ea typeface="Carlito" pitchFamily="34" charset="-122"/>
                <a:cs typeface="Carlito" pitchFamily="34" charset="-120"/>
              </a:rPr>
              <a:t>مفهوم AI</a:t>
            </a:r>
            <a:endParaRPr lang="en-US" sz="800" dirty="0"/>
          </a:p>
        </p:txBody>
      </p:sp>
      <p:sp>
        <p:nvSpPr>
          <p:cNvPr id="19" name="Text 12"/>
          <p:cNvSpPr/>
          <p:nvPr/>
        </p:nvSpPr>
        <p:spPr>
          <a:xfrm>
            <a:off x="5412507" y="4209155"/>
            <a:ext cx="1265895" cy="318497"/>
          </a:xfrm>
          <a:prstGeom prst="roundRect">
            <a:avLst>
              <a:gd name="adj" fmla="val 2987618"/>
            </a:avLst>
          </a:prstGeom>
          <a:solidFill>
            <a:srgbClr val="111638">
              <a:alpha val="60000"/>
            </a:srgbClr>
          </a:solidFill>
          <a:ln w="7144">
            <a:solidFill>
              <a:srgbClr val="B845FF"/>
            </a:solidFill>
            <a:prstDash val="solid"/>
          </a:ln>
        </p:spPr>
        <p:txBody>
          <a:bodyPr wrap="square" rtlCol="0" anchor="ctr"/>
          <a:lstStyle/>
          <a:p>
            <a:pPr indent="0" marL="0">
              <a:buNone/>
            </a:pPr>
            <a:endParaRPr lang="en-US" dirty="0"/>
          </a:p>
        </p:txBody>
      </p:sp>
      <p:sp>
        <p:nvSpPr>
          <p:cNvPr id="20" name="Text 13"/>
          <p:cNvSpPr/>
          <p:nvPr/>
        </p:nvSpPr>
        <p:spPr>
          <a:xfrm>
            <a:off x="6435514" y="4314825"/>
            <a:ext cx="107156" cy="107156"/>
          </a:xfrm>
          <a:prstGeom prst="rect">
            <a:avLst/>
          </a:prstGeom>
          <a:noFill/>
          <a:ln/>
        </p:spPr>
        <p:txBody>
          <a:bodyPr wrap="none" lIns="0" tIns="0" rIns="0" bIns="0" rtlCol="0" anchor="ctr"/>
          <a:lstStyle/>
          <a:p>
            <a:pPr algn="ctr" indent="0" marL="0">
              <a:buNone/>
            </a:pPr>
            <a:r>
              <a:rPr lang="en-US" sz="1055" dirty="0">
                <a:solidFill>
                  <a:srgbClr val="B845FF"/>
                </a:solidFill>
                <a:latin typeface="Segoe UI Symbol" pitchFamily="34" charset="0"/>
                <a:ea typeface="Segoe UI Symbol" pitchFamily="34" charset="-122"/>
                <a:cs typeface="Segoe UI Symbol" pitchFamily="34" charset="-120"/>
              </a:rPr>
              <a:t>▣</a:t>
            </a:r>
            <a:endParaRPr lang="en-US" sz="1055" dirty="0"/>
          </a:p>
        </p:txBody>
      </p:sp>
      <p:sp>
        <p:nvSpPr>
          <p:cNvPr id="21" name="Text 14"/>
          <p:cNvSpPr/>
          <p:nvPr/>
        </p:nvSpPr>
        <p:spPr>
          <a:xfrm>
            <a:off x="5548238" y="4293394"/>
            <a:ext cx="994432" cy="150019"/>
          </a:xfrm>
          <a:prstGeom prst="rect">
            <a:avLst/>
          </a:prstGeom>
          <a:noFill/>
          <a:ln/>
        </p:spPr>
        <p:txBody>
          <a:bodyPr wrap="none" lIns="0" tIns="0" rIns="0" bIns="0" rtlCol="0" anchor="t"/>
          <a:lstStyle/>
          <a:p>
            <a:pPr algn="l" indent="0" marL="0">
              <a:lnSpc>
                <a:spcPts val="1181"/>
              </a:lnSpc>
              <a:buNone/>
            </a:pPr>
            <a:r>
              <a:rPr lang="en-US" sz="800" dirty="0">
                <a:solidFill>
                  <a:srgbClr val="EAF6FF"/>
                </a:solidFill>
                <a:latin typeface="Carlito" pitchFamily="34" charset="0"/>
                <a:ea typeface="Carlito" pitchFamily="34" charset="-122"/>
                <a:cs typeface="Carlito" pitchFamily="34" charset="-120"/>
              </a:rPr>
              <a:t>الأنواع الرئيسية</a:t>
            </a:r>
            <a:endParaRPr lang="en-US" sz="800" dirty="0"/>
          </a:p>
        </p:txBody>
      </p:sp>
      <p:sp>
        <p:nvSpPr>
          <p:cNvPr id="22" name="Text 15"/>
          <p:cNvSpPr/>
          <p:nvPr/>
        </p:nvSpPr>
        <p:spPr>
          <a:xfrm>
            <a:off x="4160900" y="4209155"/>
            <a:ext cx="1151595" cy="318497"/>
          </a:xfrm>
          <a:prstGeom prst="roundRect">
            <a:avLst>
              <a:gd name="adj" fmla="val 2987618"/>
            </a:avLst>
          </a:prstGeom>
          <a:solidFill>
            <a:srgbClr val="111638">
              <a:alpha val="60000"/>
            </a:srgbClr>
          </a:solidFill>
          <a:ln w="7144">
            <a:solidFill>
              <a:srgbClr val="FFD166"/>
            </a:solidFill>
            <a:prstDash val="solid"/>
          </a:ln>
        </p:spPr>
        <p:txBody>
          <a:bodyPr wrap="square" rtlCol="0" anchor="ctr"/>
          <a:lstStyle/>
          <a:p>
            <a:pPr indent="0" marL="0">
              <a:buNone/>
            </a:pPr>
            <a:endParaRPr lang="en-US" dirty="0"/>
          </a:p>
        </p:txBody>
      </p:sp>
      <p:sp>
        <p:nvSpPr>
          <p:cNvPr id="23" name="Text 16"/>
          <p:cNvSpPr/>
          <p:nvPr/>
        </p:nvSpPr>
        <p:spPr>
          <a:xfrm>
            <a:off x="5069607" y="4314825"/>
            <a:ext cx="107156" cy="107156"/>
          </a:xfrm>
          <a:prstGeom prst="rect">
            <a:avLst/>
          </a:prstGeom>
          <a:noFill/>
          <a:ln/>
        </p:spPr>
        <p:txBody>
          <a:bodyPr wrap="none" lIns="0" tIns="0" rIns="0" bIns="0" rtlCol="0" anchor="ctr"/>
          <a:lstStyle/>
          <a:p>
            <a:pPr algn="ctr" indent="0" marL="0">
              <a:buNone/>
            </a:pPr>
            <a:r>
              <a:rPr lang="en-US" sz="1055" dirty="0">
                <a:solidFill>
                  <a:srgbClr val="FFD166"/>
                </a:solidFill>
                <a:latin typeface="Segoe UI Symbol" pitchFamily="34" charset="0"/>
                <a:ea typeface="Segoe UI Symbol" pitchFamily="34" charset="-122"/>
                <a:cs typeface="Segoe UI Symbol" pitchFamily="34" charset="-120"/>
              </a:rPr>
              <a:t>➤</a:t>
            </a:r>
            <a:endParaRPr lang="en-US" sz="1055" dirty="0"/>
          </a:p>
        </p:txBody>
      </p:sp>
      <p:sp>
        <p:nvSpPr>
          <p:cNvPr id="24" name="Text 17"/>
          <p:cNvSpPr/>
          <p:nvPr/>
        </p:nvSpPr>
        <p:spPr>
          <a:xfrm>
            <a:off x="4296631" y="4293394"/>
            <a:ext cx="880132" cy="150019"/>
          </a:xfrm>
          <a:prstGeom prst="rect">
            <a:avLst/>
          </a:prstGeom>
          <a:noFill/>
          <a:ln/>
        </p:spPr>
        <p:txBody>
          <a:bodyPr wrap="none" lIns="0" tIns="0" rIns="0" bIns="0" rtlCol="0" anchor="t"/>
          <a:lstStyle/>
          <a:p>
            <a:pPr algn="l" indent="0" marL="0">
              <a:lnSpc>
                <a:spcPts val="1181"/>
              </a:lnSpc>
              <a:buNone/>
            </a:pPr>
            <a:r>
              <a:rPr lang="en-US" sz="800" dirty="0">
                <a:solidFill>
                  <a:srgbClr val="EAF6FF"/>
                </a:solidFill>
                <a:latin typeface="Carlito" pitchFamily="34" charset="0"/>
                <a:ea typeface="Carlito" pitchFamily="34" charset="-122"/>
                <a:cs typeface="Carlito" pitchFamily="34" charset="-120"/>
              </a:rPr>
              <a:t>تطبيقات حديثة</a:t>
            </a:r>
            <a:endParaRPr lang="en-US" sz="800" dirty="0"/>
          </a:p>
        </p:txBody>
      </p:sp>
      <p:sp>
        <p:nvSpPr>
          <p:cNvPr id="25" name="Text 18"/>
          <p:cNvSpPr/>
          <p:nvPr/>
        </p:nvSpPr>
        <p:spPr>
          <a:xfrm>
            <a:off x="8351705" y="4857750"/>
            <a:ext cx="433588"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صفحة 03</a:t>
            </a:r>
            <a:endParaRPr lang="en-US" sz="800" dirty="0"/>
          </a:p>
        </p:txBody>
      </p:sp>
      <p:sp>
        <p:nvSpPr>
          <p:cNvPr id="26" name="Text 19"/>
          <p:cNvSpPr/>
          <p:nvPr/>
        </p:nvSpPr>
        <p:spPr>
          <a:xfrm>
            <a:off x="989075" y="4900613"/>
            <a:ext cx="42863" cy="42863"/>
          </a:xfrm>
          <a:prstGeom prst="roundRect">
            <a:avLst>
              <a:gd name="adj" fmla="val 66666"/>
            </a:avLst>
          </a:prstGeom>
          <a:solidFill>
            <a:srgbClr val="00D9FF"/>
          </a:solidFill>
          <a:ln/>
        </p:spPr>
        <p:txBody>
          <a:bodyPr wrap="square" rtlCol="0" anchor="ctr"/>
          <a:lstStyle/>
          <a:p>
            <a:pPr indent="0" marL="0">
              <a:buNone/>
            </a:pPr>
            <a:endParaRPr lang="en-US" dirty="0"/>
          </a:p>
        </p:txBody>
      </p:sp>
      <p:sp>
        <p:nvSpPr>
          <p:cNvPr id="27" name="Text 20"/>
          <p:cNvSpPr/>
          <p:nvPr/>
        </p:nvSpPr>
        <p:spPr>
          <a:xfrm>
            <a:off x="457200" y="4857750"/>
            <a:ext cx="7886700"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 AI SKILLS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65000"/>
          </a:blip>
          <a:stretch>
            <a:fillRect/>
          </a:stretch>
        </p:blipFill>
        <p:spPr>
          <a:xfrm>
            <a:off x="6715125" y="-1285875"/>
            <a:ext cx="3429000" cy="3429000"/>
          </a:xfrm>
          <a:prstGeom prst="rect">
            <a:avLst/>
          </a:prstGeom>
        </p:spPr>
      </p:pic>
      <p:sp>
        <p:nvSpPr>
          <p:cNvPr id="4" name="Text 0"/>
          <p:cNvSpPr/>
          <p:nvPr/>
        </p:nvSpPr>
        <p:spPr>
          <a:xfrm>
            <a:off x="6715125" y="-1285875"/>
            <a:ext cx="3429000" cy="3429000"/>
          </a:xfrm>
          <a:prstGeom prst="ellipse">
            <a:avLst/>
          </a:prstGeom>
          <a:solidFill>
            <a:srgbClr val="FFFFFF">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65000"/>
          </a:blip>
          <a:stretch>
            <a:fillRect/>
          </a:stretch>
        </p:blipFill>
        <p:spPr>
          <a:xfrm>
            <a:off x="-1000125" y="3429000"/>
            <a:ext cx="3000375" cy="3000375"/>
          </a:xfrm>
          <a:prstGeom prst="rect">
            <a:avLst/>
          </a:prstGeom>
        </p:spPr>
      </p:pic>
      <p:sp>
        <p:nvSpPr>
          <p:cNvPr id="6" name="Text 1"/>
          <p:cNvSpPr/>
          <p:nvPr/>
        </p:nvSpPr>
        <p:spPr>
          <a:xfrm>
            <a:off x="-1000125" y="3429000"/>
            <a:ext cx="3000375" cy="3000375"/>
          </a:xfrm>
          <a:prstGeom prst="ellipse">
            <a:avLst/>
          </a:prstGeom>
          <a:solidFill>
            <a:srgbClr val="FFFFFF">
              <a:alpha val="0"/>
            </a:srgbClr>
          </a:solidFill>
          <a:ln/>
        </p:spPr>
        <p:txBody>
          <a:bodyPr wrap="square" rtlCol="0" anchor="ctr"/>
          <a:lstStyle/>
          <a:p>
            <a:pPr indent="0" marL="0">
              <a:buNone/>
            </a:pPr>
            <a:endParaRPr lang="en-US" dirty="0"/>
          </a:p>
        </p:txBody>
      </p:sp>
      <p:sp>
        <p:nvSpPr>
          <p:cNvPr id="7" name="Text 2"/>
          <p:cNvSpPr/>
          <p:nvPr/>
        </p:nvSpPr>
        <p:spPr>
          <a:xfrm>
            <a:off x="7518484" y="387248"/>
            <a:ext cx="1191176" cy="264919"/>
          </a:xfrm>
          <a:prstGeom prst="roundRect">
            <a:avLst>
              <a:gd name="adj" fmla="val 3591843"/>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8" name="Text 3"/>
          <p:cNvSpPr/>
          <p:nvPr/>
        </p:nvSpPr>
        <p:spPr>
          <a:xfrm>
            <a:off x="7648501" y="457200"/>
            <a:ext cx="773981" cy="143490"/>
          </a:xfrm>
          <a:prstGeom prst="rect">
            <a:avLst/>
          </a:prstGeom>
          <a:noFill/>
          <a:ln/>
        </p:spPr>
        <p:txBody>
          <a:bodyPr wrap="none" lIns="0" tIns="0" rIns="0" bIns="0" rtlCol="0" anchor="t"/>
          <a:lstStyle/>
          <a:p>
            <a:pPr algn="l" indent="0" marL="0">
              <a:lnSpc>
                <a:spcPts val="1097"/>
              </a:lnSpc>
              <a:buNone/>
            </a:pPr>
            <a:r>
              <a:rPr lang="en-US" sz="731" dirty="0">
                <a:solidFill>
                  <a:srgbClr val="00D9FF"/>
                </a:solidFill>
                <a:latin typeface="Carlito" pitchFamily="34" charset="0"/>
                <a:ea typeface="Carlito" pitchFamily="34" charset="-122"/>
                <a:cs typeface="Carlito" pitchFamily="34" charset="-120"/>
              </a:rPr>
              <a:t>AI FUNDAMENTALS</a:t>
            </a:r>
            <a:endParaRPr lang="en-US" sz="731" dirty="0"/>
          </a:p>
        </p:txBody>
      </p:sp>
      <p:sp>
        <p:nvSpPr>
          <p:cNvPr id="9" name="Text 4"/>
          <p:cNvSpPr/>
          <p:nvPr/>
        </p:nvSpPr>
        <p:spPr>
          <a:xfrm>
            <a:off x="8479631" y="469702"/>
            <a:ext cx="100013" cy="100013"/>
          </a:xfrm>
          <a:prstGeom prst="rect">
            <a:avLst/>
          </a:prstGeom>
          <a:noFill/>
          <a:ln/>
        </p:spPr>
        <p:txBody>
          <a:bodyPr wrap="none" lIns="0" tIns="0" rIns="0" bIns="0" rtlCol="0" anchor="ctr"/>
          <a:lstStyle/>
          <a:p>
            <a:pPr algn="ctr" indent="0" marL="0">
              <a:buNone/>
            </a:pPr>
            <a:r>
              <a:rPr lang="en-US" sz="984" dirty="0">
                <a:solidFill>
                  <a:srgbClr val="00D9FF"/>
                </a:solidFill>
                <a:latin typeface="Segoe UI Symbol" pitchFamily="34" charset="0"/>
                <a:ea typeface="Segoe UI Symbol" pitchFamily="34" charset="-122"/>
                <a:cs typeface="Segoe UI Symbol" pitchFamily="34" charset="-120"/>
              </a:rPr>
              <a:t>◯</a:t>
            </a:r>
            <a:endParaRPr lang="en-US" sz="984" dirty="0"/>
          </a:p>
        </p:txBody>
      </p:sp>
      <p:sp>
        <p:nvSpPr>
          <p:cNvPr id="10" name="Text 5"/>
          <p:cNvSpPr/>
          <p:nvPr/>
        </p:nvSpPr>
        <p:spPr>
          <a:xfrm>
            <a:off x="5320754" y="710803"/>
            <a:ext cx="3534348" cy="337060"/>
          </a:xfrm>
          <a:prstGeom prst="rect">
            <a:avLst/>
          </a:prstGeom>
          <a:noFill/>
          <a:ln/>
        </p:spPr>
        <p:txBody>
          <a:bodyPr wrap="none" lIns="0" tIns="0" rIns="0" bIns="0" rtlCol="0" anchor="t"/>
          <a:lstStyle/>
          <a:p>
            <a:pPr algn="l" indent="0" marL="0">
              <a:lnSpc>
                <a:spcPts val="2458"/>
              </a:lnSpc>
              <a:buNone/>
            </a:pPr>
            <a:r>
              <a:rPr lang="en-US" sz="2138" b="1" dirty="0">
                <a:solidFill>
                  <a:srgbClr val="00D9FF"/>
                </a:solidFill>
                <a:latin typeface="Carlito" pitchFamily="34" charset="0"/>
                <a:ea typeface="Carlito" pitchFamily="34" charset="-122"/>
                <a:cs typeface="Carlito" pitchFamily="34" charset="-120"/>
              </a:rPr>
              <a:t>ما هو الذكاء الاصطناعي؟</a:t>
            </a:r>
            <a:endParaRPr lang="en-US" sz="2138" dirty="0"/>
          </a:p>
        </p:txBody>
      </p:sp>
      <p:sp>
        <p:nvSpPr>
          <p:cNvPr id="11" name="Text 6"/>
          <p:cNvSpPr/>
          <p:nvPr/>
        </p:nvSpPr>
        <p:spPr>
          <a:xfrm>
            <a:off x="434340" y="781494"/>
            <a:ext cx="1005773" cy="254203"/>
          </a:xfrm>
          <a:prstGeom prst="roundRect">
            <a:avLst>
              <a:gd name="adj" fmla="val 3743258"/>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12" name="Text 7"/>
          <p:cNvSpPr/>
          <p:nvPr/>
        </p:nvSpPr>
        <p:spPr>
          <a:xfrm>
            <a:off x="457200" y="794296"/>
            <a:ext cx="960053" cy="228600"/>
          </a:xfrm>
          <a:prstGeom prst="rect">
            <a:avLst/>
          </a:prstGeom>
          <a:noFill/>
          <a:ln/>
        </p:spPr>
        <p:txBody>
          <a:bodyPr wrap="none" lIns="0" tIns="0" rIns="0" bIns="0" rtlCol="0" anchor="ctr"/>
          <a:lstStyle/>
          <a:p>
            <a:pPr algn="ctr" indent="0" marL="0">
              <a:lnSpc>
                <a:spcPts val="1013"/>
              </a:lnSpc>
              <a:buNone/>
            </a:pPr>
            <a:r>
              <a:rPr lang="en-US" sz="800" dirty="0">
                <a:solidFill>
                  <a:srgbClr val="B845FF"/>
                </a:solidFill>
                <a:latin typeface="Carlito" pitchFamily="34" charset="0"/>
                <a:ea typeface="Carlito" pitchFamily="34" charset="-122"/>
                <a:cs typeface="Carlito" pitchFamily="34" charset="-120"/>
              </a:rPr>
              <a:t>DEFINITION &amp; TYPES</a:t>
            </a:r>
            <a:endParaRPr lang="en-US" sz="800" dirty="0"/>
          </a:p>
        </p:txBody>
      </p:sp>
      <p:pic>
        <p:nvPicPr>
          <p:cNvPr id="13" name="Image 3" descr="preencoded.png">    </p:cNvPr>
          <p:cNvPicPr>
            <a:picLocks noChangeAspect="1"/>
          </p:cNvPicPr>
          <p:nvPr/>
        </p:nvPicPr>
        <p:blipFill>
          <a:blip r:embed="rId4"/>
          <a:stretch>
            <a:fillRect/>
          </a:stretch>
        </p:blipFill>
        <p:spPr>
          <a:xfrm>
            <a:off x="457200" y="1122908"/>
            <a:ext cx="8229600" cy="14288"/>
          </a:xfrm>
          <a:prstGeom prst="rect">
            <a:avLst/>
          </a:prstGeom>
        </p:spPr>
      </p:pic>
      <p:sp>
        <p:nvSpPr>
          <p:cNvPr id="14" name="Text 8"/>
          <p:cNvSpPr/>
          <p:nvPr/>
        </p:nvSpPr>
        <p:spPr>
          <a:xfrm>
            <a:off x="4672013" y="1280071"/>
            <a:ext cx="4014788" cy="955003"/>
          </a:xfrm>
          <a:prstGeom prst="rect">
            <a:avLst/>
          </a:prstGeom>
          <a:noFill/>
          <a:ln/>
        </p:spPr>
        <p:txBody>
          <a:bodyPr wrap="square" lIns="128588" tIns="114300" rIns="128588" bIns="114300" rtlCol="0" anchor="t"/>
          <a:lstStyle/>
          <a:p>
            <a:pPr algn="l" indent="0" marL="0">
              <a:lnSpc>
                <a:spcPts val="1721"/>
              </a:lnSpc>
              <a:buNone/>
            </a:pPr>
            <a:r>
              <a:rPr lang="en-US" sz="1013" dirty="0">
                <a:solidFill>
                  <a:srgbClr val="EAF6FF"/>
                </a:solidFill>
                <a:latin typeface="Carlito" pitchFamily="34" charset="0"/>
                <a:ea typeface="Carlito" pitchFamily="34" charset="-122"/>
                <a:cs typeface="Carlito" pitchFamily="34" charset="-120"/>
              </a:rPr>
              <a:t>الذكاء الاصطناعي هو قدرة الآلة على محاكاة الذكاء البشري — التعلم من البيانات، الاستدلال، اتخاذ القرارات، وحل المشكلات المعقدة بشكل مستقل.</a:t>
            </a:r>
            <a:endParaRPr lang="en-US" sz="1013" dirty="0"/>
          </a:p>
        </p:txBody>
      </p:sp>
      <p:sp>
        <p:nvSpPr>
          <p:cNvPr id="15" name="Text 9"/>
          <p:cNvSpPr/>
          <p:nvPr/>
        </p:nvSpPr>
        <p:spPr>
          <a:xfrm>
            <a:off x="4675584" y="2296492"/>
            <a:ext cx="4007644" cy="478631"/>
          </a:xfrm>
          <a:prstGeom prst="roundRect">
            <a:avLst>
              <a:gd name="adj" fmla="val 27861"/>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sp>
        <p:nvSpPr>
          <p:cNvPr id="16" name="Text 10"/>
          <p:cNvSpPr/>
          <p:nvPr/>
        </p:nvSpPr>
        <p:spPr>
          <a:xfrm>
            <a:off x="7765256" y="2400077"/>
            <a:ext cx="785813" cy="271463"/>
          </a:xfrm>
          <a:prstGeom prst="rect">
            <a:avLst/>
          </a:prstGeom>
          <a:noFill/>
          <a:ln/>
        </p:spPr>
        <p:txBody>
          <a:bodyPr wrap="none" lIns="0" tIns="0" rIns="0" bIns="0" rtlCol="0" anchor="t"/>
          <a:lstStyle/>
          <a:p>
            <a:pPr algn="l" indent="0" marL="0">
              <a:lnSpc>
                <a:spcPts val="2138"/>
              </a:lnSpc>
              <a:buNone/>
            </a:pPr>
            <a:r>
              <a:rPr lang="en-US" sz="2138" b="1" dirty="0">
                <a:solidFill>
                  <a:srgbClr val="00D9FF"/>
                </a:solidFill>
                <a:latin typeface="Liberation Sans Narrow" pitchFamily="34" charset="0"/>
                <a:ea typeface="Liberation Sans Narrow" pitchFamily="34" charset="-122"/>
                <a:cs typeface="Liberation Sans Narrow" pitchFamily="34" charset="-120"/>
              </a:rPr>
              <a:t>97%</a:t>
            </a:r>
            <a:endParaRPr lang="en-US" sz="2138" dirty="0"/>
          </a:p>
        </p:txBody>
      </p:sp>
      <p:sp>
        <p:nvSpPr>
          <p:cNvPr id="17" name="Text 11"/>
          <p:cNvSpPr/>
          <p:nvPr/>
        </p:nvSpPr>
        <p:spPr>
          <a:xfrm>
            <a:off x="4807744" y="2460799"/>
            <a:ext cx="2900363" cy="164592"/>
          </a:xfrm>
          <a:prstGeom prst="rect">
            <a:avLst/>
          </a:prstGeom>
          <a:noFill/>
          <a:ln/>
        </p:spPr>
        <p:txBody>
          <a:bodyPr wrap="square" lIns="0" tIns="0" rIns="0" bIns="0" rtlCol="0" anchor="t"/>
          <a:lstStyle/>
          <a:p>
            <a:pPr algn="l" indent="0" marL="0">
              <a:lnSpc>
                <a:spcPts val="1181"/>
              </a:lnSpc>
              <a:buNone/>
            </a:pPr>
            <a:r>
              <a:rPr lang="en-US" sz="800" dirty="0">
                <a:solidFill>
                  <a:srgbClr val="8AA0CC"/>
                </a:solidFill>
                <a:latin typeface="Carlito" pitchFamily="34" charset="0"/>
                <a:ea typeface="Carlito" pitchFamily="34" charset="-122"/>
                <a:cs typeface="Carlito" pitchFamily="34" charset="-120"/>
              </a:rPr>
              <a:t>من الشركات تستثمر في الذكاء الاصطناعي </a:t>
            </a:r>
            <a:pPr algn="l" indent="0" marL="0">
              <a:lnSpc>
                <a:spcPts val="1181"/>
              </a:lnSpc>
              <a:buNone/>
            </a:pPr>
            <a:r>
              <a:rPr lang="en-US" sz="800" dirty="0">
                <a:solidFill>
                  <a:srgbClr val="8AA0CC"/>
                </a:solidFill>
                <a:latin typeface="Liberation Sans Narrow" pitchFamily="34" charset="0"/>
                <a:ea typeface="Liberation Sans Narrow" pitchFamily="34" charset="-122"/>
                <a:cs typeface="Liberation Sans Narrow" pitchFamily="34" charset="-120"/>
              </a:rPr>
              <a:t>(McKinsey 2025)</a:t>
            </a:r>
            <a:endParaRPr lang="en-US" sz="800" dirty="0"/>
          </a:p>
        </p:txBody>
      </p:sp>
      <p:sp>
        <p:nvSpPr>
          <p:cNvPr id="18" name="Text 12"/>
          <p:cNvSpPr/>
          <p:nvPr/>
        </p:nvSpPr>
        <p:spPr>
          <a:xfrm>
            <a:off x="4675584" y="2882280"/>
            <a:ext cx="4007644" cy="478631"/>
          </a:xfrm>
          <a:prstGeom prst="roundRect">
            <a:avLst>
              <a:gd name="adj" fmla="val 27861"/>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sp>
        <p:nvSpPr>
          <p:cNvPr id="19" name="Text 13"/>
          <p:cNvSpPr/>
          <p:nvPr/>
        </p:nvSpPr>
        <p:spPr>
          <a:xfrm>
            <a:off x="7668607" y="2985864"/>
            <a:ext cx="979111" cy="271463"/>
          </a:xfrm>
          <a:prstGeom prst="rect">
            <a:avLst/>
          </a:prstGeom>
          <a:noFill/>
          <a:ln/>
        </p:spPr>
        <p:txBody>
          <a:bodyPr wrap="none" lIns="0" tIns="0" rIns="0" bIns="0" rtlCol="0" anchor="t"/>
          <a:lstStyle/>
          <a:p>
            <a:pPr algn="l" indent="0" marL="0">
              <a:lnSpc>
                <a:spcPts val="2138"/>
              </a:lnSpc>
              <a:buNone/>
            </a:pPr>
            <a:r>
              <a:rPr lang="en-US" sz="2138" b="1" dirty="0">
                <a:solidFill>
                  <a:srgbClr val="B845FF"/>
                </a:solidFill>
                <a:latin typeface="Liberation Sans Narrow" pitchFamily="34" charset="0"/>
                <a:ea typeface="Liberation Sans Narrow" pitchFamily="34" charset="-122"/>
                <a:cs typeface="Liberation Sans Narrow" pitchFamily="34" charset="-120"/>
              </a:rPr>
              <a:t>$1.8T</a:t>
            </a:r>
            <a:endParaRPr lang="en-US" sz="2138" dirty="0"/>
          </a:p>
        </p:txBody>
      </p:sp>
      <p:sp>
        <p:nvSpPr>
          <p:cNvPr id="20" name="Text 14"/>
          <p:cNvSpPr/>
          <p:nvPr/>
        </p:nvSpPr>
        <p:spPr>
          <a:xfrm>
            <a:off x="4807744" y="3046586"/>
            <a:ext cx="3070670" cy="164592"/>
          </a:xfrm>
          <a:prstGeom prst="rect">
            <a:avLst/>
          </a:prstGeom>
          <a:noFill/>
          <a:ln/>
        </p:spPr>
        <p:txBody>
          <a:bodyPr wrap="square" lIns="0" tIns="0" rIns="0" bIns="0" rtlCol="0" anchor="t"/>
          <a:lstStyle/>
          <a:p>
            <a:pPr algn="l" indent="0" marL="0">
              <a:lnSpc>
                <a:spcPts val="1181"/>
              </a:lnSpc>
              <a:buNone/>
            </a:pPr>
            <a:r>
              <a:rPr lang="en-US" sz="800" dirty="0">
                <a:solidFill>
                  <a:srgbClr val="8AA0CC"/>
                </a:solidFill>
                <a:latin typeface="Carlito" pitchFamily="34" charset="0"/>
                <a:ea typeface="Carlito" pitchFamily="34" charset="-122"/>
                <a:cs typeface="Carlito" pitchFamily="34" charset="-120"/>
              </a:rPr>
              <a:t>القيمة السوقية المتوقعة لـ AI بحلول </a:t>
            </a:r>
            <a:pPr algn="l" indent="0" marL="0">
              <a:lnSpc>
                <a:spcPts val="1181"/>
              </a:lnSpc>
              <a:buNone/>
            </a:pPr>
            <a:r>
              <a:rPr lang="en-US" sz="800" dirty="0">
                <a:solidFill>
                  <a:srgbClr val="8AA0CC"/>
                </a:solidFill>
                <a:latin typeface="Liberation Sans Narrow" pitchFamily="34" charset="0"/>
                <a:ea typeface="Liberation Sans Narrow" pitchFamily="34" charset="-122"/>
                <a:cs typeface="Liberation Sans Narrow" pitchFamily="34" charset="-120"/>
              </a:rPr>
              <a:t>2030</a:t>
            </a:r>
            <a:endParaRPr lang="en-US" sz="800" dirty="0"/>
          </a:p>
        </p:txBody>
      </p:sp>
      <p:sp>
        <p:nvSpPr>
          <p:cNvPr id="21" name="Text 15"/>
          <p:cNvSpPr/>
          <p:nvPr/>
        </p:nvSpPr>
        <p:spPr>
          <a:xfrm>
            <a:off x="4675584" y="3468067"/>
            <a:ext cx="4007644" cy="478631"/>
          </a:xfrm>
          <a:prstGeom prst="roundRect">
            <a:avLst>
              <a:gd name="adj" fmla="val 27861"/>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sp>
        <p:nvSpPr>
          <p:cNvPr id="22" name="Text 16"/>
          <p:cNvSpPr/>
          <p:nvPr/>
        </p:nvSpPr>
        <p:spPr>
          <a:xfrm>
            <a:off x="7765256" y="3571652"/>
            <a:ext cx="785813" cy="271463"/>
          </a:xfrm>
          <a:prstGeom prst="rect">
            <a:avLst/>
          </a:prstGeom>
          <a:noFill/>
          <a:ln/>
        </p:spPr>
        <p:txBody>
          <a:bodyPr wrap="none" lIns="0" tIns="0" rIns="0" bIns="0" rtlCol="0" anchor="t"/>
          <a:lstStyle/>
          <a:p>
            <a:pPr algn="l" indent="0" marL="0">
              <a:lnSpc>
                <a:spcPts val="2138"/>
              </a:lnSpc>
              <a:buNone/>
            </a:pPr>
            <a:r>
              <a:rPr lang="en-US" sz="2138" b="1" dirty="0">
                <a:solidFill>
                  <a:srgbClr val="FFD166"/>
                </a:solidFill>
                <a:latin typeface="Liberation Sans Narrow" pitchFamily="34" charset="0"/>
                <a:ea typeface="Liberation Sans Narrow" pitchFamily="34" charset="-122"/>
                <a:cs typeface="Liberation Sans Narrow" pitchFamily="34" charset="-120"/>
              </a:rPr>
              <a:t>4.2×</a:t>
            </a:r>
            <a:endParaRPr lang="en-US" sz="2138" dirty="0"/>
          </a:p>
        </p:txBody>
      </p:sp>
      <p:sp>
        <p:nvSpPr>
          <p:cNvPr id="23" name="Text 17"/>
          <p:cNvSpPr/>
          <p:nvPr/>
        </p:nvSpPr>
        <p:spPr>
          <a:xfrm>
            <a:off x="4807744" y="3632374"/>
            <a:ext cx="3070670" cy="164592"/>
          </a:xfrm>
          <a:prstGeom prst="rect">
            <a:avLst/>
          </a:prstGeom>
          <a:noFill/>
          <a:ln/>
        </p:spPr>
        <p:txBody>
          <a:bodyPr wrap="square" lIns="0" tIns="0" rIns="0" bIns="0" rtlCol="0" anchor="t"/>
          <a:lstStyle/>
          <a:p>
            <a:pPr algn="l" indent="0" marL="0">
              <a:lnSpc>
                <a:spcPts val="1181"/>
              </a:lnSpc>
              <a:buNone/>
            </a:pPr>
            <a:r>
              <a:rPr lang="en-US" sz="800" dirty="0">
                <a:solidFill>
                  <a:srgbClr val="8AA0CC"/>
                </a:solidFill>
                <a:latin typeface="Carlito" pitchFamily="34" charset="0"/>
                <a:ea typeface="Carlito" pitchFamily="34" charset="-122"/>
                <a:cs typeface="Carlito" pitchFamily="34" charset="-120"/>
              </a:rPr>
              <a:t>نمو الوظائف في مجال تدريب النماذج</a:t>
            </a:r>
            <a:endParaRPr lang="en-US" sz="800" dirty="0"/>
          </a:p>
        </p:txBody>
      </p:sp>
      <p:pic>
        <p:nvPicPr>
          <p:cNvPr id="24" name="Image 4" descr="preencoded.png">    </p:cNvPr>
          <p:cNvPicPr>
            <a:picLocks noChangeAspect="1"/>
          </p:cNvPicPr>
          <p:nvPr/>
        </p:nvPicPr>
        <p:blipFill>
          <a:blip r:embed="rId5"/>
          <a:stretch>
            <a:fillRect/>
          </a:stretch>
        </p:blipFill>
        <p:spPr>
          <a:xfrm>
            <a:off x="457200" y="1280071"/>
            <a:ext cx="4014788" cy="1052475"/>
          </a:xfrm>
          <a:prstGeom prst="rect">
            <a:avLst/>
          </a:prstGeom>
        </p:spPr>
      </p:pic>
      <p:sp>
        <p:nvSpPr>
          <p:cNvPr id="25" name="Text 18"/>
          <p:cNvSpPr/>
          <p:nvPr/>
        </p:nvSpPr>
        <p:spPr>
          <a:xfrm>
            <a:off x="460772" y="1283643"/>
            <a:ext cx="4007644" cy="1045332"/>
          </a:xfrm>
          <a:prstGeom prst="roundRect">
            <a:avLst>
              <a:gd name="adj" fmla="val 14579"/>
            </a:avLst>
          </a:prstGeom>
          <a:noFill/>
          <a:ln w="7144">
            <a:solidFill>
              <a:srgbClr val="00D9FF"/>
            </a:solidFill>
            <a:prstDash val="solid"/>
          </a:ln>
        </p:spPr>
        <p:txBody>
          <a:bodyPr wrap="square" rtlCol="0" anchor="ctr"/>
          <a:lstStyle/>
          <a:p>
            <a:pPr indent="0" marL="0">
              <a:buNone/>
            </a:pPr>
            <a:endParaRPr lang="en-US" dirty="0"/>
          </a:p>
        </p:txBody>
      </p:sp>
      <p:pic>
        <p:nvPicPr>
          <p:cNvPr id="26" name="Image 5" descr="preencoded.png">    </p:cNvPr>
          <p:cNvPicPr>
            <a:picLocks noChangeAspect="1"/>
          </p:cNvPicPr>
          <p:nvPr/>
        </p:nvPicPr>
        <p:blipFill>
          <a:blip r:embed="rId6"/>
          <a:stretch>
            <a:fillRect/>
          </a:stretch>
        </p:blipFill>
        <p:spPr>
          <a:xfrm>
            <a:off x="3964781" y="1620515"/>
            <a:ext cx="371475" cy="371475"/>
          </a:xfrm>
          <a:prstGeom prst="rect">
            <a:avLst/>
          </a:prstGeom>
        </p:spPr>
      </p:pic>
      <p:sp>
        <p:nvSpPr>
          <p:cNvPr id="27" name="Text 19"/>
          <p:cNvSpPr/>
          <p:nvPr/>
        </p:nvSpPr>
        <p:spPr>
          <a:xfrm>
            <a:off x="3968353" y="1624087"/>
            <a:ext cx="364331" cy="364331"/>
          </a:xfrm>
          <a:prstGeom prst="roundRect">
            <a:avLst>
              <a:gd name="adj" fmla="val 36601"/>
            </a:avLst>
          </a:prstGeom>
          <a:noFill/>
          <a:ln w="7144">
            <a:solidFill>
              <a:srgbClr val="00D9FF"/>
            </a:solidFill>
            <a:prstDash val="solid"/>
          </a:ln>
        </p:spPr>
        <p:txBody>
          <a:bodyPr wrap="square" rtlCol="0" anchor="ctr"/>
          <a:lstStyle/>
          <a:p>
            <a:pPr indent="0" marL="0">
              <a:buNone/>
            </a:pPr>
            <a:endParaRPr lang="en-US" dirty="0"/>
          </a:p>
        </p:txBody>
      </p:sp>
      <p:sp>
        <p:nvSpPr>
          <p:cNvPr id="28" name="Text 20"/>
          <p:cNvSpPr/>
          <p:nvPr/>
        </p:nvSpPr>
        <p:spPr>
          <a:xfrm>
            <a:off x="4015859" y="1671593"/>
            <a:ext cx="269319" cy="269319"/>
          </a:xfrm>
          <a:prstGeom prst="rect">
            <a:avLst/>
          </a:prstGeom>
          <a:noFill/>
          <a:ln/>
        </p:spPr>
        <p:txBody>
          <a:bodyPr wrap="none" lIns="0" tIns="0" rIns="0" bIns="0" rtlCol="0" anchor="ctr"/>
          <a:lstStyle/>
          <a:p>
            <a:pPr algn="ctr" indent="0" marL="0">
              <a:buNone/>
            </a:pPr>
            <a:r>
              <a:rPr lang="en-US" sz="1828" dirty="0">
                <a:solidFill>
                  <a:srgbClr val="00D9FF"/>
                </a:solidFill>
                <a:latin typeface="Segoe UI Symbol" pitchFamily="34" charset="0"/>
                <a:ea typeface="Segoe UI Symbol" pitchFamily="34" charset="-122"/>
                <a:cs typeface="Segoe UI Symbol" pitchFamily="34" charset="-120"/>
              </a:rPr>
              <a:t>◯</a:t>
            </a:r>
            <a:endParaRPr lang="en-US" sz="1828" dirty="0"/>
          </a:p>
        </p:txBody>
      </p:sp>
      <p:sp>
        <p:nvSpPr>
          <p:cNvPr id="29" name="Text 21"/>
          <p:cNvSpPr/>
          <p:nvPr/>
        </p:nvSpPr>
        <p:spPr>
          <a:xfrm>
            <a:off x="904131" y="1557114"/>
            <a:ext cx="3432125" cy="94012"/>
          </a:xfrm>
          <a:prstGeom prst="rect">
            <a:avLst/>
          </a:prstGeom>
          <a:noFill/>
          <a:ln/>
        </p:spPr>
        <p:txBody>
          <a:bodyPr wrap="none" lIns="0" tIns="0" rIns="0" bIns="0" rtlCol="0" anchor="t">
            <a:normAutofit/>
          </a:bodyPr>
          <a:lstStyle/>
          <a:p>
            <a:pPr algn="l" indent="0" marL="0">
              <a:lnSpc>
                <a:spcPts val="844"/>
              </a:lnSpc>
              <a:buNone/>
            </a:pPr>
            <a:r>
              <a:rPr lang="en-US" sz="800" spc="84" kern="0" dirty="0">
                <a:solidFill>
                  <a:srgbClr val="5B6B96"/>
                </a:solidFill>
                <a:latin typeface="Liberation Sans Narrow" pitchFamily="34" charset="0"/>
                <a:ea typeface="Liberation Sans Narrow" pitchFamily="34" charset="-122"/>
                <a:cs typeface="Liberation Sans Narrow" pitchFamily="34" charset="-120"/>
              </a:rPr>
              <a:t>TYPE 01 · NARROW</a:t>
            </a:r>
            <a:endParaRPr lang="en-US" sz="800" dirty="0"/>
          </a:p>
        </p:txBody>
      </p:sp>
      <p:sp>
        <p:nvSpPr>
          <p:cNvPr id="30" name="Text 22"/>
          <p:cNvSpPr/>
          <p:nvPr/>
        </p:nvSpPr>
        <p:spPr>
          <a:xfrm>
            <a:off x="904131" y="1678558"/>
            <a:ext cx="3093668" cy="204740"/>
          </a:xfrm>
          <a:prstGeom prst="rect">
            <a:avLst/>
          </a:prstGeom>
          <a:noFill/>
          <a:ln/>
        </p:spPr>
        <p:txBody>
          <a:bodyPr wrap="none" lIns="0" tIns="0" rIns="0" bIns="0" rtlCol="0" anchor="t">
            <a:normAutofit/>
          </a:bodyPr>
          <a:lstStyle/>
          <a:p>
            <a:pPr algn="l" indent="0" marL="0">
              <a:lnSpc>
                <a:spcPts val="1603"/>
              </a:lnSpc>
              <a:buNone/>
            </a:pPr>
            <a:r>
              <a:rPr lang="en-US" sz="1069" b="1" dirty="0">
                <a:solidFill>
                  <a:srgbClr val="EAF6FF"/>
                </a:solidFill>
                <a:latin typeface="Carlito" pitchFamily="34" charset="0"/>
                <a:ea typeface="Carlito" pitchFamily="34" charset="-122"/>
                <a:cs typeface="Carlito" pitchFamily="34" charset="-120"/>
              </a:rPr>
              <a:t>ANI - ذكاء اصطناعي ضيق</a:t>
            </a:r>
            <a:endParaRPr lang="en-US" sz="1069" dirty="0"/>
          </a:p>
        </p:txBody>
      </p:sp>
      <p:sp>
        <p:nvSpPr>
          <p:cNvPr id="31" name="Text 23"/>
          <p:cNvSpPr/>
          <p:nvPr/>
        </p:nvSpPr>
        <p:spPr>
          <a:xfrm>
            <a:off x="904131" y="1910730"/>
            <a:ext cx="2946350" cy="164592"/>
          </a:xfrm>
          <a:prstGeom prst="rect">
            <a:avLst/>
          </a:prstGeom>
          <a:noFill/>
          <a:ln/>
        </p:spPr>
        <p:txBody>
          <a:bodyPr wrap="square" lIns="0" tIns="0" rIns="0" bIns="0" rtlCol="0" anchor="t"/>
          <a:lstStyle/>
          <a:p>
            <a:pPr algn="l" indent="0" marL="0">
              <a:lnSpc>
                <a:spcPts val="1139"/>
              </a:lnSpc>
              <a:buNone/>
            </a:pPr>
            <a:r>
              <a:rPr lang="en-US" sz="800" dirty="0">
                <a:solidFill>
                  <a:srgbClr val="8AA0CC"/>
                </a:solidFill>
                <a:latin typeface="Carlito" pitchFamily="34" charset="0"/>
                <a:ea typeface="Carlito" pitchFamily="34" charset="-122"/>
                <a:cs typeface="Carlito" pitchFamily="34" charset="-120"/>
              </a:rPr>
              <a:t>متخصص في مهمة واحدة: التعرف على الصور، الترجمة، التوصيات</a:t>
            </a:r>
            <a:endParaRPr lang="en-US" sz="800" dirty="0"/>
          </a:p>
        </p:txBody>
      </p:sp>
      <p:pic>
        <p:nvPicPr>
          <p:cNvPr id="32" name="Image 6" descr="preencoded.png">    </p:cNvPr>
          <p:cNvPicPr>
            <a:picLocks noChangeAspect="1"/>
          </p:cNvPicPr>
          <p:nvPr/>
        </p:nvPicPr>
        <p:blipFill>
          <a:blip r:embed="rId7"/>
          <a:stretch>
            <a:fillRect/>
          </a:stretch>
        </p:blipFill>
        <p:spPr>
          <a:xfrm>
            <a:off x="457200" y="2432558"/>
            <a:ext cx="4014788" cy="1052587"/>
          </a:xfrm>
          <a:prstGeom prst="rect">
            <a:avLst/>
          </a:prstGeom>
        </p:spPr>
      </p:pic>
      <p:sp>
        <p:nvSpPr>
          <p:cNvPr id="33" name="Text 24"/>
          <p:cNvSpPr/>
          <p:nvPr/>
        </p:nvSpPr>
        <p:spPr>
          <a:xfrm>
            <a:off x="460772" y="2436130"/>
            <a:ext cx="4007644" cy="1045443"/>
          </a:xfrm>
          <a:prstGeom prst="roundRect">
            <a:avLst>
              <a:gd name="adj" fmla="val 14578"/>
            </a:avLst>
          </a:prstGeom>
          <a:noFill/>
          <a:ln w="7144">
            <a:solidFill>
              <a:srgbClr val="B845FF"/>
            </a:solidFill>
            <a:prstDash val="solid"/>
          </a:ln>
        </p:spPr>
        <p:txBody>
          <a:bodyPr wrap="square" rtlCol="0" anchor="ctr"/>
          <a:lstStyle/>
          <a:p>
            <a:pPr indent="0" marL="0">
              <a:buNone/>
            </a:pPr>
            <a:endParaRPr lang="en-US" dirty="0"/>
          </a:p>
        </p:txBody>
      </p:sp>
      <p:pic>
        <p:nvPicPr>
          <p:cNvPr id="34" name="Image 7" descr="preencoded.png">    </p:cNvPr>
          <p:cNvPicPr>
            <a:picLocks noChangeAspect="1"/>
          </p:cNvPicPr>
          <p:nvPr/>
        </p:nvPicPr>
        <p:blipFill>
          <a:blip r:embed="rId8"/>
          <a:stretch>
            <a:fillRect/>
          </a:stretch>
        </p:blipFill>
        <p:spPr>
          <a:xfrm>
            <a:off x="3964781" y="2773114"/>
            <a:ext cx="371475" cy="371475"/>
          </a:xfrm>
          <a:prstGeom prst="rect">
            <a:avLst/>
          </a:prstGeom>
        </p:spPr>
      </p:pic>
      <p:sp>
        <p:nvSpPr>
          <p:cNvPr id="35" name="Text 25"/>
          <p:cNvSpPr/>
          <p:nvPr/>
        </p:nvSpPr>
        <p:spPr>
          <a:xfrm>
            <a:off x="3968353" y="2776686"/>
            <a:ext cx="364331" cy="364331"/>
          </a:xfrm>
          <a:prstGeom prst="roundRect">
            <a:avLst>
              <a:gd name="adj" fmla="val 36601"/>
            </a:avLst>
          </a:prstGeom>
          <a:noFill/>
          <a:ln w="7144">
            <a:solidFill>
              <a:srgbClr val="B845FF"/>
            </a:solidFill>
            <a:prstDash val="solid"/>
          </a:ln>
        </p:spPr>
        <p:txBody>
          <a:bodyPr wrap="square" rtlCol="0" anchor="ctr"/>
          <a:lstStyle/>
          <a:p>
            <a:pPr indent="0" marL="0">
              <a:buNone/>
            </a:pPr>
            <a:endParaRPr lang="en-US" dirty="0"/>
          </a:p>
        </p:txBody>
      </p:sp>
      <p:sp>
        <p:nvSpPr>
          <p:cNvPr id="36" name="Text 26"/>
          <p:cNvSpPr/>
          <p:nvPr/>
        </p:nvSpPr>
        <p:spPr>
          <a:xfrm>
            <a:off x="4015859" y="2824192"/>
            <a:ext cx="269319" cy="269319"/>
          </a:xfrm>
          <a:prstGeom prst="rect">
            <a:avLst/>
          </a:prstGeom>
          <a:noFill/>
          <a:ln/>
        </p:spPr>
        <p:txBody>
          <a:bodyPr wrap="none" lIns="0" tIns="0" rIns="0" bIns="0" rtlCol="0" anchor="ctr"/>
          <a:lstStyle/>
          <a:p>
            <a:pPr algn="ctr" indent="0" marL="0">
              <a:buNone/>
            </a:pPr>
            <a:r>
              <a:rPr lang="en-US" sz="1828" dirty="0">
                <a:solidFill>
                  <a:srgbClr val="B845FF"/>
                </a:solidFill>
                <a:latin typeface="Segoe UI Symbol" pitchFamily="34" charset="0"/>
                <a:ea typeface="Segoe UI Symbol" pitchFamily="34" charset="-122"/>
                <a:cs typeface="Segoe UI Symbol" pitchFamily="34" charset="-120"/>
              </a:rPr>
              <a:t>◆</a:t>
            </a:r>
            <a:endParaRPr lang="en-US" sz="1828" dirty="0"/>
          </a:p>
        </p:txBody>
      </p:sp>
      <p:sp>
        <p:nvSpPr>
          <p:cNvPr id="37" name="Text 27"/>
          <p:cNvSpPr/>
          <p:nvPr/>
        </p:nvSpPr>
        <p:spPr>
          <a:xfrm>
            <a:off x="1247701" y="2709714"/>
            <a:ext cx="3088556" cy="94012"/>
          </a:xfrm>
          <a:prstGeom prst="rect">
            <a:avLst/>
          </a:prstGeom>
          <a:noFill/>
          <a:ln/>
        </p:spPr>
        <p:txBody>
          <a:bodyPr wrap="none" lIns="0" tIns="0" rIns="0" bIns="0" rtlCol="0" anchor="t">
            <a:normAutofit/>
          </a:bodyPr>
          <a:lstStyle/>
          <a:p>
            <a:pPr algn="l" indent="0" marL="0">
              <a:lnSpc>
                <a:spcPts val="844"/>
              </a:lnSpc>
              <a:buNone/>
            </a:pPr>
            <a:r>
              <a:rPr lang="en-US" sz="800" spc="84" kern="0" dirty="0">
                <a:solidFill>
                  <a:srgbClr val="5B6B96"/>
                </a:solidFill>
                <a:latin typeface="Liberation Sans Narrow" pitchFamily="34" charset="0"/>
                <a:ea typeface="Liberation Sans Narrow" pitchFamily="34" charset="-122"/>
                <a:cs typeface="Liberation Sans Narrow" pitchFamily="34" charset="-120"/>
              </a:rPr>
              <a:t>TYPE 02 · GENERAL</a:t>
            </a:r>
            <a:endParaRPr lang="en-US" sz="800" dirty="0"/>
          </a:p>
        </p:txBody>
      </p:sp>
      <p:sp>
        <p:nvSpPr>
          <p:cNvPr id="38" name="Text 28"/>
          <p:cNvSpPr/>
          <p:nvPr/>
        </p:nvSpPr>
        <p:spPr>
          <a:xfrm>
            <a:off x="1247701" y="2831157"/>
            <a:ext cx="2732920" cy="204740"/>
          </a:xfrm>
          <a:prstGeom prst="rect">
            <a:avLst/>
          </a:prstGeom>
          <a:noFill/>
          <a:ln/>
        </p:spPr>
        <p:txBody>
          <a:bodyPr wrap="none" lIns="0" tIns="0" rIns="0" bIns="0" rtlCol="0" anchor="t">
            <a:normAutofit/>
          </a:bodyPr>
          <a:lstStyle/>
          <a:p>
            <a:pPr algn="l" indent="0" marL="0">
              <a:lnSpc>
                <a:spcPts val="1603"/>
              </a:lnSpc>
              <a:buNone/>
            </a:pPr>
            <a:r>
              <a:rPr lang="en-US" sz="1069" b="1" dirty="0">
                <a:solidFill>
                  <a:srgbClr val="EAF6FF"/>
                </a:solidFill>
                <a:latin typeface="Carlito" pitchFamily="34" charset="0"/>
                <a:ea typeface="Carlito" pitchFamily="34" charset="-122"/>
                <a:cs typeface="Carlito" pitchFamily="34" charset="-120"/>
              </a:rPr>
              <a:t>AGI - ذكاء اصطناعي عام</a:t>
            </a:r>
            <a:endParaRPr lang="en-US" sz="1069" dirty="0"/>
          </a:p>
        </p:txBody>
      </p:sp>
      <p:sp>
        <p:nvSpPr>
          <p:cNvPr id="39" name="Text 29"/>
          <p:cNvSpPr/>
          <p:nvPr/>
        </p:nvSpPr>
        <p:spPr>
          <a:xfrm>
            <a:off x="1247701" y="3063329"/>
            <a:ext cx="2602781" cy="164592"/>
          </a:xfrm>
          <a:prstGeom prst="rect">
            <a:avLst/>
          </a:prstGeom>
          <a:noFill/>
          <a:ln/>
        </p:spPr>
        <p:txBody>
          <a:bodyPr wrap="square" lIns="0" tIns="0" rIns="0" bIns="0" rtlCol="0" anchor="t"/>
          <a:lstStyle/>
          <a:p>
            <a:pPr algn="l" indent="0" marL="0">
              <a:lnSpc>
                <a:spcPts val="1139"/>
              </a:lnSpc>
              <a:buNone/>
            </a:pPr>
            <a:r>
              <a:rPr lang="en-US" sz="800" dirty="0">
                <a:solidFill>
                  <a:srgbClr val="8AA0CC"/>
                </a:solidFill>
                <a:latin typeface="Carlito" pitchFamily="34" charset="0"/>
                <a:ea typeface="Carlito" pitchFamily="34" charset="-122"/>
                <a:cs typeface="Carlito" pitchFamily="34" charset="-120"/>
              </a:rPr>
              <a:t>قدرات إدراكية شاملة تماثل الإنسان عبر مجالات متعددة</a:t>
            </a:r>
            <a:endParaRPr lang="en-US" sz="800" dirty="0"/>
          </a:p>
        </p:txBody>
      </p:sp>
      <p:pic>
        <p:nvPicPr>
          <p:cNvPr id="40" name="Image 8" descr="preencoded.png">    </p:cNvPr>
          <p:cNvPicPr>
            <a:picLocks noChangeAspect="1"/>
          </p:cNvPicPr>
          <p:nvPr/>
        </p:nvPicPr>
        <p:blipFill>
          <a:blip r:embed="rId9"/>
          <a:stretch>
            <a:fillRect/>
          </a:stretch>
        </p:blipFill>
        <p:spPr>
          <a:xfrm>
            <a:off x="457200" y="3585158"/>
            <a:ext cx="4014788" cy="1052475"/>
          </a:xfrm>
          <a:prstGeom prst="rect">
            <a:avLst/>
          </a:prstGeom>
        </p:spPr>
      </p:pic>
      <p:sp>
        <p:nvSpPr>
          <p:cNvPr id="41" name="Text 30"/>
          <p:cNvSpPr/>
          <p:nvPr/>
        </p:nvSpPr>
        <p:spPr>
          <a:xfrm>
            <a:off x="460772" y="3588730"/>
            <a:ext cx="4007644" cy="1045332"/>
          </a:xfrm>
          <a:prstGeom prst="roundRect">
            <a:avLst>
              <a:gd name="adj" fmla="val 14579"/>
            </a:avLst>
          </a:prstGeom>
          <a:noFill/>
          <a:ln w="7144">
            <a:solidFill>
              <a:srgbClr val="FFD166"/>
            </a:solidFill>
            <a:prstDash val="solid"/>
          </a:ln>
        </p:spPr>
        <p:txBody>
          <a:bodyPr wrap="square" rtlCol="0" anchor="ctr"/>
          <a:lstStyle/>
          <a:p>
            <a:pPr indent="0" marL="0">
              <a:buNone/>
            </a:pPr>
            <a:endParaRPr lang="en-US" dirty="0"/>
          </a:p>
        </p:txBody>
      </p:sp>
      <p:pic>
        <p:nvPicPr>
          <p:cNvPr id="42" name="Image 9" descr="preencoded.png">    </p:cNvPr>
          <p:cNvPicPr>
            <a:picLocks noChangeAspect="1"/>
          </p:cNvPicPr>
          <p:nvPr/>
        </p:nvPicPr>
        <p:blipFill>
          <a:blip r:embed="rId10"/>
          <a:stretch>
            <a:fillRect/>
          </a:stretch>
        </p:blipFill>
        <p:spPr>
          <a:xfrm>
            <a:off x="3964781" y="3925602"/>
            <a:ext cx="371475" cy="371475"/>
          </a:xfrm>
          <a:prstGeom prst="rect">
            <a:avLst/>
          </a:prstGeom>
        </p:spPr>
      </p:pic>
      <p:sp>
        <p:nvSpPr>
          <p:cNvPr id="43" name="Text 31"/>
          <p:cNvSpPr/>
          <p:nvPr/>
        </p:nvSpPr>
        <p:spPr>
          <a:xfrm>
            <a:off x="3968353" y="3929174"/>
            <a:ext cx="364331" cy="364331"/>
          </a:xfrm>
          <a:prstGeom prst="roundRect">
            <a:avLst>
              <a:gd name="adj" fmla="val 36601"/>
            </a:avLst>
          </a:prstGeom>
          <a:noFill/>
          <a:ln w="7144">
            <a:solidFill>
              <a:srgbClr val="FFD166"/>
            </a:solidFill>
            <a:prstDash val="solid"/>
          </a:ln>
        </p:spPr>
        <p:txBody>
          <a:bodyPr wrap="square" rtlCol="0" anchor="ctr"/>
          <a:lstStyle/>
          <a:p>
            <a:pPr indent="0" marL="0">
              <a:buNone/>
            </a:pPr>
            <a:endParaRPr lang="en-US" dirty="0"/>
          </a:p>
        </p:txBody>
      </p:sp>
      <p:sp>
        <p:nvSpPr>
          <p:cNvPr id="44" name="Text 32"/>
          <p:cNvSpPr/>
          <p:nvPr/>
        </p:nvSpPr>
        <p:spPr>
          <a:xfrm>
            <a:off x="4015859" y="3976680"/>
            <a:ext cx="269319" cy="269319"/>
          </a:xfrm>
          <a:prstGeom prst="rect">
            <a:avLst/>
          </a:prstGeom>
          <a:noFill/>
          <a:ln/>
        </p:spPr>
        <p:txBody>
          <a:bodyPr wrap="none" lIns="0" tIns="0" rIns="0" bIns="0" rtlCol="0" anchor="ctr"/>
          <a:lstStyle/>
          <a:p>
            <a:pPr algn="ctr" indent="0" marL="0">
              <a:buNone/>
            </a:pPr>
            <a:r>
              <a:rPr lang="en-US" sz="1828" dirty="0">
                <a:solidFill>
                  <a:srgbClr val="FFD166"/>
                </a:solidFill>
                <a:latin typeface="Segoe UI Symbol" pitchFamily="34" charset="0"/>
                <a:ea typeface="Segoe UI Symbol" pitchFamily="34" charset="-122"/>
                <a:cs typeface="Segoe UI Symbol" pitchFamily="34" charset="-120"/>
              </a:rPr>
              <a:t>✦</a:t>
            </a:r>
            <a:endParaRPr lang="en-US" sz="1828" dirty="0"/>
          </a:p>
        </p:txBody>
      </p:sp>
      <p:sp>
        <p:nvSpPr>
          <p:cNvPr id="45" name="Text 33"/>
          <p:cNvSpPr/>
          <p:nvPr/>
        </p:nvSpPr>
        <p:spPr>
          <a:xfrm>
            <a:off x="1036290" y="3862201"/>
            <a:ext cx="3299966" cy="94012"/>
          </a:xfrm>
          <a:prstGeom prst="rect">
            <a:avLst/>
          </a:prstGeom>
          <a:noFill/>
          <a:ln/>
        </p:spPr>
        <p:txBody>
          <a:bodyPr wrap="none" lIns="0" tIns="0" rIns="0" bIns="0" rtlCol="0" anchor="t">
            <a:normAutofit/>
          </a:bodyPr>
          <a:lstStyle/>
          <a:p>
            <a:pPr algn="l" indent="0" marL="0">
              <a:lnSpc>
                <a:spcPts val="844"/>
              </a:lnSpc>
              <a:buNone/>
            </a:pPr>
            <a:r>
              <a:rPr lang="en-US" sz="800" spc="84" kern="0" dirty="0">
                <a:solidFill>
                  <a:srgbClr val="5B6B96"/>
                </a:solidFill>
                <a:latin typeface="Liberation Sans Narrow" pitchFamily="34" charset="0"/>
                <a:ea typeface="Liberation Sans Narrow" pitchFamily="34" charset="-122"/>
                <a:cs typeface="Liberation Sans Narrow" pitchFamily="34" charset="-120"/>
              </a:rPr>
              <a:t>TYPE 03 · SUPER</a:t>
            </a:r>
            <a:endParaRPr lang="en-US" sz="800" dirty="0"/>
          </a:p>
        </p:txBody>
      </p:sp>
      <p:sp>
        <p:nvSpPr>
          <p:cNvPr id="46" name="Text 34"/>
          <p:cNvSpPr/>
          <p:nvPr/>
        </p:nvSpPr>
        <p:spPr>
          <a:xfrm>
            <a:off x="1036290" y="3983645"/>
            <a:ext cx="2954901" cy="204740"/>
          </a:xfrm>
          <a:prstGeom prst="rect">
            <a:avLst/>
          </a:prstGeom>
          <a:noFill/>
          <a:ln/>
        </p:spPr>
        <p:txBody>
          <a:bodyPr wrap="none" lIns="0" tIns="0" rIns="0" bIns="0" rtlCol="0" anchor="t">
            <a:normAutofit/>
          </a:bodyPr>
          <a:lstStyle/>
          <a:p>
            <a:pPr algn="l" indent="0" marL="0">
              <a:lnSpc>
                <a:spcPts val="1603"/>
              </a:lnSpc>
              <a:buNone/>
            </a:pPr>
            <a:r>
              <a:rPr lang="en-US" sz="1069" b="1" dirty="0">
                <a:solidFill>
                  <a:srgbClr val="EAF6FF"/>
                </a:solidFill>
                <a:latin typeface="Carlito" pitchFamily="34" charset="0"/>
                <a:ea typeface="Carlito" pitchFamily="34" charset="-122"/>
                <a:cs typeface="Carlito" pitchFamily="34" charset="-120"/>
              </a:rPr>
              <a:t>ASI - ذكاء اصطناعي خارق</a:t>
            </a:r>
            <a:endParaRPr lang="en-US" sz="1069" dirty="0"/>
          </a:p>
        </p:txBody>
      </p:sp>
      <p:sp>
        <p:nvSpPr>
          <p:cNvPr id="47" name="Text 35"/>
          <p:cNvSpPr/>
          <p:nvPr/>
        </p:nvSpPr>
        <p:spPr>
          <a:xfrm>
            <a:off x="1036290" y="4215817"/>
            <a:ext cx="2814191" cy="164592"/>
          </a:xfrm>
          <a:prstGeom prst="rect">
            <a:avLst/>
          </a:prstGeom>
          <a:noFill/>
          <a:ln/>
        </p:spPr>
        <p:txBody>
          <a:bodyPr wrap="square" lIns="0" tIns="0" rIns="0" bIns="0" rtlCol="0" anchor="t"/>
          <a:lstStyle/>
          <a:p>
            <a:pPr algn="l" indent="0" marL="0">
              <a:lnSpc>
                <a:spcPts val="1139"/>
              </a:lnSpc>
              <a:buNone/>
            </a:pPr>
            <a:r>
              <a:rPr lang="en-US" sz="800" dirty="0">
                <a:solidFill>
                  <a:srgbClr val="8AA0CC"/>
                </a:solidFill>
                <a:latin typeface="Carlito" pitchFamily="34" charset="0"/>
                <a:ea typeface="Carlito" pitchFamily="34" charset="-122"/>
                <a:cs typeface="Carlito" pitchFamily="34" charset="-120"/>
              </a:rPr>
              <a:t>يتجاوز القدرات البشرية في جميع المجالات — لا يزال نظرياً</a:t>
            </a:r>
            <a:endParaRPr lang="en-US" sz="800" dirty="0"/>
          </a:p>
        </p:txBody>
      </p:sp>
      <p:sp>
        <p:nvSpPr>
          <p:cNvPr id="48" name="Text 36"/>
          <p:cNvSpPr/>
          <p:nvPr/>
        </p:nvSpPr>
        <p:spPr>
          <a:xfrm>
            <a:off x="8351705" y="4857750"/>
            <a:ext cx="433588"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صفحة 04</a:t>
            </a:r>
            <a:endParaRPr lang="en-US" sz="800" dirty="0"/>
          </a:p>
        </p:txBody>
      </p:sp>
      <p:sp>
        <p:nvSpPr>
          <p:cNvPr id="49" name="Text 37"/>
          <p:cNvSpPr/>
          <p:nvPr/>
        </p:nvSpPr>
        <p:spPr>
          <a:xfrm>
            <a:off x="989075" y="4900613"/>
            <a:ext cx="42863" cy="42863"/>
          </a:xfrm>
          <a:prstGeom prst="roundRect">
            <a:avLst>
              <a:gd name="adj" fmla="val 66666"/>
            </a:avLst>
          </a:prstGeom>
          <a:solidFill>
            <a:srgbClr val="00D9FF"/>
          </a:solidFill>
          <a:ln/>
        </p:spPr>
        <p:txBody>
          <a:bodyPr wrap="square" rtlCol="0" anchor="ctr"/>
          <a:lstStyle/>
          <a:p>
            <a:pPr indent="0" marL="0">
              <a:buNone/>
            </a:pPr>
            <a:endParaRPr lang="en-US" dirty="0"/>
          </a:p>
        </p:txBody>
      </p:sp>
      <p:sp>
        <p:nvSpPr>
          <p:cNvPr id="50" name="Text 38"/>
          <p:cNvSpPr/>
          <p:nvPr/>
        </p:nvSpPr>
        <p:spPr>
          <a:xfrm>
            <a:off x="457200" y="4857750"/>
            <a:ext cx="7886700"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 AI SKILLS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65000"/>
          </a:blip>
          <a:stretch>
            <a:fillRect/>
          </a:stretch>
        </p:blipFill>
        <p:spPr>
          <a:xfrm>
            <a:off x="7000875" y="-1143000"/>
            <a:ext cx="3000375" cy="3000375"/>
          </a:xfrm>
          <a:prstGeom prst="rect">
            <a:avLst/>
          </a:prstGeom>
        </p:spPr>
      </p:pic>
      <p:sp>
        <p:nvSpPr>
          <p:cNvPr id="4" name="Text 0"/>
          <p:cNvSpPr/>
          <p:nvPr/>
        </p:nvSpPr>
        <p:spPr>
          <a:xfrm>
            <a:off x="7000875" y="-1143000"/>
            <a:ext cx="3000375" cy="3000375"/>
          </a:xfrm>
          <a:prstGeom prst="ellipse">
            <a:avLst/>
          </a:prstGeom>
          <a:solidFill>
            <a:srgbClr val="FFFFFF">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65000"/>
          </a:blip>
          <a:stretch>
            <a:fillRect/>
          </a:stretch>
        </p:blipFill>
        <p:spPr>
          <a:xfrm>
            <a:off x="-857250" y="3000375"/>
            <a:ext cx="3429000" cy="3429000"/>
          </a:xfrm>
          <a:prstGeom prst="rect">
            <a:avLst/>
          </a:prstGeom>
        </p:spPr>
      </p:pic>
      <p:sp>
        <p:nvSpPr>
          <p:cNvPr id="6" name="Text 1"/>
          <p:cNvSpPr/>
          <p:nvPr/>
        </p:nvSpPr>
        <p:spPr>
          <a:xfrm>
            <a:off x="-857250" y="3000375"/>
            <a:ext cx="3429000" cy="3429000"/>
          </a:xfrm>
          <a:prstGeom prst="ellipse">
            <a:avLst/>
          </a:prstGeom>
          <a:solidFill>
            <a:srgbClr val="FFFFFF">
              <a:alpha val="0"/>
            </a:srgbClr>
          </a:solidFill>
          <a:ln/>
        </p:spPr>
        <p:txBody>
          <a:bodyPr wrap="square" rtlCol="0" anchor="ctr"/>
          <a:lstStyle/>
          <a:p>
            <a:pPr indent="0" marL="0">
              <a:buNone/>
            </a:pPr>
            <a:endParaRPr lang="en-US" dirty="0"/>
          </a:p>
        </p:txBody>
      </p:sp>
      <p:sp>
        <p:nvSpPr>
          <p:cNvPr id="7" name="Text 2"/>
          <p:cNvSpPr/>
          <p:nvPr/>
        </p:nvSpPr>
        <p:spPr>
          <a:xfrm>
            <a:off x="236372" y="1428750"/>
            <a:ext cx="4144975" cy="2468880"/>
          </a:xfrm>
          <a:prstGeom prst="rect">
            <a:avLst/>
          </a:prstGeom>
          <a:noFill/>
          <a:ln/>
        </p:spPr>
        <p:txBody>
          <a:bodyPr wrap="square" lIns="0" tIns="0" rIns="0" bIns="0" rtlCol="0" anchor="t"/>
          <a:lstStyle/>
          <a:p>
            <a:pPr algn="l" indent="0" marL="0">
              <a:lnSpc>
                <a:spcPts val="18000"/>
              </a:lnSpc>
              <a:buNone/>
            </a:pPr>
            <a:r>
              <a:rPr lang="en-US" sz="18000" b="1" spc="-450" kern="0" dirty="0">
                <a:solidFill>
                  <a:srgbClr val="00D9FF">
                    <a:alpha val="8000"/>
                  </a:srgbClr>
                </a:solidFill>
                <a:latin typeface="Liberation Sans Narrow" pitchFamily="34" charset="0"/>
                <a:ea typeface="Liberation Sans Narrow" pitchFamily="34" charset="-122"/>
                <a:cs typeface="Liberation Sans Narrow" pitchFamily="34" charset="-120"/>
              </a:rPr>
              <a:t>02</a:t>
            </a:r>
            <a:endParaRPr lang="en-US" sz="18000" dirty="0"/>
          </a:p>
        </p:txBody>
      </p:sp>
      <p:pic>
        <p:nvPicPr>
          <p:cNvPr id="8" name="Image 3" descr="preencoded.png">    </p:cNvPr>
          <p:cNvPicPr>
            <a:picLocks noChangeAspect="1"/>
          </p:cNvPicPr>
          <p:nvPr/>
        </p:nvPicPr>
        <p:blipFill>
          <a:blip r:embed="rId4"/>
          <a:stretch>
            <a:fillRect/>
          </a:stretch>
        </p:blipFill>
        <p:spPr>
          <a:xfrm>
            <a:off x="9129713" y="571500"/>
            <a:ext cx="14288" cy="4000500"/>
          </a:xfrm>
          <a:prstGeom prst="rect">
            <a:avLst/>
          </a:prstGeom>
        </p:spPr>
      </p:pic>
      <p:sp>
        <p:nvSpPr>
          <p:cNvPr id="9" name="Text 3"/>
          <p:cNvSpPr/>
          <p:nvPr/>
        </p:nvSpPr>
        <p:spPr>
          <a:xfrm>
            <a:off x="5629275" y="1622022"/>
            <a:ext cx="766864" cy="129731"/>
          </a:xfrm>
          <a:prstGeom prst="rect">
            <a:avLst/>
          </a:prstGeom>
          <a:noFill/>
          <a:ln/>
        </p:spPr>
        <p:txBody>
          <a:bodyPr wrap="none" lIns="0" tIns="0" rIns="0" bIns="0" rtlCol="0" anchor="t">
            <a:normAutofit/>
          </a:bodyPr>
          <a:lstStyle/>
          <a:p>
            <a:pPr algn="l" indent="0" marL="0">
              <a:lnSpc>
                <a:spcPts val="1013"/>
              </a:lnSpc>
              <a:buNone/>
            </a:pPr>
            <a:r>
              <a:rPr lang="en-US" sz="800" spc="169" kern="0" dirty="0">
                <a:solidFill>
                  <a:srgbClr val="5B6B96"/>
                </a:solidFill>
                <a:latin typeface="Courier New" pitchFamily="34" charset="0"/>
                <a:ea typeface="Courier New" pitchFamily="34" charset="-122"/>
                <a:cs typeface="Courier New" pitchFamily="34" charset="-120"/>
              </a:rPr>
              <a:t>PART TWO</a:t>
            </a:r>
            <a:endParaRPr lang="en-US" sz="800" dirty="0"/>
          </a:p>
        </p:txBody>
      </p:sp>
      <p:sp>
        <p:nvSpPr>
          <p:cNvPr id="10" name="Text 4"/>
          <p:cNvSpPr/>
          <p:nvPr/>
        </p:nvSpPr>
        <p:spPr>
          <a:xfrm>
            <a:off x="5202347" y="1766383"/>
            <a:ext cx="1368207" cy="293494"/>
          </a:xfrm>
          <a:prstGeom prst="roundRect">
            <a:avLst>
              <a:gd name="adj" fmla="val 3242136"/>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11" name="Text 5"/>
          <p:cNvSpPr/>
          <p:nvPr/>
        </p:nvSpPr>
        <p:spPr>
          <a:xfrm>
            <a:off x="5347249" y="1850622"/>
            <a:ext cx="921239" cy="143490"/>
          </a:xfrm>
          <a:prstGeom prst="rect">
            <a:avLst/>
          </a:prstGeom>
          <a:noFill/>
          <a:ln/>
        </p:spPr>
        <p:txBody>
          <a:bodyPr wrap="none" lIns="0" tIns="0" rIns="0" bIns="0" rtlCol="0" anchor="t"/>
          <a:lstStyle/>
          <a:p>
            <a:pPr algn="l" indent="0" marL="0">
              <a:lnSpc>
                <a:spcPts val="1097"/>
              </a:lnSpc>
              <a:buNone/>
            </a:pPr>
            <a:r>
              <a:rPr lang="en-US" sz="731" spc="84" kern="0" dirty="0">
                <a:solidFill>
                  <a:srgbClr val="B845FF"/>
                </a:solidFill>
                <a:latin typeface="Liberation Sans Narrow" pitchFamily="34" charset="0"/>
                <a:ea typeface="Liberation Sans Narrow" pitchFamily="34" charset="-122"/>
                <a:cs typeface="Liberation Sans Narrow" pitchFamily="34" charset="-120"/>
              </a:rPr>
              <a:t>CHAPTER 02 / 04</a:t>
            </a:r>
            <a:endParaRPr lang="en-US" sz="731" dirty="0"/>
          </a:p>
        </p:txBody>
      </p:sp>
      <p:sp>
        <p:nvSpPr>
          <p:cNvPr id="12" name="Text 6"/>
          <p:cNvSpPr/>
          <p:nvPr/>
        </p:nvSpPr>
        <p:spPr>
          <a:xfrm>
            <a:off x="6311950" y="1863123"/>
            <a:ext cx="100013" cy="100013"/>
          </a:xfrm>
          <a:prstGeom prst="rect">
            <a:avLst/>
          </a:prstGeom>
          <a:noFill/>
          <a:ln/>
        </p:spPr>
        <p:txBody>
          <a:bodyPr wrap="none" lIns="0" tIns="0" rIns="0" bIns="0" rtlCol="0" anchor="ctr"/>
          <a:lstStyle/>
          <a:p>
            <a:pPr algn="ctr" indent="0" marL="0">
              <a:buNone/>
            </a:pPr>
            <a:r>
              <a:rPr lang="en-US" sz="984" dirty="0">
                <a:solidFill>
                  <a:srgbClr val="B845FF"/>
                </a:solidFill>
                <a:latin typeface="Segoe UI Symbol" pitchFamily="34" charset="0"/>
                <a:ea typeface="Segoe UI Symbol" pitchFamily="34" charset="-122"/>
                <a:cs typeface="Segoe UI Symbol" pitchFamily="34" charset="-120"/>
              </a:rPr>
              <a:t>❏</a:t>
            </a:r>
            <a:endParaRPr lang="en-US" sz="984" dirty="0"/>
          </a:p>
        </p:txBody>
      </p:sp>
      <p:sp>
        <p:nvSpPr>
          <p:cNvPr id="13" name="Text 7"/>
          <p:cNvSpPr/>
          <p:nvPr/>
        </p:nvSpPr>
        <p:spPr>
          <a:xfrm>
            <a:off x="2903220" y="2204238"/>
            <a:ext cx="5966460" cy="543081"/>
          </a:xfrm>
          <a:prstGeom prst="rect">
            <a:avLst/>
          </a:prstGeom>
          <a:noFill/>
          <a:ln/>
        </p:spPr>
        <p:txBody>
          <a:bodyPr wrap="none" lIns="0" tIns="0" rIns="0" bIns="0" rtlCol="0" anchor="t"/>
          <a:lstStyle/>
          <a:p>
            <a:pPr algn="ctr" indent="0" marL="0">
              <a:lnSpc>
                <a:spcPts val="3960"/>
              </a:lnSpc>
              <a:buNone/>
            </a:pPr>
            <a:r>
              <a:rPr lang="en-US" sz="3600" b="1" dirty="0">
                <a:solidFill>
                  <a:srgbClr val="00D9FF"/>
                </a:solidFill>
                <a:latin typeface="Carlito" pitchFamily="34" charset="0"/>
                <a:ea typeface="Carlito" pitchFamily="34" charset="-122"/>
                <a:cs typeface="Carlito" pitchFamily="34" charset="-120"/>
              </a:rPr>
              <a:t>إعداد البيانات</a:t>
            </a:r>
            <a:endParaRPr lang="en-US" sz="3600" dirty="0"/>
          </a:p>
        </p:txBody>
      </p:sp>
      <p:pic>
        <p:nvPicPr>
          <p:cNvPr id="14" name="Image 4" descr="preencoded.png">    </p:cNvPr>
          <p:cNvPicPr>
            <a:picLocks noChangeAspect="1"/>
          </p:cNvPicPr>
          <p:nvPr/>
        </p:nvPicPr>
        <p:blipFill>
          <a:blip r:embed="rId5"/>
          <a:stretch>
            <a:fillRect/>
          </a:stretch>
        </p:blipFill>
        <p:spPr>
          <a:xfrm>
            <a:off x="5172075" y="2878541"/>
            <a:ext cx="1428750" cy="14288"/>
          </a:xfrm>
          <a:prstGeom prst="rect">
            <a:avLst/>
          </a:prstGeom>
        </p:spPr>
      </p:pic>
      <p:sp>
        <p:nvSpPr>
          <p:cNvPr id="15" name="Text 8"/>
          <p:cNvSpPr/>
          <p:nvPr/>
        </p:nvSpPr>
        <p:spPr>
          <a:xfrm>
            <a:off x="3743325" y="3064278"/>
            <a:ext cx="4286250" cy="493776"/>
          </a:xfrm>
          <a:prstGeom prst="rect">
            <a:avLst/>
          </a:prstGeom>
          <a:noFill/>
          <a:ln/>
        </p:spPr>
        <p:txBody>
          <a:bodyPr wrap="square" lIns="0" tIns="0" rIns="0" bIns="0" rtlCol="0" anchor="t"/>
          <a:lstStyle/>
          <a:p>
            <a:pPr algn="ctr" indent="0" marL="0">
              <a:lnSpc>
                <a:spcPts val="1800"/>
              </a:lnSpc>
              <a:buNone/>
            </a:pPr>
            <a:r>
              <a:rPr lang="en-US" sz="1125" dirty="0">
                <a:solidFill>
                  <a:srgbClr val="8AA0CC"/>
                </a:solidFill>
                <a:latin typeface="Carlito" pitchFamily="34" charset="0"/>
                <a:ea typeface="Carlito" pitchFamily="34" charset="-122"/>
                <a:cs typeface="Carlito" pitchFamily="34" charset="-120"/>
              </a:rPr>
              <a:t>البيانات هي الوقود — بدون بيانات جيدة، لا يوجد ذكاء اصطناعي جيد.</a:t>
            </a:r>
            <a:endParaRPr lang="en-US" sz="1125" dirty="0"/>
          </a:p>
        </p:txBody>
      </p:sp>
      <p:sp>
        <p:nvSpPr>
          <p:cNvPr id="16" name="Text 9"/>
          <p:cNvSpPr/>
          <p:nvPr/>
        </p:nvSpPr>
        <p:spPr>
          <a:xfrm>
            <a:off x="6705191" y="4209155"/>
            <a:ext cx="1094445" cy="318497"/>
          </a:xfrm>
          <a:prstGeom prst="roundRect">
            <a:avLst>
              <a:gd name="adj" fmla="val 2987618"/>
            </a:avLst>
          </a:prstGeom>
          <a:solidFill>
            <a:srgbClr val="111638">
              <a:alpha val="60000"/>
            </a:srgbClr>
          </a:solidFill>
          <a:ln w="7144">
            <a:solidFill>
              <a:srgbClr val="00D9FF"/>
            </a:solidFill>
            <a:prstDash val="solid"/>
          </a:ln>
        </p:spPr>
        <p:txBody>
          <a:bodyPr wrap="square" rtlCol="0" anchor="ctr"/>
          <a:lstStyle/>
          <a:p>
            <a:pPr indent="0" marL="0">
              <a:buNone/>
            </a:pPr>
            <a:endParaRPr lang="en-US" dirty="0"/>
          </a:p>
        </p:txBody>
      </p:sp>
      <p:sp>
        <p:nvSpPr>
          <p:cNvPr id="17" name="Text 10"/>
          <p:cNvSpPr/>
          <p:nvPr/>
        </p:nvSpPr>
        <p:spPr>
          <a:xfrm>
            <a:off x="7556748" y="4314825"/>
            <a:ext cx="107156" cy="107156"/>
          </a:xfrm>
          <a:prstGeom prst="rect">
            <a:avLst/>
          </a:prstGeom>
          <a:noFill/>
          <a:ln/>
        </p:spPr>
        <p:txBody>
          <a:bodyPr wrap="none" lIns="0" tIns="0" rIns="0" bIns="0" rtlCol="0" anchor="ctr"/>
          <a:lstStyle/>
          <a:p>
            <a:pPr algn="ctr" indent="0" marL="0">
              <a:buNone/>
            </a:pPr>
            <a:r>
              <a:rPr lang="en-US" sz="1055" dirty="0">
                <a:solidFill>
                  <a:srgbClr val="00D9FF"/>
                </a:solidFill>
                <a:latin typeface="Segoe UI Symbol" pitchFamily="34" charset="0"/>
                <a:ea typeface="Segoe UI Symbol" pitchFamily="34" charset="-122"/>
                <a:cs typeface="Segoe UI Symbol" pitchFamily="34" charset="-120"/>
              </a:rPr>
              <a:t>↓</a:t>
            </a:r>
            <a:endParaRPr lang="en-US" sz="1055" dirty="0"/>
          </a:p>
        </p:txBody>
      </p:sp>
      <p:sp>
        <p:nvSpPr>
          <p:cNvPr id="18" name="Text 11"/>
          <p:cNvSpPr/>
          <p:nvPr/>
        </p:nvSpPr>
        <p:spPr>
          <a:xfrm>
            <a:off x="6840922" y="4293394"/>
            <a:ext cx="822982" cy="150019"/>
          </a:xfrm>
          <a:prstGeom prst="rect">
            <a:avLst/>
          </a:prstGeom>
          <a:noFill/>
          <a:ln/>
        </p:spPr>
        <p:txBody>
          <a:bodyPr wrap="none" lIns="0" tIns="0" rIns="0" bIns="0" rtlCol="0" anchor="t"/>
          <a:lstStyle/>
          <a:p>
            <a:pPr algn="l" indent="0" marL="0">
              <a:lnSpc>
                <a:spcPts val="1181"/>
              </a:lnSpc>
              <a:buNone/>
            </a:pPr>
            <a:r>
              <a:rPr lang="en-US" sz="800" dirty="0">
                <a:solidFill>
                  <a:srgbClr val="EAF6FF"/>
                </a:solidFill>
                <a:latin typeface="Carlito" pitchFamily="34" charset="0"/>
                <a:ea typeface="Carlito" pitchFamily="34" charset="-122"/>
                <a:cs typeface="Carlito" pitchFamily="34" charset="-120"/>
              </a:rPr>
              <a:t>جمع البيانات</a:t>
            </a:r>
            <a:endParaRPr lang="en-US" sz="800" dirty="0"/>
          </a:p>
        </p:txBody>
      </p:sp>
      <p:sp>
        <p:nvSpPr>
          <p:cNvPr id="19" name="Text 12"/>
          <p:cNvSpPr/>
          <p:nvPr/>
        </p:nvSpPr>
        <p:spPr>
          <a:xfrm>
            <a:off x="5396433" y="4209155"/>
            <a:ext cx="1208745" cy="318497"/>
          </a:xfrm>
          <a:prstGeom prst="roundRect">
            <a:avLst>
              <a:gd name="adj" fmla="val 2987618"/>
            </a:avLst>
          </a:prstGeom>
          <a:solidFill>
            <a:srgbClr val="111638">
              <a:alpha val="60000"/>
            </a:srgbClr>
          </a:solidFill>
          <a:ln w="7144">
            <a:solidFill>
              <a:srgbClr val="B845FF"/>
            </a:solidFill>
            <a:prstDash val="solid"/>
          </a:ln>
        </p:spPr>
        <p:txBody>
          <a:bodyPr wrap="square" rtlCol="0" anchor="ctr"/>
          <a:lstStyle/>
          <a:p>
            <a:pPr indent="0" marL="0">
              <a:buNone/>
            </a:pPr>
            <a:endParaRPr lang="en-US" dirty="0"/>
          </a:p>
        </p:txBody>
      </p:sp>
      <p:sp>
        <p:nvSpPr>
          <p:cNvPr id="20" name="Text 13"/>
          <p:cNvSpPr/>
          <p:nvPr/>
        </p:nvSpPr>
        <p:spPr>
          <a:xfrm>
            <a:off x="6362291" y="4314825"/>
            <a:ext cx="107156" cy="107156"/>
          </a:xfrm>
          <a:prstGeom prst="rect">
            <a:avLst/>
          </a:prstGeom>
          <a:noFill/>
          <a:ln/>
        </p:spPr>
        <p:txBody>
          <a:bodyPr wrap="none" lIns="0" tIns="0" rIns="0" bIns="0" rtlCol="0" anchor="ctr"/>
          <a:lstStyle/>
          <a:p>
            <a:pPr algn="ctr" indent="0" marL="0">
              <a:buNone/>
            </a:pPr>
            <a:r>
              <a:rPr lang="en-US" sz="1055" dirty="0">
                <a:solidFill>
                  <a:srgbClr val="B845FF"/>
                </a:solidFill>
                <a:latin typeface="Segoe UI Symbol" pitchFamily="34" charset="0"/>
                <a:ea typeface="Segoe UI Symbol" pitchFamily="34" charset="-122"/>
                <a:cs typeface="Segoe UI Symbol" pitchFamily="34" charset="-120"/>
              </a:rPr>
              <a:t>❄</a:t>
            </a:r>
            <a:endParaRPr lang="en-US" sz="1055" dirty="0"/>
          </a:p>
        </p:txBody>
      </p:sp>
      <p:sp>
        <p:nvSpPr>
          <p:cNvPr id="21" name="Text 14"/>
          <p:cNvSpPr/>
          <p:nvPr/>
        </p:nvSpPr>
        <p:spPr>
          <a:xfrm>
            <a:off x="5532165" y="4293394"/>
            <a:ext cx="937282" cy="150019"/>
          </a:xfrm>
          <a:prstGeom prst="rect">
            <a:avLst/>
          </a:prstGeom>
          <a:noFill/>
          <a:ln/>
        </p:spPr>
        <p:txBody>
          <a:bodyPr wrap="none" lIns="0" tIns="0" rIns="0" bIns="0" rtlCol="0" anchor="t"/>
          <a:lstStyle/>
          <a:p>
            <a:pPr algn="l" indent="0" marL="0">
              <a:lnSpc>
                <a:spcPts val="1181"/>
              </a:lnSpc>
              <a:buNone/>
            </a:pPr>
            <a:r>
              <a:rPr lang="en-US" sz="800" dirty="0">
                <a:solidFill>
                  <a:srgbClr val="EAF6FF"/>
                </a:solidFill>
                <a:latin typeface="Carlito" pitchFamily="34" charset="0"/>
                <a:ea typeface="Carlito" pitchFamily="34" charset="-122"/>
                <a:cs typeface="Carlito" pitchFamily="34" charset="-120"/>
              </a:rPr>
              <a:t>التنظيف والوسم</a:t>
            </a:r>
            <a:endParaRPr lang="en-US" sz="800" dirty="0"/>
          </a:p>
        </p:txBody>
      </p:sp>
      <p:sp>
        <p:nvSpPr>
          <p:cNvPr id="22" name="Text 15"/>
          <p:cNvSpPr/>
          <p:nvPr/>
        </p:nvSpPr>
        <p:spPr>
          <a:xfrm>
            <a:off x="3973376" y="4209155"/>
            <a:ext cx="1323045" cy="318497"/>
          </a:xfrm>
          <a:prstGeom prst="roundRect">
            <a:avLst>
              <a:gd name="adj" fmla="val 2987618"/>
            </a:avLst>
          </a:prstGeom>
          <a:solidFill>
            <a:srgbClr val="111638">
              <a:alpha val="60000"/>
            </a:srgbClr>
          </a:solidFill>
          <a:ln w="7144">
            <a:solidFill>
              <a:srgbClr val="FFD166"/>
            </a:solidFill>
            <a:prstDash val="solid"/>
          </a:ln>
        </p:spPr>
        <p:txBody>
          <a:bodyPr wrap="square" rtlCol="0" anchor="ctr"/>
          <a:lstStyle/>
          <a:p>
            <a:pPr indent="0" marL="0">
              <a:buNone/>
            </a:pPr>
            <a:endParaRPr lang="en-US" dirty="0"/>
          </a:p>
        </p:txBody>
      </p:sp>
      <p:sp>
        <p:nvSpPr>
          <p:cNvPr id="23" name="Text 16"/>
          <p:cNvSpPr/>
          <p:nvPr/>
        </p:nvSpPr>
        <p:spPr>
          <a:xfrm>
            <a:off x="5053533" y="4314825"/>
            <a:ext cx="107156" cy="107156"/>
          </a:xfrm>
          <a:prstGeom prst="rect">
            <a:avLst/>
          </a:prstGeom>
          <a:noFill/>
          <a:ln/>
        </p:spPr>
        <p:txBody>
          <a:bodyPr wrap="none" lIns="0" tIns="0" rIns="0" bIns="0" rtlCol="0" anchor="ctr"/>
          <a:lstStyle/>
          <a:p>
            <a:pPr algn="ctr" indent="0" marL="0">
              <a:buNone/>
            </a:pPr>
            <a:r>
              <a:rPr lang="en-US" sz="1055" dirty="0">
                <a:solidFill>
                  <a:srgbClr val="FFD166"/>
                </a:solidFill>
                <a:latin typeface="Segoe UI Symbol" pitchFamily="34" charset="0"/>
                <a:ea typeface="Segoe UI Symbol" pitchFamily="34" charset="-122"/>
                <a:cs typeface="Segoe UI Symbol" pitchFamily="34" charset="-120"/>
              </a:rPr>
              <a:t>⇄</a:t>
            </a:r>
            <a:endParaRPr lang="en-US" sz="1055" dirty="0"/>
          </a:p>
        </p:txBody>
      </p:sp>
      <p:sp>
        <p:nvSpPr>
          <p:cNvPr id="24" name="Text 17"/>
          <p:cNvSpPr/>
          <p:nvPr/>
        </p:nvSpPr>
        <p:spPr>
          <a:xfrm>
            <a:off x="4109107" y="4293394"/>
            <a:ext cx="1051582" cy="150019"/>
          </a:xfrm>
          <a:prstGeom prst="rect">
            <a:avLst/>
          </a:prstGeom>
          <a:noFill/>
          <a:ln/>
        </p:spPr>
        <p:txBody>
          <a:bodyPr wrap="none" lIns="0" tIns="0" rIns="0" bIns="0" rtlCol="0" anchor="t"/>
          <a:lstStyle/>
          <a:p>
            <a:pPr algn="l" indent="0" marL="0">
              <a:lnSpc>
                <a:spcPts val="1181"/>
              </a:lnSpc>
              <a:buNone/>
            </a:pPr>
            <a:r>
              <a:rPr lang="en-US" sz="800" dirty="0">
                <a:solidFill>
                  <a:srgbClr val="EAF6FF"/>
                </a:solidFill>
                <a:latin typeface="Carlito" pitchFamily="34" charset="0"/>
                <a:ea typeface="Carlito" pitchFamily="34" charset="-122"/>
                <a:cs typeface="Carlito" pitchFamily="34" charset="-120"/>
              </a:rPr>
              <a:t>التقسيم والتدعيم</a:t>
            </a:r>
            <a:endParaRPr lang="en-US" sz="800" dirty="0"/>
          </a:p>
        </p:txBody>
      </p:sp>
      <p:sp>
        <p:nvSpPr>
          <p:cNvPr id="25" name="Text 18"/>
          <p:cNvSpPr/>
          <p:nvPr/>
        </p:nvSpPr>
        <p:spPr>
          <a:xfrm>
            <a:off x="8351705" y="4857750"/>
            <a:ext cx="433588"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صفحة 05</a:t>
            </a:r>
            <a:endParaRPr lang="en-US" sz="800" dirty="0"/>
          </a:p>
        </p:txBody>
      </p:sp>
      <p:sp>
        <p:nvSpPr>
          <p:cNvPr id="26" name="Text 19"/>
          <p:cNvSpPr/>
          <p:nvPr/>
        </p:nvSpPr>
        <p:spPr>
          <a:xfrm>
            <a:off x="989075" y="4900613"/>
            <a:ext cx="42863" cy="42863"/>
          </a:xfrm>
          <a:prstGeom prst="roundRect">
            <a:avLst>
              <a:gd name="adj" fmla="val 66666"/>
            </a:avLst>
          </a:prstGeom>
          <a:solidFill>
            <a:srgbClr val="00D9FF"/>
          </a:solidFill>
          <a:ln/>
        </p:spPr>
        <p:txBody>
          <a:bodyPr wrap="square" rtlCol="0" anchor="ctr"/>
          <a:lstStyle/>
          <a:p>
            <a:pPr indent="0" marL="0">
              <a:buNone/>
            </a:pPr>
            <a:endParaRPr lang="en-US" dirty="0"/>
          </a:p>
        </p:txBody>
      </p:sp>
      <p:sp>
        <p:nvSpPr>
          <p:cNvPr id="27" name="Text 20"/>
          <p:cNvSpPr/>
          <p:nvPr/>
        </p:nvSpPr>
        <p:spPr>
          <a:xfrm>
            <a:off x="457200" y="4857750"/>
            <a:ext cx="7886700"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 AI SKILLS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65000"/>
          </a:blip>
          <a:stretch>
            <a:fillRect/>
          </a:stretch>
        </p:blipFill>
        <p:spPr>
          <a:xfrm>
            <a:off x="2571750" y="4000500"/>
            <a:ext cx="4000500" cy="2571750"/>
          </a:xfrm>
          <a:prstGeom prst="rect">
            <a:avLst/>
          </a:prstGeom>
        </p:spPr>
      </p:pic>
      <p:sp>
        <p:nvSpPr>
          <p:cNvPr id="4" name="Text 0"/>
          <p:cNvSpPr/>
          <p:nvPr/>
        </p:nvSpPr>
        <p:spPr>
          <a:xfrm>
            <a:off x="2571750" y="4000500"/>
            <a:ext cx="4000500" cy="2571750"/>
          </a:xfrm>
          <a:prstGeom prst="roundRect">
            <a:avLst>
              <a:gd name="adj" fmla="val 35556"/>
            </a:avLst>
          </a:prstGeom>
          <a:solidFill>
            <a:srgbClr val="FFFFFF">
              <a:alpha val="0"/>
            </a:srgbClr>
          </a:solidFill>
          <a:ln/>
        </p:spPr>
        <p:txBody>
          <a:bodyPr wrap="square" rtlCol="0" anchor="ctr"/>
          <a:lstStyle/>
          <a:p>
            <a:pPr indent="0" marL="0">
              <a:buNone/>
            </a:pPr>
            <a:endParaRPr lang="en-US" dirty="0"/>
          </a:p>
        </p:txBody>
      </p:sp>
      <p:sp>
        <p:nvSpPr>
          <p:cNvPr id="5" name="Text 1"/>
          <p:cNvSpPr/>
          <p:nvPr/>
        </p:nvSpPr>
        <p:spPr>
          <a:xfrm>
            <a:off x="7689265" y="387248"/>
            <a:ext cx="1020395" cy="264919"/>
          </a:xfrm>
          <a:prstGeom prst="roundRect">
            <a:avLst>
              <a:gd name="adj" fmla="val 3591843"/>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6" name="Text 2"/>
          <p:cNvSpPr/>
          <p:nvPr/>
        </p:nvSpPr>
        <p:spPr>
          <a:xfrm>
            <a:off x="7681630" y="457200"/>
            <a:ext cx="878501" cy="143490"/>
          </a:xfrm>
          <a:prstGeom prst="rect">
            <a:avLst/>
          </a:prstGeom>
          <a:noFill/>
          <a:ln/>
        </p:spPr>
        <p:txBody>
          <a:bodyPr wrap="none" lIns="0" tIns="0" rIns="0" bIns="0" rtlCol="0" anchor="t"/>
          <a:lstStyle/>
          <a:p>
            <a:pPr algn="l" indent="0" marL="0">
              <a:lnSpc>
                <a:spcPts val="1097"/>
              </a:lnSpc>
              <a:buNone/>
            </a:pPr>
            <a:r>
              <a:rPr lang="en-US" sz="731" dirty="0">
                <a:solidFill>
                  <a:srgbClr val="B845FF"/>
                </a:solidFill>
                <a:latin typeface="Carlito" pitchFamily="34" charset="0"/>
                <a:ea typeface="Carlito" pitchFamily="34" charset="-122"/>
                <a:cs typeface="Carlito" pitchFamily="34" charset="-120"/>
              </a:rPr>
              <a:t>DATA PIPELINE</a:t>
            </a:r>
            <a:endParaRPr lang="en-US" sz="731" dirty="0"/>
          </a:p>
        </p:txBody>
      </p:sp>
      <p:sp>
        <p:nvSpPr>
          <p:cNvPr id="7" name="Text 3"/>
          <p:cNvSpPr/>
          <p:nvPr/>
        </p:nvSpPr>
        <p:spPr>
          <a:xfrm>
            <a:off x="8479631" y="469702"/>
            <a:ext cx="100013" cy="100013"/>
          </a:xfrm>
          <a:prstGeom prst="rect">
            <a:avLst/>
          </a:prstGeom>
          <a:noFill/>
          <a:ln/>
        </p:spPr>
        <p:txBody>
          <a:bodyPr wrap="none" lIns="0" tIns="0" rIns="0" bIns="0" rtlCol="0" anchor="ctr"/>
          <a:lstStyle/>
          <a:p>
            <a:pPr algn="ctr" indent="0" marL="0">
              <a:buNone/>
            </a:pPr>
            <a:r>
              <a:rPr lang="en-US" sz="984" dirty="0">
                <a:solidFill>
                  <a:srgbClr val="B845FF"/>
                </a:solidFill>
                <a:latin typeface="Segoe UI Symbol" pitchFamily="34" charset="0"/>
                <a:ea typeface="Segoe UI Symbol" pitchFamily="34" charset="-122"/>
                <a:cs typeface="Segoe UI Symbol" pitchFamily="34" charset="-120"/>
              </a:rPr>
              <a:t>✿</a:t>
            </a:r>
            <a:endParaRPr lang="en-US" sz="984" dirty="0"/>
          </a:p>
        </p:txBody>
      </p:sp>
      <p:sp>
        <p:nvSpPr>
          <p:cNvPr id="8" name="Text 4"/>
          <p:cNvSpPr/>
          <p:nvPr/>
        </p:nvSpPr>
        <p:spPr>
          <a:xfrm>
            <a:off x="4520766" y="710803"/>
            <a:ext cx="4374336" cy="311115"/>
          </a:xfrm>
          <a:prstGeom prst="rect">
            <a:avLst/>
          </a:prstGeom>
          <a:noFill/>
          <a:ln/>
        </p:spPr>
        <p:txBody>
          <a:bodyPr wrap="none" lIns="0" tIns="0" rIns="0" bIns="0" rtlCol="0" anchor="t">
            <a:normAutofit/>
          </a:bodyPr>
          <a:lstStyle/>
          <a:p>
            <a:pPr algn="l" indent="0" marL="0">
              <a:lnSpc>
                <a:spcPts val="2329"/>
              </a:lnSpc>
              <a:buNone/>
            </a:pPr>
            <a:r>
              <a:rPr lang="en-US" sz="2025" b="1" dirty="0">
                <a:solidFill>
                  <a:srgbClr val="00D9FF"/>
                </a:solidFill>
                <a:latin typeface="Carlito" pitchFamily="34" charset="0"/>
                <a:ea typeface="Carlito" pitchFamily="34" charset="-122"/>
                <a:cs typeface="Carlito" pitchFamily="34" charset="-120"/>
              </a:rPr>
              <a:t>خط أنابيب إعداد البيانات</a:t>
            </a:r>
            <a:endParaRPr lang="en-US" sz="2025" dirty="0"/>
          </a:p>
        </p:txBody>
      </p:sp>
      <p:sp>
        <p:nvSpPr>
          <p:cNvPr id="9" name="Text 5"/>
          <p:cNvSpPr/>
          <p:nvPr/>
        </p:nvSpPr>
        <p:spPr>
          <a:xfrm>
            <a:off x="4520766" y="1049350"/>
            <a:ext cx="4166034" cy="185166"/>
          </a:xfrm>
          <a:prstGeom prst="rect">
            <a:avLst/>
          </a:prstGeom>
          <a:noFill/>
          <a:ln/>
        </p:spPr>
        <p:txBody>
          <a:bodyPr wrap="square" lIns="0" tIns="0" rIns="0" bIns="0" rtlCol="0" anchor="t"/>
          <a:lstStyle/>
          <a:p>
            <a:pPr algn="l" indent="0" marL="0">
              <a:lnSpc>
                <a:spcPts val="1350"/>
              </a:lnSpc>
              <a:buNone/>
            </a:pPr>
            <a:r>
              <a:rPr lang="en-US" sz="900" dirty="0">
                <a:solidFill>
                  <a:srgbClr val="8AA0CC"/>
                </a:solidFill>
                <a:latin typeface="Carlito" pitchFamily="34" charset="0"/>
                <a:ea typeface="Carlito" pitchFamily="34" charset="-122"/>
                <a:cs typeface="Carlito" pitchFamily="34" charset="-120"/>
              </a:rPr>
              <a:t>خمس مراحل أساسية لتحويل البيانات الخام إلى بيانات قابلة للتدريب</a:t>
            </a:r>
            <a:endParaRPr lang="en-US" sz="900" dirty="0"/>
          </a:p>
        </p:txBody>
      </p:sp>
      <p:sp>
        <p:nvSpPr>
          <p:cNvPr id="10" name="Text 6"/>
          <p:cNvSpPr/>
          <p:nvPr/>
        </p:nvSpPr>
        <p:spPr>
          <a:xfrm>
            <a:off x="460772" y="956481"/>
            <a:ext cx="2133079" cy="260747"/>
          </a:xfrm>
          <a:prstGeom prst="roundRect">
            <a:avLst>
              <a:gd name="adj" fmla="val 3649313"/>
            </a:avLst>
          </a:prstGeom>
          <a:solidFill>
            <a:srgbClr val="FFD166">
              <a:alpha val="12000"/>
            </a:srgbClr>
          </a:solidFill>
          <a:ln w="7144">
            <a:solidFill>
              <a:srgbClr val="FFD166"/>
            </a:solidFill>
            <a:prstDash val="solid"/>
          </a:ln>
        </p:spPr>
        <p:txBody>
          <a:bodyPr wrap="square" rtlCol="0" anchor="ctr"/>
          <a:lstStyle/>
          <a:p>
            <a:pPr indent="0" marL="0">
              <a:buNone/>
            </a:pPr>
            <a:endParaRPr lang="en-US" dirty="0"/>
          </a:p>
        </p:txBody>
      </p:sp>
      <p:sp>
        <p:nvSpPr>
          <p:cNvPr id="11" name="Text 7"/>
          <p:cNvSpPr/>
          <p:nvPr/>
        </p:nvSpPr>
        <p:spPr>
          <a:xfrm>
            <a:off x="2375967" y="1036848"/>
            <a:ext cx="100013" cy="100013"/>
          </a:xfrm>
          <a:prstGeom prst="rect">
            <a:avLst/>
          </a:prstGeom>
          <a:noFill/>
          <a:ln/>
        </p:spPr>
        <p:txBody>
          <a:bodyPr wrap="none" lIns="0" tIns="0" rIns="0" bIns="0" rtlCol="0" anchor="ctr"/>
          <a:lstStyle/>
          <a:p>
            <a:pPr algn="ctr" indent="0" marL="0">
              <a:buNone/>
            </a:pPr>
            <a:r>
              <a:rPr lang="en-US" sz="984" dirty="0">
                <a:solidFill>
                  <a:srgbClr val="FFD166"/>
                </a:solidFill>
                <a:latin typeface="Segoe UI Symbol" pitchFamily="34" charset="0"/>
                <a:ea typeface="Segoe UI Symbol" pitchFamily="34" charset="-122"/>
                <a:cs typeface="Segoe UI Symbol" pitchFamily="34" charset="-120"/>
              </a:rPr>
              <a:t>◔</a:t>
            </a:r>
            <a:endParaRPr lang="en-US" sz="984" dirty="0"/>
          </a:p>
        </p:txBody>
      </p:sp>
      <p:sp>
        <p:nvSpPr>
          <p:cNvPr id="12" name="Text 8"/>
          <p:cNvSpPr/>
          <p:nvPr/>
        </p:nvSpPr>
        <p:spPr>
          <a:xfrm>
            <a:off x="578644" y="1017203"/>
            <a:ext cx="1879387" cy="139303"/>
          </a:xfrm>
          <a:prstGeom prst="rect">
            <a:avLst/>
          </a:prstGeom>
          <a:noFill/>
          <a:ln/>
        </p:spPr>
        <p:txBody>
          <a:bodyPr wrap="none" lIns="0" tIns="0" rIns="0" bIns="0" rtlCol="0" anchor="t"/>
          <a:lstStyle/>
          <a:p>
            <a:pPr algn="l" indent="0" marL="0">
              <a:lnSpc>
                <a:spcPts val="1097"/>
              </a:lnSpc>
              <a:buNone/>
            </a:pPr>
            <a:r>
              <a:rPr lang="en-US" sz="800" dirty="0">
                <a:solidFill>
                  <a:srgbClr val="FFD166"/>
                </a:solidFill>
                <a:latin typeface="Carlito" pitchFamily="34" charset="0"/>
                <a:ea typeface="Carlito" pitchFamily="34" charset="-122"/>
                <a:cs typeface="Carlito" pitchFamily="34" charset="-120"/>
              </a:rPr>
              <a:t>وقت التحضير: 60-80% من وقت المشروع</a:t>
            </a:r>
            <a:endParaRPr lang="en-US" sz="800" dirty="0"/>
          </a:p>
        </p:txBody>
      </p:sp>
      <p:pic>
        <p:nvPicPr>
          <p:cNvPr id="13" name="Image 2" descr="preencoded.png">    </p:cNvPr>
          <p:cNvPicPr>
            <a:picLocks noChangeAspect="1"/>
          </p:cNvPicPr>
          <p:nvPr/>
        </p:nvPicPr>
        <p:blipFill>
          <a:blip r:embed="rId3"/>
          <a:stretch>
            <a:fillRect/>
          </a:stretch>
        </p:blipFill>
        <p:spPr>
          <a:xfrm>
            <a:off x="457200" y="1320812"/>
            <a:ext cx="8229600" cy="14288"/>
          </a:xfrm>
          <a:prstGeom prst="rect">
            <a:avLst/>
          </a:prstGeom>
        </p:spPr>
      </p:pic>
      <p:sp>
        <p:nvSpPr>
          <p:cNvPr id="14" name="Text 9"/>
          <p:cNvSpPr/>
          <p:nvPr/>
        </p:nvSpPr>
        <p:spPr>
          <a:xfrm>
            <a:off x="7333059" y="1567272"/>
            <a:ext cx="1350169" cy="2064544"/>
          </a:xfrm>
          <a:prstGeom prst="roundRect">
            <a:avLst>
              <a:gd name="adj" fmla="val 11287"/>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pic>
        <p:nvPicPr>
          <p:cNvPr id="15" name="Image 3" descr="preencoded.png">    </p:cNvPr>
          <p:cNvPicPr>
            <a:picLocks noChangeAspect="1"/>
          </p:cNvPicPr>
          <p:nvPr/>
        </p:nvPicPr>
        <p:blipFill>
          <a:blip r:embed="rId4"/>
          <a:stretch>
            <a:fillRect/>
          </a:stretch>
        </p:blipFill>
        <p:spPr>
          <a:xfrm>
            <a:off x="7850981" y="1685144"/>
            <a:ext cx="314325" cy="314325"/>
          </a:xfrm>
          <a:prstGeom prst="rect">
            <a:avLst/>
          </a:prstGeom>
        </p:spPr>
      </p:pic>
      <p:sp>
        <p:nvSpPr>
          <p:cNvPr id="16" name="Text 10"/>
          <p:cNvSpPr/>
          <p:nvPr/>
        </p:nvSpPr>
        <p:spPr>
          <a:xfrm>
            <a:off x="7850981" y="1685144"/>
            <a:ext cx="314325" cy="31432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01</a:t>
            </a:r>
            <a:endParaRPr lang="en-US" sz="900" dirty="0"/>
          </a:p>
        </p:txBody>
      </p:sp>
      <p:pic>
        <p:nvPicPr>
          <p:cNvPr id="17" name="Image 4" descr="preencoded.png">    </p:cNvPr>
          <p:cNvPicPr>
            <a:picLocks noChangeAspect="1"/>
          </p:cNvPicPr>
          <p:nvPr/>
        </p:nvPicPr>
        <p:blipFill>
          <a:blip r:embed="rId5"/>
          <a:stretch>
            <a:fillRect/>
          </a:stretch>
        </p:blipFill>
        <p:spPr>
          <a:xfrm>
            <a:off x="7808119" y="2099481"/>
            <a:ext cx="400050" cy="400050"/>
          </a:xfrm>
          <a:prstGeom prst="rect">
            <a:avLst/>
          </a:prstGeom>
        </p:spPr>
      </p:pic>
      <p:sp>
        <p:nvSpPr>
          <p:cNvPr id="18" name="Text 11"/>
          <p:cNvSpPr/>
          <p:nvPr/>
        </p:nvSpPr>
        <p:spPr>
          <a:xfrm>
            <a:off x="7811691" y="2103053"/>
            <a:ext cx="392906" cy="392906"/>
          </a:xfrm>
          <a:prstGeom prst="roundRect">
            <a:avLst>
              <a:gd name="adj" fmla="val 33939"/>
            </a:avLst>
          </a:prstGeom>
          <a:noFill/>
          <a:ln w="7144">
            <a:solidFill>
              <a:srgbClr val="00D9FF"/>
            </a:solidFill>
            <a:prstDash val="solid"/>
          </a:ln>
        </p:spPr>
        <p:txBody>
          <a:bodyPr wrap="square" rtlCol="0" anchor="ctr"/>
          <a:lstStyle/>
          <a:p>
            <a:pPr indent="0" marL="0">
              <a:buNone/>
            </a:pPr>
            <a:endParaRPr lang="en-US" dirty="0"/>
          </a:p>
        </p:txBody>
      </p:sp>
      <p:sp>
        <p:nvSpPr>
          <p:cNvPr id="19" name="Text 12"/>
          <p:cNvSpPr/>
          <p:nvPr/>
        </p:nvSpPr>
        <p:spPr>
          <a:xfrm>
            <a:off x="7863126" y="2154488"/>
            <a:ext cx="290036" cy="290036"/>
          </a:xfrm>
          <a:prstGeom prst="rect">
            <a:avLst/>
          </a:prstGeom>
          <a:noFill/>
          <a:ln/>
        </p:spPr>
        <p:txBody>
          <a:bodyPr wrap="none" lIns="0" tIns="0" rIns="0" bIns="0" rtlCol="0" anchor="ctr"/>
          <a:lstStyle/>
          <a:p>
            <a:pPr algn="ctr" indent="0" marL="0">
              <a:buNone/>
            </a:pPr>
            <a:r>
              <a:rPr lang="en-US" sz="1969" dirty="0">
                <a:solidFill>
                  <a:srgbClr val="00D9FF"/>
                </a:solidFill>
                <a:latin typeface="Segoe UI Symbol" pitchFamily="34" charset="0"/>
                <a:ea typeface="Segoe UI Symbol" pitchFamily="34" charset="-122"/>
                <a:cs typeface="Segoe UI Symbol" pitchFamily="34" charset="-120"/>
              </a:rPr>
              <a:t>↓</a:t>
            </a:r>
            <a:endParaRPr lang="en-US" sz="1969" dirty="0"/>
          </a:p>
        </p:txBody>
      </p:sp>
      <p:sp>
        <p:nvSpPr>
          <p:cNvPr id="20" name="Text 13"/>
          <p:cNvSpPr/>
          <p:nvPr/>
        </p:nvSpPr>
        <p:spPr>
          <a:xfrm>
            <a:off x="7422356" y="2599544"/>
            <a:ext cx="1171575" cy="196739"/>
          </a:xfrm>
          <a:prstGeom prst="rect">
            <a:avLst/>
          </a:prstGeom>
          <a:noFill/>
          <a:ln/>
        </p:spPr>
        <p:txBody>
          <a:bodyPr wrap="none" lIns="0" tIns="0" rIns="0" bIns="0" rtlCol="0" anchor="t"/>
          <a:lstStyle/>
          <a:p>
            <a:pPr algn="ctr" indent="0" marL="0">
              <a:lnSpc>
                <a:spcPts val="1434"/>
              </a:lnSpc>
              <a:buNone/>
            </a:pPr>
            <a:r>
              <a:rPr lang="en-US" sz="956" b="1" dirty="0">
                <a:solidFill>
                  <a:srgbClr val="EAF6FF"/>
                </a:solidFill>
                <a:latin typeface="Carlito" pitchFamily="34" charset="0"/>
                <a:ea typeface="Carlito" pitchFamily="34" charset="-122"/>
                <a:cs typeface="Carlito" pitchFamily="34" charset="-120"/>
              </a:rPr>
              <a:t>جمع البيانات</a:t>
            </a:r>
            <a:endParaRPr lang="en-US" sz="956" dirty="0"/>
          </a:p>
        </p:txBody>
      </p:sp>
      <p:sp>
        <p:nvSpPr>
          <p:cNvPr id="21" name="Text 14"/>
          <p:cNvSpPr/>
          <p:nvPr/>
        </p:nvSpPr>
        <p:spPr>
          <a:xfrm>
            <a:off x="7422356" y="2838859"/>
            <a:ext cx="1171575" cy="493776"/>
          </a:xfrm>
          <a:prstGeom prst="rect">
            <a:avLst/>
          </a:prstGeom>
          <a:noFill/>
          <a:ln/>
        </p:spPr>
        <p:txBody>
          <a:bodyPr wrap="square" lIns="28575" tIns="0" rIns="28575" bIns="0" rtlCol="0" anchor="t"/>
          <a:lstStyle/>
          <a:p>
            <a:pPr algn="ctr" indent="0" marL="0">
              <a:lnSpc>
                <a:spcPts val="1055"/>
              </a:lnSpc>
              <a:buNone/>
            </a:pPr>
            <a:r>
              <a:rPr lang="en-US" sz="800" dirty="0">
                <a:solidFill>
                  <a:srgbClr val="8AA0CC"/>
                </a:solidFill>
                <a:latin typeface="Carlito" pitchFamily="34" charset="0"/>
                <a:ea typeface="Carlito" pitchFamily="34" charset="-122"/>
                <a:cs typeface="Carlito" pitchFamily="34" charset="-120"/>
              </a:rPr>
              <a:t>من APIs، قواعد البيانات، الكاميرات، أو الويب</a:t>
            </a:r>
            <a:endParaRPr lang="en-US" sz="800" dirty="0"/>
          </a:p>
        </p:txBody>
      </p:sp>
      <p:sp>
        <p:nvSpPr>
          <p:cNvPr id="22" name="Text 15"/>
          <p:cNvSpPr/>
          <p:nvPr/>
        </p:nvSpPr>
        <p:spPr>
          <a:xfrm>
            <a:off x="7716069" y="3360353"/>
            <a:ext cx="584149" cy="167878"/>
          </a:xfrm>
          <a:prstGeom prst="rect">
            <a:avLst/>
          </a:prstGeom>
          <a:noFill/>
          <a:ln/>
        </p:spPr>
        <p:txBody>
          <a:bodyPr wrap="none" lIns="0" tIns="71438" rIns="0" bIns="0" rtlCol="0" anchor="t"/>
          <a:lstStyle/>
          <a:p>
            <a:pPr algn="ctr" indent="0" marL="0">
              <a:lnSpc>
                <a:spcPts val="759"/>
              </a:lnSpc>
              <a:buNone/>
            </a:pPr>
            <a:r>
              <a:rPr lang="en-US" sz="600" spc="84" kern="0" dirty="0">
                <a:solidFill>
                  <a:srgbClr val="5B6B96"/>
                </a:solidFill>
                <a:latin typeface="Courier New" pitchFamily="34" charset="0"/>
                <a:ea typeface="Courier New" pitchFamily="34" charset="-122"/>
                <a:cs typeface="Courier New" pitchFamily="34" charset="-120"/>
              </a:rPr>
              <a:t>COLLECTION</a:t>
            </a:r>
            <a:endParaRPr lang="en-US" sz="600" dirty="0"/>
          </a:p>
        </p:txBody>
      </p:sp>
      <p:sp>
        <p:nvSpPr>
          <p:cNvPr id="23" name="Text 16"/>
          <p:cNvSpPr/>
          <p:nvPr/>
        </p:nvSpPr>
        <p:spPr>
          <a:xfrm>
            <a:off x="7013377" y="2463812"/>
            <a:ext cx="271463" cy="271463"/>
          </a:xfrm>
          <a:prstGeom prst="rect">
            <a:avLst/>
          </a:prstGeom>
          <a:noFill/>
          <a:ln/>
        </p:spPr>
        <p:txBody>
          <a:bodyPr wrap="none" lIns="0" tIns="0" rIns="0" bIns="0" rtlCol="0" anchor="ctr"/>
          <a:lstStyle/>
          <a:p>
            <a:pPr algn="ctr" indent="0" marL="0">
              <a:buNone/>
            </a:pPr>
            <a:r>
              <a:rPr lang="en-US" sz="1969" dirty="0">
                <a:solidFill>
                  <a:srgbClr val="00D9FF"/>
                </a:solidFill>
                <a:latin typeface="Segoe UI Symbol" pitchFamily="34" charset="0"/>
                <a:ea typeface="Segoe UI Symbol" pitchFamily="34" charset="-122"/>
                <a:cs typeface="Segoe UI Symbol" pitchFamily="34" charset="-120"/>
              </a:rPr>
              <a:t>←</a:t>
            </a:r>
            <a:endParaRPr lang="en-US" sz="1969" dirty="0"/>
          </a:p>
        </p:txBody>
      </p:sp>
      <p:pic>
        <p:nvPicPr>
          <p:cNvPr id="24" name="Image 5" descr="preencoded.png">    </p:cNvPr>
          <p:cNvPicPr>
            <a:picLocks noChangeAspect="1"/>
          </p:cNvPicPr>
          <p:nvPr/>
        </p:nvPicPr>
        <p:blipFill>
          <a:blip r:embed="rId6"/>
          <a:stretch>
            <a:fillRect/>
          </a:stretch>
        </p:blipFill>
        <p:spPr>
          <a:xfrm>
            <a:off x="5611416" y="1563700"/>
            <a:ext cx="1357313" cy="2071688"/>
          </a:xfrm>
          <a:prstGeom prst="rect">
            <a:avLst/>
          </a:prstGeom>
        </p:spPr>
      </p:pic>
      <p:sp>
        <p:nvSpPr>
          <p:cNvPr id="25" name="Text 17"/>
          <p:cNvSpPr/>
          <p:nvPr/>
        </p:nvSpPr>
        <p:spPr>
          <a:xfrm>
            <a:off x="5614988" y="1567272"/>
            <a:ext cx="1350169" cy="2064544"/>
          </a:xfrm>
          <a:prstGeom prst="roundRect">
            <a:avLst>
              <a:gd name="adj" fmla="val 11287"/>
            </a:avLst>
          </a:prstGeom>
          <a:noFill/>
          <a:ln w="7144">
            <a:solidFill>
              <a:srgbClr val="B845FF"/>
            </a:solidFill>
            <a:prstDash val="solid"/>
          </a:ln>
        </p:spPr>
        <p:txBody>
          <a:bodyPr wrap="square" rtlCol="0" anchor="ctr"/>
          <a:lstStyle/>
          <a:p>
            <a:pPr indent="0" marL="0">
              <a:buNone/>
            </a:pPr>
            <a:endParaRPr lang="en-US" dirty="0"/>
          </a:p>
        </p:txBody>
      </p:sp>
      <p:pic>
        <p:nvPicPr>
          <p:cNvPr id="26" name="Image 6" descr="preencoded.png">    </p:cNvPr>
          <p:cNvPicPr>
            <a:picLocks noChangeAspect="1"/>
          </p:cNvPicPr>
          <p:nvPr/>
        </p:nvPicPr>
        <p:blipFill>
          <a:blip r:embed="rId7"/>
          <a:stretch>
            <a:fillRect/>
          </a:stretch>
        </p:blipFill>
        <p:spPr>
          <a:xfrm>
            <a:off x="6132909" y="1685144"/>
            <a:ext cx="314325" cy="314325"/>
          </a:xfrm>
          <a:prstGeom prst="rect">
            <a:avLst/>
          </a:prstGeom>
        </p:spPr>
      </p:pic>
      <p:sp>
        <p:nvSpPr>
          <p:cNvPr id="27" name="Text 18"/>
          <p:cNvSpPr/>
          <p:nvPr/>
        </p:nvSpPr>
        <p:spPr>
          <a:xfrm>
            <a:off x="6132909" y="1685144"/>
            <a:ext cx="314325" cy="31432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02</a:t>
            </a:r>
            <a:endParaRPr lang="en-US" sz="900" dirty="0"/>
          </a:p>
        </p:txBody>
      </p:sp>
      <p:pic>
        <p:nvPicPr>
          <p:cNvPr id="28" name="Image 7" descr="preencoded.png">    </p:cNvPr>
          <p:cNvPicPr>
            <a:picLocks noChangeAspect="1"/>
          </p:cNvPicPr>
          <p:nvPr/>
        </p:nvPicPr>
        <p:blipFill>
          <a:blip r:embed="rId8"/>
          <a:stretch>
            <a:fillRect/>
          </a:stretch>
        </p:blipFill>
        <p:spPr>
          <a:xfrm>
            <a:off x="6090047" y="2099481"/>
            <a:ext cx="400050" cy="400050"/>
          </a:xfrm>
          <a:prstGeom prst="rect">
            <a:avLst/>
          </a:prstGeom>
        </p:spPr>
      </p:pic>
      <p:sp>
        <p:nvSpPr>
          <p:cNvPr id="29" name="Text 19"/>
          <p:cNvSpPr/>
          <p:nvPr/>
        </p:nvSpPr>
        <p:spPr>
          <a:xfrm>
            <a:off x="6093619" y="2103053"/>
            <a:ext cx="392906" cy="392906"/>
          </a:xfrm>
          <a:prstGeom prst="roundRect">
            <a:avLst>
              <a:gd name="adj" fmla="val 33939"/>
            </a:avLst>
          </a:prstGeom>
          <a:noFill/>
          <a:ln w="7144">
            <a:solidFill>
              <a:srgbClr val="B845FF"/>
            </a:solidFill>
            <a:prstDash val="solid"/>
          </a:ln>
        </p:spPr>
        <p:txBody>
          <a:bodyPr wrap="square" rtlCol="0" anchor="ctr"/>
          <a:lstStyle/>
          <a:p>
            <a:pPr indent="0" marL="0">
              <a:buNone/>
            </a:pPr>
            <a:endParaRPr lang="en-US" dirty="0"/>
          </a:p>
        </p:txBody>
      </p:sp>
      <p:sp>
        <p:nvSpPr>
          <p:cNvPr id="30" name="Text 20"/>
          <p:cNvSpPr/>
          <p:nvPr/>
        </p:nvSpPr>
        <p:spPr>
          <a:xfrm>
            <a:off x="6145054" y="2154488"/>
            <a:ext cx="290036" cy="290036"/>
          </a:xfrm>
          <a:prstGeom prst="rect">
            <a:avLst/>
          </a:prstGeom>
          <a:noFill/>
          <a:ln/>
        </p:spPr>
        <p:txBody>
          <a:bodyPr wrap="none" lIns="0" tIns="0" rIns="0" bIns="0" rtlCol="0" anchor="ctr"/>
          <a:lstStyle/>
          <a:p>
            <a:pPr algn="ctr" indent="0" marL="0">
              <a:buNone/>
            </a:pPr>
            <a:r>
              <a:rPr lang="en-US" sz="1969" dirty="0">
                <a:solidFill>
                  <a:srgbClr val="B845FF"/>
                </a:solidFill>
                <a:latin typeface="Segoe UI Symbol" pitchFamily="34" charset="0"/>
                <a:ea typeface="Segoe UI Symbol" pitchFamily="34" charset="-122"/>
                <a:cs typeface="Segoe UI Symbol" pitchFamily="34" charset="-120"/>
              </a:rPr>
              <a:t>❄</a:t>
            </a:r>
            <a:endParaRPr lang="en-US" sz="1969" dirty="0"/>
          </a:p>
        </p:txBody>
      </p:sp>
      <p:sp>
        <p:nvSpPr>
          <p:cNvPr id="31" name="Text 21"/>
          <p:cNvSpPr/>
          <p:nvPr/>
        </p:nvSpPr>
        <p:spPr>
          <a:xfrm>
            <a:off x="5704284" y="2599544"/>
            <a:ext cx="1171575" cy="196739"/>
          </a:xfrm>
          <a:prstGeom prst="rect">
            <a:avLst/>
          </a:prstGeom>
          <a:noFill/>
          <a:ln/>
        </p:spPr>
        <p:txBody>
          <a:bodyPr wrap="none" lIns="0" tIns="0" rIns="0" bIns="0" rtlCol="0" anchor="t"/>
          <a:lstStyle/>
          <a:p>
            <a:pPr algn="ctr" indent="0" marL="0">
              <a:lnSpc>
                <a:spcPts val="1434"/>
              </a:lnSpc>
              <a:buNone/>
            </a:pPr>
            <a:r>
              <a:rPr lang="en-US" sz="956" b="1" dirty="0">
                <a:solidFill>
                  <a:srgbClr val="EAF6FF"/>
                </a:solidFill>
                <a:latin typeface="Carlito" pitchFamily="34" charset="0"/>
                <a:ea typeface="Carlito" pitchFamily="34" charset="-122"/>
                <a:cs typeface="Carlito" pitchFamily="34" charset="-120"/>
              </a:rPr>
              <a:t>التنظيف</a:t>
            </a:r>
            <a:endParaRPr lang="en-US" sz="956" dirty="0"/>
          </a:p>
        </p:txBody>
      </p:sp>
      <p:sp>
        <p:nvSpPr>
          <p:cNvPr id="32" name="Text 22"/>
          <p:cNvSpPr/>
          <p:nvPr/>
        </p:nvSpPr>
        <p:spPr>
          <a:xfrm>
            <a:off x="5704284" y="2838859"/>
            <a:ext cx="1171575" cy="329184"/>
          </a:xfrm>
          <a:prstGeom prst="rect">
            <a:avLst/>
          </a:prstGeom>
          <a:noFill/>
          <a:ln/>
        </p:spPr>
        <p:txBody>
          <a:bodyPr wrap="square" lIns="28575" tIns="0" rIns="28575" bIns="0" rtlCol="0" anchor="t"/>
          <a:lstStyle/>
          <a:p>
            <a:pPr algn="ctr" indent="0" marL="0">
              <a:lnSpc>
                <a:spcPts val="1055"/>
              </a:lnSpc>
              <a:buNone/>
            </a:pPr>
            <a:r>
              <a:rPr lang="en-US" sz="800" dirty="0">
                <a:solidFill>
                  <a:srgbClr val="8AA0CC"/>
                </a:solidFill>
                <a:latin typeface="Carlito" pitchFamily="34" charset="0"/>
                <a:ea typeface="Carlito" pitchFamily="34" charset="-122"/>
                <a:cs typeface="Carlito" pitchFamily="34" charset="-120"/>
              </a:rPr>
              <a:t>إزالة القيم المفقودة والضوضاء والتكرارات</a:t>
            </a:r>
            <a:endParaRPr lang="en-US" sz="800" dirty="0"/>
          </a:p>
        </p:txBody>
      </p:sp>
      <p:sp>
        <p:nvSpPr>
          <p:cNvPr id="33" name="Text 23"/>
          <p:cNvSpPr/>
          <p:nvPr/>
        </p:nvSpPr>
        <p:spPr>
          <a:xfrm>
            <a:off x="6053745" y="3360353"/>
            <a:ext cx="472653" cy="167878"/>
          </a:xfrm>
          <a:prstGeom prst="rect">
            <a:avLst/>
          </a:prstGeom>
          <a:noFill/>
          <a:ln/>
        </p:spPr>
        <p:txBody>
          <a:bodyPr wrap="none" lIns="0" tIns="71438" rIns="0" bIns="0" rtlCol="0" anchor="t"/>
          <a:lstStyle/>
          <a:p>
            <a:pPr algn="ctr" indent="0" marL="0">
              <a:lnSpc>
                <a:spcPts val="759"/>
              </a:lnSpc>
              <a:buNone/>
            </a:pPr>
            <a:r>
              <a:rPr lang="en-US" sz="600" spc="84" kern="0" dirty="0">
                <a:solidFill>
                  <a:srgbClr val="5B6B96"/>
                </a:solidFill>
                <a:latin typeface="Courier New" pitchFamily="34" charset="0"/>
                <a:ea typeface="Courier New" pitchFamily="34" charset="-122"/>
                <a:cs typeface="Courier New" pitchFamily="34" charset="-120"/>
              </a:rPr>
              <a:t>CLEANING</a:t>
            </a:r>
            <a:endParaRPr lang="en-US" sz="600" dirty="0"/>
          </a:p>
        </p:txBody>
      </p:sp>
      <p:sp>
        <p:nvSpPr>
          <p:cNvPr id="34" name="Text 24"/>
          <p:cNvSpPr/>
          <p:nvPr/>
        </p:nvSpPr>
        <p:spPr>
          <a:xfrm>
            <a:off x="5295305" y="2463812"/>
            <a:ext cx="271463" cy="271463"/>
          </a:xfrm>
          <a:prstGeom prst="rect">
            <a:avLst/>
          </a:prstGeom>
          <a:noFill/>
          <a:ln/>
        </p:spPr>
        <p:txBody>
          <a:bodyPr wrap="none" lIns="0" tIns="0" rIns="0" bIns="0" rtlCol="0" anchor="ctr"/>
          <a:lstStyle/>
          <a:p>
            <a:pPr algn="ctr" indent="0" marL="0">
              <a:buNone/>
            </a:pPr>
            <a:r>
              <a:rPr lang="en-US" sz="1969" dirty="0">
                <a:solidFill>
                  <a:srgbClr val="00D9FF"/>
                </a:solidFill>
                <a:latin typeface="Segoe UI Symbol" pitchFamily="34" charset="0"/>
                <a:ea typeface="Segoe UI Symbol" pitchFamily="34" charset="-122"/>
                <a:cs typeface="Segoe UI Symbol" pitchFamily="34" charset="-120"/>
              </a:rPr>
              <a:t>←</a:t>
            </a:r>
            <a:endParaRPr lang="en-US" sz="1969" dirty="0"/>
          </a:p>
        </p:txBody>
      </p:sp>
      <p:sp>
        <p:nvSpPr>
          <p:cNvPr id="35" name="Text 25"/>
          <p:cNvSpPr/>
          <p:nvPr/>
        </p:nvSpPr>
        <p:spPr>
          <a:xfrm>
            <a:off x="3896916" y="1567272"/>
            <a:ext cx="1350169" cy="2064544"/>
          </a:xfrm>
          <a:prstGeom prst="roundRect">
            <a:avLst>
              <a:gd name="adj" fmla="val 11287"/>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pic>
        <p:nvPicPr>
          <p:cNvPr id="36" name="Image 8" descr="preencoded.png">    </p:cNvPr>
          <p:cNvPicPr>
            <a:picLocks noChangeAspect="1"/>
          </p:cNvPicPr>
          <p:nvPr/>
        </p:nvPicPr>
        <p:blipFill>
          <a:blip r:embed="rId9"/>
          <a:stretch>
            <a:fillRect/>
          </a:stretch>
        </p:blipFill>
        <p:spPr>
          <a:xfrm>
            <a:off x="4414838" y="1685144"/>
            <a:ext cx="314325" cy="314325"/>
          </a:xfrm>
          <a:prstGeom prst="rect">
            <a:avLst/>
          </a:prstGeom>
        </p:spPr>
      </p:pic>
      <p:sp>
        <p:nvSpPr>
          <p:cNvPr id="37" name="Text 26"/>
          <p:cNvSpPr/>
          <p:nvPr/>
        </p:nvSpPr>
        <p:spPr>
          <a:xfrm>
            <a:off x="4414838" y="1685144"/>
            <a:ext cx="314325" cy="31432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03</a:t>
            </a:r>
            <a:endParaRPr lang="en-US" sz="900" dirty="0"/>
          </a:p>
        </p:txBody>
      </p:sp>
      <p:pic>
        <p:nvPicPr>
          <p:cNvPr id="38" name="Image 9" descr="preencoded.png">    </p:cNvPr>
          <p:cNvPicPr>
            <a:picLocks noChangeAspect="1"/>
          </p:cNvPicPr>
          <p:nvPr/>
        </p:nvPicPr>
        <p:blipFill>
          <a:blip r:embed="rId10"/>
          <a:stretch>
            <a:fillRect/>
          </a:stretch>
        </p:blipFill>
        <p:spPr>
          <a:xfrm>
            <a:off x="4371975" y="2099481"/>
            <a:ext cx="400050" cy="400050"/>
          </a:xfrm>
          <a:prstGeom prst="rect">
            <a:avLst/>
          </a:prstGeom>
        </p:spPr>
      </p:pic>
      <p:sp>
        <p:nvSpPr>
          <p:cNvPr id="39" name="Text 27"/>
          <p:cNvSpPr/>
          <p:nvPr/>
        </p:nvSpPr>
        <p:spPr>
          <a:xfrm>
            <a:off x="4375547" y="2103053"/>
            <a:ext cx="392906" cy="392906"/>
          </a:xfrm>
          <a:prstGeom prst="roundRect">
            <a:avLst>
              <a:gd name="adj" fmla="val 33939"/>
            </a:avLst>
          </a:prstGeom>
          <a:noFill/>
          <a:ln w="7144">
            <a:solidFill>
              <a:srgbClr val="00D9FF"/>
            </a:solidFill>
            <a:prstDash val="solid"/>
          </a:ln>
        </p:spPr>
        <p:txBody>
          <a:bodyPr wrap="square" rtlCol="0" anchor="ctr"/>
          <a:lstStyle/>
          <a:p>
            <a:pPr indent="0" marL="0">
              <a:buNone/>
            </a:pPr>
            <a:endParaRPr lang="en-US" dirty="0"/>
          </a:p>
        </p:txBody>
      </p:sp>
      <p:sp>
        <p:nvSpPr>
          <p:cNvPr id="40" name="Text 28"/>
          <p:cNvSpPr/>
          <p:nvPr/>
        </p:nvSpPr>
        <p:spPr>
          <a:xfrm>
            <a:off x="4426982" y="2154488"/>
            <a:ext cx="290036" cy="290036"/>
          </a:xfrm>
          <a:prstGeom prst="rect">
            <a:avLst/>
          </a:prstGeom>
          <a:noFill/>
          <a:ln/>
        </p:spPr>
        <p:txBody>
          <a:bodyPr wrap="none" lIns="0" tIns="0" rIns="0" bIns="0" rtlCol="0" anchor="ctr"/>
          <a:lstStyle/>
          <a:p>
            <a:pPr algn="ctr" indent="0" marL="0">
              <a:buNone/>
            </a:pPr>
            <a:r>
              <a:rPr lang="en-US" sz="1969" dirty="0">
                <a:solidFill>
                  <a:srgbClr val="00D9FF"/>
                </a:solidFill>
                <a:latin typeface="Segoe UI Symbol" pitchFamily="34" charset="0"/>
                <a:ea typeface="Segoe UI Symbol" pitchFamily="34" charset="-122"/>
                <a:cs typeface="Segoe UI Symbol" pitchFamily="34" charset="-120"/>
              </a:rPr>
              <a:t>⌧</a:t>
            </a:r>
            <a:endParaRPr lang="en-US" sz="1969" dirty="0"/>
          </a:p>
        </p:txBody>
      </p:sp>
      <p:sp>
        <p:nvSpPr>
          <p:cNvPr id="41" name="Text 29"/>
          <p:cNvSpPr/>
          <p:nvPr/>
        </p:nvSpPr>
        <p:spPr>
          <a:xfrm>
            <a:off x="3986213" y="2599544"/>
            <a:ext cx="1171575" cy="196739"/>
          </a:xfrm>
          <a:prstGeom prst="rect">
            <a:avLst/>
          </a:prstGeom>
          <a:noFill/>
          <a:ln/>
        </p:spPr>
        <p:txBody>
          <a:bodyPr wrap="none" lIns="0" tIns="0" rIns="0" bIns="0" rtlCol="0" anchor="t"/>
          <a:lstStyle/>
          <a:p>
            <a:pPr algn="ctr" indent="0" marL="0">
              <a:lnSpc>
                <a:spcPts val="1434"/>
              </a:lnSpc>
              <a:buNone/>
            </a:pPr>
            <a:r>
              <a:rPr lang="en-US" sz="956" b="1" dirty="0">
                <a:solidFill>
                  <a:srgbClr val="EAF6FF"/>
                </a:solidFill>
                <a:latin typeface="Carlito" pitchFamily="34" charset="0"/>
                <a:ea typeface="Carlito" pitchFamily="34" charset="-122"/>
                <a:cs typeface="Carlito" pitchFamily="34" charset="-120"/>
              </a:rPr>
              <a:t>الوسم</a:t>
            </a:r>
            <a:endParaRPr lang="en-US" sz="956" dirty="0"/>
          </a:p>
        </p:txBody>
      </p:sp>
      <p:sp>
        <p:nvSpPr>
          <p:cNvPr id="42" name="Text 30"/>
          <p:cNvSpPr/>
          <p:nvPr/>
        </p:nvSpPr>
        <p:spPr>
          <a:xfrm>
            <a:off x="3986213" y="2838859"/>
            <a:ext cx="1171575" cy="329184"/>
          </a:xfrm>
          <a:prstGeom prst="rect">
            <a:avLst/>
          </a:prstGeom>
          <a:noFill/>
          <a:ln/>
        </p:spPr>
        <p:txBody>
          <a:bodyPr wrap="square" lIns="28575" tIns="0" rIns="28575" bIns="0" rtlCol="0" anchor="t"/>
          <a:lstStyle/>
          <a:p>
            <a:pPr algn="ctr" indent="0" marL="0">
              <a:lnSpc>
                <a:spcPts val="1055"/>
              </a:lnSpc>
              <a:buNone/>
            </a:pPr>
            <a:r>
              <a:rPr lang="en-US" sz="800" dirty="0">
                <a:solidFill>
                  <a:srgbClr val="8AA0CC"/>
                </a:solidFill>
                <a:latin typeface="Carlito" pitchFamily="34" charset="0"/>
                <a:ea typeface="Carlito" pitchFamily="34" charset="-122"/>
                <a:cs typeface="Carlito" pitchFamily="34" charset="-120"/>
              </a:rPr>
              <a:t>إضافة وسوم دقيقة: تصنيف، إطار، أو وصف</a:t>
            </a:r>
            <a:endParaRPr lang="en-US" sz="800" dirty="0"/>
          </a:p>
        </p:txBody>
      </p:sp>
      <p:sp>
        <p:nvSpPr>
          <p:cNvPr id="43" name="Text 31"/>
          <p:cNvSpPr/>
          <p:nvPr/>
        </p:nvSpPr>
        <p:spPr>
          <a:xfrm>
            <a:off x="4335673" y="3360353"/>
            <a:ext cx="472653" cy="167878"/>
          </a:xfrm>
          <a:prstGeom prst="rect">
            <a:avLst/>
          </a:prstGeom>
          <a:noFill/>
          <a:ln/>
        </p:spPr>
        <p:txBody>
          <a:bodyPr wrap="none" lIns="0" tIns="71438" rIns="0" bIns="0" rtlCol="0" anchor="t"/>
          <a:lstStyle/>
          <a:p>
            <a:pPr algn="ctr" indent="0" marL="0">
              <a:lnSpc>
                <a:spcPts val="759"/>
              </a:lnSpc>
              <a:buNone/>
            </a:pPr>
            <a:r>
              <a:rPr lang="en-US" sz="600" spc="84" kern="0" dirty="0">
                <a:solidFill>
                  <a:srgbClr val="5B6B96"/>
                </a:solidFill>
                <a:latin typeface="Courier New" pitchFamily="34" charset="0"/>
                <a:ea typeface="Courier New" pitchFamily="34" charset="-122"/>
                <a:cs typeface="Courier New" pitchFamily="34" charset="-120"/>
              </a:rPr>
              <a:t>LABELING</a:t>
            </a:r>
            <a:endParaRPr lang="en-US" sz="600" dirty="0"/>
          </a:p>
        </p:txBody>
      </p:sp>
      <p:sp>
        <p:nvSpPr>
          <p:cNvPr id="44" name="Text 32"/>
          <p:cNvSpPr/>
          <p:nvPr/>
        </p:nvSpPr>
        <p:spPr>
          <a:xfrm>
            <a:off x="3577233" y="2463812"/>
            <a:ext cx="271463" cy="271463"/>
          </a:xfrm>
          <a:prstGeom prst="rect">
            <a:avLst/>
          </a:prstGeom>
          <a:noFill/>
          <a:ln/>
        </p:spPr>
        <p:txBody>
          <a:bodyPr wrap="none" lIns="0" tIns="0" rIns="0" bIns="0" rtlCol="0" anchor="ctr"/>
          <a:lstStyle/>
          <a:p>
            <a:pPr algn="ctr" indent="0" marL="0">
              <a:buNone/>
            </a:pPr>
            <a:r>
              <a:rPr lang="en-US" sz="1969" dirty="0">
                <a:solidFill>
                  <a:srgbClr val="00D9FF"/>
                </a:solidFill>
                <a:latin typeface="Segoe UI Symbol" pitchFamily="34" charset="0"/>
                <a:ea typeface="Segoe UI Symbol" pitchFamily="34" charset="-122"/>
                <a:cs typeface="Segoe UI Symbol" pitchFamily="34" charset="-120"/>
              </a:rPr>
              <a:t>←</a:t>
            </a:r>
            <a:endParaRPr lang="en-US" sz="1969" dirty="0"/>
          </a:p>
        </p:txBody>
      </p:sp>
      <p:pic>
        <p:nvPicPr>
          <p:cNvPr id="45" name="Image 10" descr="preencoded.png">    </p:cNvPr>
          <p:cNvPicPr>
            <a:picLocks noChangeAspect="1"/>
          </p:cNvPicPr>
          <p:nvPr/>
        </p:nvPicPr>
        <p:blipFill>
          <a:blip r:embed="rId11"/>
          <a:stretch>
            <a:fillRect/>
          </a:stretch>
        </p:blipFill>
        <p:spPr>
          <a:xfrm>
            <a:off x="2175272" y="1563700"/>
            <a:ext cx="1357313" cy="2071688"/>
          </a:xfrm>
          <a:prstGeom prst="rect">
            <a:avLst/>
          </a:prstGeom>
        </p:spPr>
      </p:pic>
      <p:sp>
        <p:nvSpPr>
          <p:cNvPr id="46" name="Text 33"/>
          <p:cNvSpPr/>
          <p:nvPr/>
        </p:nvSpPr>
        <p:spPr>
          <a:xfrm>
            <a:off x="2178844" y="1567272"/>
            <a:ext cx="1350169" cy="2064544"/>
          </a:xfrm>
          <a:prstGeom prst="roundRect">
            <a:avLst>
              <a:gd name="adj" fmla="val 11287"/>
            </a:avLst>
          </a:prstGeom>
          <a:noFill/>
          <a:ln w="7144">
            <a:solidFill>
              <a:srgbClr val="B845FF"/>
            </a:solidFill>
            <a:prstDash val="solid"/>
          </a:ln>
        </p:spPr>
        <p:txBody>
          <a:bodyPr wrap="square" rtlCol="0" anchor="ctr"/>
          <a:lstStyle/>
          <a:p>
            <a:pPr indent="0" marL="0">
              <a:buNone/>
            </a:pPr>
            <a:endParaRPr lang="en-US" dirty="0"/>
          </a:p>
        </p:txBody>
      </p:sp>
      <p:pic>
        <p:nvPicPr>
          <p:cNvPr id="47" name="Image 11" descr="preencoded.png">    </p:cNvPr>
          <p:cNvPicPr>
            <a:picLocks noChangeAspect="1"/>
          </p:cNvPicPr>
          <p:nvPr/>
        </p:nvPicPr>
        <p:blipFill>
          <a:blip r:embed="rId12"/>
          <a:stretch>
            <a:fillRect/>
          </a:stretch>
        </p:blipFill>
        <p:spPr>
          <a:xfrm>
            <a:off x="2696766" y="1685144"/>
            <a:ext cx="314325" cy="314325"/>
          </a:xfrm>
          <a:prstGeom prst="rect">
            <a:avLst/>
          </a:prstGeom>
        </p:spPr>
      </p:pic>
      <p:sp>
        <p:nvSpPr>
          <p:cNvPr id="48" name="Text 34"/>
          <p:cNvSpPr/>
          <p:nvPr/>
        </p:nvSpPr>
        <p:spPr>
          <a:xfrm>
            <a:off x="2696766" y="1685144"/>
            <a:ext cx="314325" cy="31432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04</a:t>
            </a:r>
            <a:endParaRPr lang="en-US" sz="900" dirty="0"/>
          </a:p>
        </p:txBody>
      </p:sp>
      <p:pic>
        <p:nvPicPr>
          <p:cNvPr id="49" name="Image 12" descr="preencoded.png">    </p:cNvPr>
          <p:cNvPicPr>
            <a:picLocks noChangeAspect="1"/>
          </p:cNvPicPr>
          <p:nvPr/>
        </p:nvPicPr>
        <p:blipFill>
          <a:blip r:embed="rId13"/>
          <a:stretch>
            <a:fillRect/>
          </a:stretch>
        </p:blipFill>
        <p:spPr>
          <a:xfrm>
            <a:off x="2653903" y="2099481"/>
            <a:ext cx="400050" cy="400050"/>
          </a:xfrm>
          <a:prstGeom prst="rect">
            <a:avLst/>
          </a:prstGeom>
        </p:spPr>
      </p:pic>
      <p:sp>
        <p:nvSpPr>
          <p:cNvPr id="50" name="Text 35"/>
          <p:cNvSpPr/>
          <p:nvPr/>
        </p:nvSpPr>
        <p:spPr>
          <a:xfrm>
            <a:off x="2657475" y="2103053"/>
            <a:ext cx="392906" cy="392906"/>
          </a:xfrm>
          <a:prstGeom prst="roundRect">
            <a:avLst>
              <a:gd name="adj" fmla="val 33939"/>
            </a:avLst>
          </a:prstGeom>
          <a:noFill/>
          <a:ln w="7144">
            <a:solidFill>
              <a:srgbClr val="B845FF"/>
            </a:solidFill>
            <a:prstDash val="solid"/>
          </a:ln>
        </p:spPr>
        <p:txBody>
          <a:bodyPr wrap="square" rtlCol="0" anchor="ctr"/>
          <a:lstStyle/>
          <a:p>
            <a:pPr indent="0" marL="0">
              <a:buNone/>
            </a:pPr>
            <a:endParaRPr lang="en-US" dirty="0"/>
          </a:p>
        </p:txBody>
      </p:sp>
      <p:sp>
        <p:nvSpPr>
          <p:cNvPr id="51" name="Text 36"/>
          <p:cNvSpPr/>
          <p:nvPr/>
        </p:nvSpPr>
        <p:spPr>
          <a:xfrm>
            <a:off x="2708910" y="2154488"/>
            <a:ext cx="290036" cy="290036"/>
          </a:xfrm>
          <a:prstGeom prst="rect">
            <a:avLst/>
          </a:prstGeom>
          <a:noFill/>
          <a:ln/>
        </p:spPr>
        <p:txBody>
          <a:bodyPr wrap="none" lIns="0" tIns="0" rIns="0" bIns="0" rtlCol="0" anchor="ctr"/>
          <a:lstStyle/>
          <a:p>
            <a:pPr algn="ctr" indent="0" marL="0">
              <a:buNone/>
            </a:pPr>
            <a:r>
              <a:rPr lang="en-US" sz="1969" dirty="0">
                <a:solidFill>
                  <a:srgbClr val="B845FF"/>
                </a:solidFill>
                <a:latin typeface="Segoe UI Symbol" pitchFamily="34" charset="0"/>
                <a:ea typeface="Segoe UI Symbol" pitchFamily="34" charset="-122"/>
                <a:cs typeface="Segoe UI Symbol" pitchFamily="34" charset="-120"/>
              </a:rPr>
              <a:t>⇄</a:t>
            </a:r>
            <a:endParaRPr lang="en-US" sz="1969" dirty="0"/>
          </a:p>
        </p:txBody>
      </p:sp>
      <p:sp>
        <p:nvSpPr>
          <p:cNvPr id="52" name="Text 37"/>
          <p:cNvSpPr/>
          <p:nvPr/>
        </p:nvSpPr>
        <p:spPr>
          <a:xfrm>
            <a:off x="2268141" y="2599544"/>
            <a:ext cx="1171575" cy="196739"/>
          </a:xfrm>
          <a:prstGeom prst="rect">
            <a:avLst/>
          </a:prstGeom>
          <a:noFill/>
          <a:ln/>
        </p:spPr>
        <p:txBody>
          <a:bodyPr wrap="none" lIns="0" tIns="0" rIns="0" bIns="0" rtlCol="0" anchor="t"/>
          <a:lstStyle/>
          <a:p>
            <a:pPr algn="ctr" indent="0" marL="0">
              <a:lnSpc>
                <a:spcPts val="1434"/>
              </a:lnSpc>
              <a:buNone/>
            </a:pPr>
            <a:r>
              <a:rPr lang="en-US" sz="956" b="1" dirty="0">
                <a:solidFill>
                  <a:srgbClr val="EAF6FF"/>
                </a:solidFill>
                <a:latin typeface="Carlito" pitchFamily="34" charset="0"/>
                <a:ea typeface="Carlito" pitchFamily="34" charset="-122"/>
                <a:cs typeface="Carlito" pitchFamily="34" charset="-120"/>
              </a:rPr>
              <a:t>التقسيم</a:t>
            </a:r>
            <a:endParaRPr lang="en-US" sz="956" dirty="0"/>
          </a:p>
        </p:txBody>
      </p:sp>
      <p:sp>
        <p:nvSpPr>
          <p:cNvPr id="53" name="Text 38"/>
          <p:cNvSpPr/>
          <p:nvPr/>
        </p:nvSpPr>
        <p:spPr>
          <a:xfrm>
            <a:off x="2268141" y="2838859"/>
            <a:ext cx="1171575" cy="329184"/>
          </a:xfrm>
          <a:prstGeom prst="rect">
            <a:avLst/>
          </a:prstGeom>
          <a:noFill/>
          <a:ln/>
        </p:spPr>
        <p:txBody>
          <a:bodyPr wrap="square" lIns="28575" tIns="0" rIns="28575" bIns="0" rtlCol="0" anchor="t"/>
          <a:lstStyle/>
          <a:p>
            <a:pPr algn="ctr" indent="0" marL="0">
              <a:lnSpc>
                <a:spcPts val="1055"/>
              </a:lnSpc>
              <a:buNone/>
            </a:pPr>
            <a:r>
              <a:rPr lang="en-US" sz="800" dirty="0">
                <a:solidFill>
                  <a:srgbClr val="8AA0CC"/>
                </a:solidFill>
                <a:latin typeface="Carlito" pitchFamily="34" charset="0"/>
                <a:ea typeface="Carlito" pitchFamily="34" charset="-122"/>
                <a:cs typeface="Carlito" pitchFamily="34" charset="-120"/>
              </a:rPr>
              <a:t>Train / Validation / Test بنسب </a:t>
            </a:r>
            <a:pPr algn="ctr" indent="0" marL="0">
              <a:lnSpc>
                <a:spcPts val="1055"/>
              </a:lnSpc>
              <a:buNone/>
            </a:pPr>
            <a:r>
              <a:rPr lang="en-US" sz="800" dirty="0">
                <a:solidFill>
                  <a:srgbClr val="8AA0CC"/>
                </a:solidFill>
                <a:latin typeface="Liberation Sans Narrow" pitchFamily="34" charset="0"/>
                <a:ea typeface="Liberation Sans Narrow" pitchFamily="34" charset="-122"/>
                <a:cs typeface="Liberation Sans Narrow" pitchFamily="34" charset="-120"/>
              </a:rPr>
              <a:t>70/15/15</a:t>
            </a:r>
            <a:endParaRPr lang="en-US" sz="800" dirty="0"/>
          </a:p>
        </p:txBody>
      </p:sp>
      <p:sp>
        <p:nvSpPr>
          <p:cNvPr id="54" name="Text 39"/>
          <p:cNvSpPr/>
          <p:nvPr/>
        </p:nvSpPr>
        <p:spPr>
          <a:xfrm>
            <a:off x="2589727" y="3360353"/>
            <a:ext cx="528401" cy="167878"/>
          </a:xfrm>
          <a:prstGeom prst="rect">
            <a:avLst/>
          </a:prstGeom>
          <a:noFill/>
          <a:ln/>
        </p:spPr>
        <p:txBody>
          <a:bodyPr wrap="none" lIns="0" tIns="71438" rIns="0" bIns="0" rtlCol="0" anchor="t"/>
          <a:lstStyle/>
          <a:p>
            <a:pPr algn="ctr" indent="0" marL="0">
              <a:lnSpc>
                <a:spcPts val="759"/>
              </a:lnSpc>
              <a:buNone/>
            </a:pPr>
            <a:r>
              <a:rPr lang="en-US" sz="600" spc="84" kern="0" dirty="0">
                <a:solidFill>
                  <a:srgbClr val="5B6B96"/>
                </a:solidFill>
                <a:latin typeface="Courier New" pitchFamily="34" charset="0"/>
                <a:ea typeface="Courier New" pitchFamily="34" charset="-122"/>
                <a:cs typeface="Courier New" pitchFamily="34" charset="-120"/>
              </a:rPr>
              <a:t>SPLITTING</a:t>
            </a:r>
            <a:endParaRPr lang="en-US" sz="600" dirty="0"/>
          </a:p>
        </p:txBody>
      </p:sp>
      <p:sp>
        <p:nvSpPr>
          <p:cNvPr id="55" name="Text 40"/>
          <p:cNvSpPr/>
          <p:nvPr/>
        </p:nvSpPr>
        <p:spPr>
          <a:xfrm>
            <a:off x="1859161" y="2463812"/>
            <a:ext cx="271463" cy="271463"/>
          </a:xfrm>
          <a:prstGeom prst="rect">
            <a:avLst/>
          </a:prstGeom>
          <a:noFill/>
          <a:ln/>
        </p:spPr>
        <p:txBody>
          <a:bodyPr wrap="none" lIns="0" tIns="0" rIns="0" bIns="0" rtlCol="0" anchor="ctr"/>
          <a:lstStyle/>
          <a:p>
            <a:pPr algn="ctr" indent="0" marL="0">
              <a:buNone/>
            </a:pPr>
            <a:r>
              <a:rPr lang="en-US" sz="1969" dirty="0">
                <a:solidFill>
                  <a:srgbClr val="00D9FF"/>
                </a:solidFill>
                <a:latin typeface="Segoe UI Symbol" pitchFamily="34" charset="0"/>
                <a:ea typeface="Segoe UI Symbol" pitchFamily="34" charset="-122"/>
                <a:cs typeface="Segoe UI Symbol" pitchFamily="34" charset="-120"/>
              </a:rPr>
              <a:t>←</a:t>
            </a:r>
            <a:endParaRPr lang="en-US" sz="1969" dirty="0"/>
          </a:p>
        </p:txBody>
      </p:sp>
      <p:sp>
        <p:nvSpPr>
          <p:cNvPr id="56" name="Text 41"/>
          <p:cNvSpPr/>
          <p:nvPr/>
        </p:nvSpPr>
        <p:spPr>
          <a:xfrm>
            <a:off x="460772" y="1567272"/>
            <a:ext cx="1350169" cy="2064544"/>
          </a:xfrm>
          <a:prstGeom prst="roundRect">
            <a:avLst>
              <a:gd name="adj" fmla="val 11287"/>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pic>
        <p:nvPicPr>
          <p:cNvPr id="57" name="Image 13" descr="preencoded.png">    </p:cNvPr>
          <p:cNvPicPr>
            <a:picLocks noChangeAspect="1"/>
          </p:cNvPicPr>
          <p:nvPr/>
        </p:nvPicPr>
        <p:blipFill>
          <a:blip r:embed="rId14"/>
          <a:stretch>
            <a:fillRect/>
          </a:stretch>
        </p:blipFill>
        <p:spPr>
          <a:xfrm>
            <a:off x="978694" y="1685144"/>
            <a:ext cx="314325" cy="314325"/>
          </a:xfrm>
          <a:prstGeom prst="rect">
            <a:avLst/>
          </a:prstGeom>
        </p:spPr>
      </p:pic>
      <p:sp>
        <p:nvSpPr>
          <p:cNvPr id="58" name="Text 42"/>
          <p:cNvSpPr/>
          <p:nvPr/>
        </p:nvSpPr>
        <p:spPr>
          <a:xfrm>
            <a:off x="978694" y="1685144"/>
            <a:ext cx="314325" cy="314325"/>
          </a:xfrm>
          <a:prstGeom prst="rect">
            <a:avLst/>
          </a:prstGeom>
          <a:noFill/>
          <a:ln/>
        </p:spPr>
        <p:txBody>
          <a:bodyPr wrap="none" lIns="0" tIns="0" rIns="0" bIns="0" rtlCol="0" anchor="ctr"/>
          <a:lstStyle/>
          <a:p>
            <a:pPr algn="ctr" indent="0" marL="0">
              <a:lnSpc>
                <a:spcPts val="1350"/>
              </a:lnSpc>
              <a:buNone/>
            </a:pPr>
            <a:r>
              <a:rPr lang="en-US" sz="900" b="1" dirty="0">
                <a:solidFill>
                  <a:srgbClr val="FFFFFF"/>
                </a:solidFill>
                <a:latin typeface="Liberation Sans Narrow" pitchFamily="34" charset="0"/>
                <a:ea typeface="Liberation Sans Narrow" pitchFamily="34" charset="-122"/>
                <a:cs typeface="Liberation Sans Narrow" pitchFamily="34" charset="-120"/>
              </a:rPr>
              <a:t>05</a:t>
            </a:r>
            <a:endParaRPr lang="en-US" sz="900" dirty="0"/>
          </a:p>
        </p:txBody>
      </p:sp>
      <p:pic>
        <p:nvPicPr>
          <p:cNvPr id="59" name="Image 14" descr="preencoded.png">    </p:cNvPr>
          <p:cNvPicPr>
            <a:picLocks noChangeAspect="1"/>
          </p:cNvPicPr>
          <p:nvPr/>
        </p:nvPicPr>
        <p:blipFill>
          <a:blip r:embed="rId15"/>
          <a:stretch>
            <a:fillRect/>
          </a:stretch>
        </p:blipFill>
        <p:spPr>
          <a:xfrm>
            <a:off x="935831" y="2099481"/>
            <a:ext cx="400050" cy="400050"/>
          </a:xfrm>
          <a:prstGeom prst="rect">
            <a:avLst/>
          </a:prstGeom>
        </p:spPr>
      </p:pic>
      <p:sp>
        <p:nvSpPr>
          <p:cNvPr id="60" name="Text 43"/>
          <p:cNvSpPr/>
          <p:nvPr/>
        </p:nvSpPr>
        <p:spPr>
          <a:xfrm>
            <a:off x="939403" y="2103053"/>
            <a:ext cx="392906" cy="392906"/>
          </a:xfrm>
          <a:prstGeom prst="roundRect">
            <a:avLst>
              <a:gd name="adj" fmla="val 33939"/>
            </a:avLst>
          </a:prstGeom>
          <a:noFill/>
          <a:ln w="7144">
            <a:solidFill>
              <a:srgbClr val="00D9FF"/>
            </a:solidFill>
            <a:prstDash val="solid"/>
          </a:ln>
        </p:spPr>
        <p:txBody>
          <a:bodyPr wrap="square" rtlCol="0" anchor="ctr"/>
          <a:lstStyle/>
          <a:p>
            <a:pPr indent="0" marL="0">
              <a:buNone/>
            </a:pPr>
            <a:endParaRPr lang="en-US" dirty="0"/>
          </a:p>
        </p:txBody>
      </p:sp>
      <p:sp>
        <p:nvSpPr>
          <p:cNvPr id="61" name="Text 44"/>
          <p:cNvSpPr/>
          <p:nvPr/>
        </p:nvSpPr>
        <p:spPr>
          <a:xfrm>
            <a:off x="990838" y="2154488"/>
            <a:ext cx="290036" cy="290036"/>
          </a:xfrm>
          <a:prstGeom prst="rect">
            <a:avLst/>
          </a:prstGeom>
          <a:noFill/>
          <a:ln/>
        </p:spPr>
        <p:txBody>
          <a:bodyPr wrap="none" lIns="0" tIns="0" rIns="0" bIns="0" rtlCol="0" anchor="ctr"/>
          <a:lstStyle/>
          <a:p>
            <a:pPr algn="ctr" indent="0" marL="0">
              <a:buNone/>
            </a:pPr>
            <a:r>
              <a:rPr lang="en-US" sz="1969" dirty="0">
                <a:solidFill>
                  <a:srgbClr val="00D9FF"/>
                </a:solidFill>
                <a:latin typeface="Segoe UI Symbol" pitchFamily="34" charset="0"/>
                <a:ea typeface="Segoe UI Symbol" pitchFamily="34" charset="-122"/>
                <a:cs typeface="Segoe UI Symbol" pitchFamily="34" charset="-120"/>
              </a:rPr>
              <a:t>⚒</a:t>
            </a:r>
            <a:endParaRPr lang="en-US" sz="1969" dirty="0"/>
          </a:p>
        </p:txBody>
      </p:sp>
      <p:sp>
        <p:nvSpPr>
          <p:cNvPr id="62" name="Text 45"/>
          <p:cNvSpPr/>
          <p:nvPr/>
        </p:nvSpPr>
        <p:spPr>
          <a:xfrm>
            <a:off x="550069" y="2599544"/>
            <a:ext cx="1171575" cy="196739"/>
          </a:xfrm>
          <a:prstGeom prst="rect">
            <a:avLst/>
          </a:prstGeom>
          <a:noFill/>
          <a:ln/>
        </p:spPr>
        <p:txBody>
          <a:bodyPr wrap="none" lIns="0" tIns="0" rIns="0" bIns="0" rtlCol="0" anchor="t"/>
          <a:lstStyle/>
          <a:p>
            <a:pPr algn="ctr" indent="0" marL="0">
              <a:lnSpc>
                <a:spcPts val="1434"/>
              </a:lnSpc>
              <a:buNone/>
            </a:pPr>
            <a:r>
              <a:rPr lang="en-US" sz="956" b="1" dirty="0">
                <a:solidFill>
                  <a:srgbClr val="EAF6FF"/>
                </a:solidFill>
                <a:latin typeface="Carlito" pitchFamily="34" charset="0"/>
                <a:ea typeface="Carlito" pitchFamily="34" charset="-122"/>
                <a:cs typeface="Carlito" pitchFamily="34" charset="-120"/>
              </a:rPr>
              <a:t>التدعيم</a:t>
            </a:r>
            <a:endParaRPr lang="en-US" sz="956" dirty="0"/>
          </a:p>
        </p:txBody>
      </p:sp>
      <p:sp>
        <p:nvSpPr>
          <p:cNvPr id="63" name="Text 46"/>
          <p:cNvSpPr/>
          <p:nvPr/>
        </p:nvSpPr>
        <p:spPr>
          <a:xfrm>
            <a:off x="550069" y="2838859"/>
            <a:ext cx="1171575" cy="329184"/>
          </a:xfrm>
          <a:prstGeom prst="rect">
            <a:avLst/>
          </a:prstGeom>
          <a:noFill/>
          <a:ln/>
        </p:spPr>
        <p:txBody>
          <a:bodyPr wrap="square" lIns="28575" tIns="0" rIns="28575" bIns="0" rtlCol="0" anchor="t"/>
          <a:lstStyle/>
          <a:p>
            <a:pPr algn="ctr" indent="0" marL="0">
              <a:lnSpc>
                <a:spcPts val="1055"/>
              </a:lnSpc>
              <a:buNone/>
            </a:pPr>
            <a:r>
              <a:rPr lang="en-US" sz="800" dirty="0">
                <a:solidFill>
                  <a:srgbClr val="8AA0CC"/>
                </a:solidFill>
                <a:latin typeface="Carlito" pitchFamily="34" charset="0"/>
                <a:ea typeface="Carlito" pitchFamily="34" charset="-122"/>
                <a:cs typeface="Carlito" pitchFamily="34" charset="-120"/>
              </a:rPr>
              <a:t>توسيع البيانات: قلب، تكبير، إضافة ضوضاء</a:t>
            </a:r>
            <a:endParaRPr lang="en-US" sz="800" dirty="0"/>
          </a:p>
        </p:txBody>
      </p:sp>
      <p:sp>
        <p:nvSpPr>
          <p:cNvPr id="64" name="Text 47"/>
          <p:cNvSpPr/>
          <p:nvPr/>
        </p:nvSpPr>
        <p:spPr>
          <a:xfrm>
            <a:off x="927404" y="3360353"/>
            <a:ext cx="416905" cy="167878"/>
          </a:xfrm>
          <a:prstGeom prst="rect">
            <a:avLst/>
          </a:prstGeom>
          <a:noFill/>
          <a:ln/>
        </p:spPr>
        <p:txBody>
          <a:bodyPr wrap="none" lIns="0" tIns="71438" rIns="0" bIns="0" rtlCol="0" anchor="t"/>
          <a:lstStyle/>
          <a:p>
            <a:pPr algn="ctr" indent="0" marL="0">
              <a:lnSpc>
                <a:spcPts val="759"/>
              </a:lnSpc>
              <a:buNone/>
            </a:pPr>
            <a:r>
              <a:rPr lang="en-US" sz="600" spc="84" kern="0" dirty="0">
                <a:solidFill>
                  <a:srgbClr val="5B6B96"/>
                </a:solidFill>
                <a:latin typeface="Courier New" pitchFamily="34" charset="0"/>
                <a:ea typeface="Courier New" pitchFamily="34" charset="-122"/>
                <a:cs typeface="Courier New" pitchFamily="34" charset="-120"/>
              </a:rPr>
              <a:t>AUGMENT</a:t>
            </a:r>
            <a:endParaRPr lang="en-US" sz="600" dirty="0"/>
          </a:p>
        </p:txBody>
      </p:sp>
      <p:sp>
        <p:nvSpPr>
          <p:cNvPr id="65" name="Text 48"/>
          <p:cNvSpPr/>
          <p:nvPr/>
        </p:nvSpPr>
        <p:spPr>
          <a:xfrm>
            <a:off x="8527520" y="3821125"/>
            <a:ext cx="258552" cy="164592"/>
          </a:xfrm>
          <a:prstGeom prst="rect">
            <a:avLst/>
          </a:prstGeom>
          <a:noFill/>
          <a:ln/>
        </p:spPr>
        <p:txBody>
          <a:bodyPr wrap="square" lIns="0" tIns="0" rIns="0" bIns="0" rtlCol="0" anchor="t"/>
          <a:lstStyle/>
          <a:p>
            <a:pPr algn="l" indent="0" marL="0">
              <a:lnSpc>
                <a:spcPts val="928"/>
              </a:lnSpc>
              <a:buNone/>
            </a:pPr>
            <a:r>
              <a:rPr lang="en-US" sz="800" spc="84" kern="0" dirty="0">
                <a:solidFill>
                  <a:srgbClr val="5B6B96"/>
                </a:solidFill>
                <a:latin typeface="Courier New" pitchFamily="34" charset="0"/>
                <a:ea typeface="Courier New" pitchFamily="34" charset="-122"/>
                <a:cs typeface="Courier New" pitchFamily="34" charset="-120"/>
              </a:rPr>
              <a:t>RAW</a:t>
            </a:r>
            <a:endParaRPr lang="en-US" sz="800" dirty="0"/>
          </a:p>
        </p:txBody>
      </p:sp>
      <p:pic>
        <p:nvPicPr>
          <p:cNvPr id="66" name="Image 15" descr="preencoded.png">    </p:cNvPr>
          <p:cNvPicPr>
            <a:picLocks noChangeAspect="1"/>
          </p:cNvPicPr>
          <p:nvPr/>
        </p:nvPicPr>
        <p:blipFill>
          <a:blip r:embed="rId16"/>
          <a:stretch>
            <a:fillRect/>
          </a:stretch>
        </p:blipFill>
        <p:spPr>
          <a:xfrm>
            <a:off x="1107281" y="3858630"/>
            <a:ext cx="7329488" cy="42863"/>
          </a:xfrm>
          <a:prstGeom prst="rect">
            <a:avLst/>
          </a:prstGeom>
        </p:spPr>
      </p:pic>
      <p:sp>
        <p:nvSpPr>
          <p:cNvPr id="67" name="Text 49"/>
          <p:cNvSpPr/>
          <p:nvPr/>
        </p:nvSpPr>
        <p:spPr>
          <a:xfrm>
            <a:off x="457200" y="3821125"/>
            <a:ext cx="702696" cy="164592"/>
          </a:xfrm>
          <a:prstGeom prst="rect">
            <a:avLst/>
          </a:prstGeom>
          <a:noFill/>
          <a:ln/>
        </p:spPr>
        <p:txBody>
          <a:bodyPr wrap="none" lIns="0" tIns="0" rIns="0" bIns="0" rtlCol="0" anchor="t"/>
          <a:lstStyle/>
          <a:p>
            <a:pPr algn="l" indent="0" marL="0">
              <a:lnSpc>
                <a:spcPts val="928"/>
              </a:lnSpc>
              <a:buNone/>
            </a:pPr>
            <a:r>
              <a:rPr lang="en-US" sz="619" spc="84" kern="0" dirty="0">
                <a:solidFill>
                  <a:srgbClr val="5B6B96"/>
                </a:solidFill>
                <a:latin typeface="Courier New" pitchFamily="34" charset="0"/>
                <a:ea typeface="Courier New" pitchFamily="34" charset="-122"/>
                <a:cs typeface="Courier New" pitchFamily="34" charset="-120"/>
              </a:rPr>
              <a:t>TRAIN-READY</a:t>
            </a:r>
            <a:endParaRPr lang="en-US" sz="619" dirty="0"/>
          </a:p>
        </p:txBody>
      </p:sp>
      <p:sp>
        <p:nvSpPr>
          <p:cNvPr id="68" name="Text 50"/>
          <p:cNvSpPr/>
          <p:nvPr/>
        </p:nvSpPr>
        <p:spPr>
          <a:xfrm>
            <a:off x="8351705" y="4857750"/>
            <a:ext cx="433588"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صفحة 06</a:t>
            </a:r>
            <a:endParaRPr lang="en-US" sz="800" dirty="0"/>
          </a:p>
        </p:txBody>
      </p:sp>
      <p:sp>
        <p:nvSpPr>
          <p:cNvPr id="69" name="Text 51"/>
          <p:cNvSpPr/>
          <p:nvPr/>
        </p:nvSpPr>
        <p:spPr>
          <a:xfrm>
            <a:off x="989075" y="4900613"/>
            <a:ext cx="42863" cy="42863"/>
          </a:xfrm>
          <a:prstGeom prst="roundRect">
            <a:avLst>
              <a:gd name="adj" fmla="val 66666"/>
            </a:avLst>
          </a:prstGeom>
          <a:solidFill>
            <a:srgbClr val="00D9FF"/>
          </a:solidFill>
          <a:ln/>
        </p:spPr>
        <p:txBody>
          <a:bodyPr wrap="square" rtlCol="0" anchor="ctr"/>
          <a:lstStyle/>
          <a:p>
            <a:pPr indent="0" marL="0">
              <a:buNone/>
            </a:pPr>
            <a:endParaRPr lang="en-US" dirty="0"/>
          </a:p>
        </p:txBody>
      </p:sp>
      <p:sp>
        <p:nvSpPr>
          <p:cNvPr id="70" name="Text 52"/>
          <p:cNvSpPr/>
          <p:nvPr/>
        </p:nvSpPr>
        <p:spPr>
          <a:xfrm>
            <a:off x="457200" y="4857750"/>
            <a:ext cx="7886700"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 AI SKILLS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65000"/>
          </a:blip>
          <a:stretch>
            <a:fillRect/>
          </a:stretch>
        </p:blipFill>
        <p:spPr>
          <a:xfrm>
            <a:off x="6858000" y="-1143000"/>
            <a:ext cx="3429000" cy="3429000"/>
          </a:xfrm>
          <a:prstGeom prst="rect">
            <a:avLst/>
          </a:prstGeom>
        </p:spPr>
      </p:pic>
      <p:sp>
        <p:nvSpPr>
          <p:cNvPr id="4" name="Text 0"/>
          <p:cNvSpPr/>
          <p:nvPr/>
        </p:nvSpPr>
        <p:spPr>
          <a:xfrm>
            <a:off x="6858000" y="-1143000"/>
            <a:ext cx="3429000" cy="3429000"/>
          </a:xfrm>
          <a:prstGeom prst="ellipse">
            <a:avLst/>
          </a:prstGeom>
          <a:solidFill>
            <a:srgbClr val="FFFFFF">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65000"/>
          </a:blip>
          <a:stretch>
            <a:fillRect/>
          </a:stretch>
        </p:blipFill>
        <p:spPr>
          <a:xfrm>
            <a:off x="-1143000" y="3429000"/>
            <a:ext cx="3000375" cy="3000375"/>
          </a:xfrm>
          <a:prstGeom prst="rect">
            <a:avLst/>
          </a:prstGeom>
        </p:spPr>
      </p:pic>
      <p:sp>
        <p:nvSpPr>
          <p:cNvPr id="6" name="Text 1"/>
          <p:cNvSpPr/>
          <p:nvPr/>
        </p:nvSpPr>
        <p:spPr>
          <a:xfrm>
            <a:off x="-1143000" y="3429000"/>
            <a:ext cx="3000375" cy="3000375"/>
          </a:xfrm>
          <a:prstGeom prst="ellipse">
            <a:avLst/>
          </a:prstGeom>
          <a:solidFill>
            <a:srgbClr val="FFFFFF">
              <a:alpha val="0"/>
            </a:srgbClr>
          </a:solidFill>
          <a:ln/>
        </p:spPr>
        <p:txBody>
          <a:bodyPr wrap="square" rtlCol="0" anchor="ctr"/>
          <a:lstStyle/>
          <a:p>
            <a:pPr indent="0" marL="0">
              <a:buNone/>
            </a:pPr>
            <a:endParaRPr lang="en-US" dirty="0"/>
          </a:p>
        </p:txBody>
      </p:sp>
      <p:sp>
        <p:nvSpPr>
          <p:cNvPr id="7" name="Text 2"/>
          <p:cNvSpPr/>
          <p:nvPr/>
        </p:nvSpPr>
        <p:spPr>
          <a:xfrm>
            <a:off x="87436" y="1571625"/>
            <a:ext cx="3626853" cy="2160270"/>
          </a:xfrm>
          <a:prstGeom prst="rect">
            <a:avLst/>
          </a:prstGeom>
          <a:noFill/>
          <a:ln/>
        </p:spPr>
        <p:txBody>
          <a:bodyPr wrap="square" lIns="0" tIns="0" rIns="0" bIns="0" rtlCol="0" anchor="t"/>
          <a:lstStyle/>
          <a:p>
            <a:pPr algn="l" indent="0" marL="0">
              <a:lnSpc>
                <a:spcPts val="15750"/>
              </a:lnSpc>
              <a:buNone/>
            </a:pPr>
            <a:r>
              <a:rPr lang="en-US" sz="15750" b="1" spc="-630" kern="0" dirty="0">
                <a:solidFill>
                  <a:srgbClr val="00D9FF">
                    <a:alpha val="8000"/>
                  </a:srgbClr>
                </a:solidFill>
                <a:latin typeface="Liberation Sans Narrow" pitchFamily="34" charset="0"/>
                <a:ea typeface="Liberation Sans Narrow" pitchFamily="34" charset="-122"/>
                <a:cs typeface="Liberation Sans Narrow" pitchFamily="34" charset="-120"/>
              </a:rPr>
              <a:t>03</a:t>
            </a:r>
            <a:endParaRPr lang="en-US" sz="15750" dirty="0"/>
          </a:p>
        </p:txBody>
      </p:sp>
      <p:pic>
        <p:nvPicPr>
          <p:cNvPr id="8" name="Image 3" descr="preencoded.png">    </p:cNvPr>
          <p:cNvPicPr>
            <a:picLocks noChangeAspect="1"/>
          </p:cNvPicPr>
          <p:nvPr/>
        </p:nvPicPr>
        <p:blipFill>
          <a:blip r:embed="rId4"/>
          <a:stretch>
            <a:fillRect/>
          </a:stretch>
        </p:blipFill>
        <p:spPr>
          <a:xfrm>
            <a:off x="8893969" y="571500"/>
            <a:ext cx="21431" cy="4000500"/>
          </a:xfrm>
          <a:prstGeom prst="rect">
            <a:avLst/>
          </a:prstGeom>
        </p:spPr>
      </p:pic>
      <p:sp>
        <p:nvSpPr>
          <p:cNvPr id="9" name="Text 3"/>
          <p:cNvSpPr/>
          <p:nvPr/>
        </p:nvSpPr>
        <p:spPr>
          <a:xfrm>
            <a:off x="3932992" y="1434143"/>
            <a:ext cx="1278128" cy="304209"/>
          </a:xfrm>
          <a:prstGeom prst="roundRect">
            <a:avLst>
              <a:gd name="adj" fmla="val 3127940"/>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10" name="Text 4"/>
          <p:cNvSpPr/>
          <p:nvPr/>
        </p:nvSpPr>
        <p:spPr>
          <a:xfrm>
            <a:off x="3990279" y="1525525"/>
            <a:ext cx="992104" cy="133241"/>
          </a:xfrm>
          <a:prstGeom prst="rect">
            <a:avLst/>
          </a:prstGeom>
          <a:noFill/>
          <a:ln/>
        </p:spPr>
        <p:txBody>
          <a:bodyPr wrap="none" lIns="0" tIns="0" rIns="0" bIns="0" rtlCol="0" anchor="t"/>
          <a:lstStyle/>
          <a:p>
            <a:pPr algn="ctr" indent="0" marL="0">
              <a:lnSpc>
                <a:spcPts val="1181"/>
              </a:lnSpc>
              <a:buNone/>
            </a:pPr>
            <a:r>
              <a:rPr lang="en-US" sz="788" dirty="0">
                <a:solidFill>
                  <a:srgbClr val="B845FF"/>
                </a:solidFill>
                <a:latin typeface="Liberation Sans Narrow" pitchFamily="34" charset="0"/>
                <a:ea typeface="Liberation Sans Narrow" pitchFamily="34" charset="-122"/>
                <a:cs typeface="Liberation Sans Narrow" pitchFamily="34" charset="-120"/>
              </a:rPr>
              <a:t>CHAPTER 03 / 04</a:t>
            </a:r>
            <a:endParaRPr lang="en-US" sz="788" dirty="0"/>
          </a:p>
        </p:txBody>
      </p:sp>
      <p:sp>
        <p:nvSpPr>
          <p:cNvPr id="11" name="Text 5"/>
          <p:cNvSpPr/>
          <p:nvPr/>
        </p:nvSpPr>
        <p:spPr>
          <a:xfrm>
            <a:off x="4938229" y="1529097"/>
            <a:ext cx="114300" cy="114300"/>
          </a:xfrm>
          <a:prstGeom prst="rect">
            <a:avLst/>
          </a:prstGeom>
          <a:noFill/>
          <a:ln/>
        </p:spPr>
        <p:txBody>
          <a:bodyPr wrap="none" lIns="0" tIns="0" rIns="0" bIns="0" rtlCol="0" anchor="ctr"/>
          <a:lstStyle/>
          <a:p>
            <a:pPr algn="ctr" indent="0" marL="0">
              <a:buNone/>
            </a:pPr>
            <a:r>
              <a:rPr lang="en-US" sz="1125" dirty="0">
                <a:solidFill>
                  <a:srgbClr val="B845FF"/>
                </a:solidFill>
                <a:latin typeface="Segoe UI Symbol" pitchFamily="34" charset="0"/>
                <a:ea typeface="Segoe UI Symbol" pitchFamily="34" charset="-122"/>
                <a:cs typeface="Segoe UI Symbol" pitchFamily="34" charset="-120"/>
              </a:rPr>
              <a:t>❏</a:t>
            </a:r>
            <a:endParaRPr lang="en-US" sz="1125" dirty="0"/>
          </a:p>
        </p:txBody>
      </p:sp>
      <p:sp>
        <p:nvSpPr>
          <p:cNvPr id="12" name="Text 6"/>
          <p:cNvSpPr/>
          <p:nvPr/>
        </p:nvSpPr>
        <p:spPr>
          <a:xfrm>
            <a:off x="274320" y="1939863"/>
            <a:ext cx="8595360" cy="627949"/>
          </a:xfrm>
          <a:prstGeom prst="rect">
            <a:avLst/>
          </a:prstGeom>
          <a:noFill/>
          <a:ln/>
        </p:spPr>
        <p:txBody>
          <a:bodyPr wrap="none" lIns="0" tIns="0" rIns="0" bIns="0" rtlCol="0" anchor="t"/>
          <a:lstStyle/>
          <a:p>
            <a:pPr algn="ctr" indent="0" marL="0">
              <a:lnSpc>
                <a:spcPts val="4579"/>
              </a:lnSpc>
              <a:buNone/>
            </a:pPr>
            <a:r>
              <a:rPr lang="en-US" sz="4163" b="1" spc="-42" kern="0" dirty="0">
                <a:solidFill>
                  <a:srgbClr val="00D9FF"/>
                </a:solidFill>
                <a:latin typeface="Carlito" pitchFamily="34" charset="0"/>
                <a:ea typeface="Carlito" pitchFamily="34" charset="-122"/>
                <a:cs typeface="Carlito" pitchFamily="34" charset="-120"/>
              </a:rPr>
              <a:t>أنواع التعلم الآلي</a:t>
            </a:r>
            <a:endParaRPr lang="en-US" sz="4163" dirty="0"/>
          </a:p>
        </p:txBody>
      </p:sp>
      <p:pic>
        <p:nvPicPr>
          <p:cNvPr id="13" name="Image 4" descr="preencoded.png">    </p:cNvPr>
          <p:cNvPicPr>
            <a:picLocks noChangeAspect="1"/>
          </p:cNvPicPr>
          <p:nvPr/>
        </p:nvPicPr>
        <p:blipFill>
          <a:blip r:embed="rId5"/>
          <a:stretch>
            <a:fillRect/>
          </a:stretch>
        </p:blipFill>
        <p:spPr>
          <a:xfrm>
            <a:off x="3857625" y="2678460"/>
            <a:ext cx="1428750" cy="14288"/>
          </a:xfrm>
          <a:prstGeom prst="rect">
            <a:avLst/>
          </a:prstGeom>
        </p:spPr>
      </p:pic>
      <p:sp>
        <p:nvSpPr>
          <p:cNvPr id="14" name="Text 7"/>
          <p:cNvSpPr/>
          <p:nvPr/>
        </p:nvSpPr>
        <p:spPr>
          <a:xfrm>
            <a:off x="2270373" y="2849910"/>
            <a:ext cx="4603254" cy="254603"/>
          </a:xfrm>
          <a:prstGeom prst="rect">
            <a:avLst/>
          </a:prstGeom>
          <a:noFill/>
          <a:ln/>
        </p:spPr>
        <p:txBody>
          <a:bodyPr wrap="square" lIns="0" tIns="0" rIns="0" bIns="0" rtlCol="0" anchor="t"/>
          <a:lstStyle/>
          <a:p>
            <a:pPr algn="ctr" indent="0" marL="0">
              <a:lnSpc>
                <a:spcPts val="1856"/>
              </a:lnSpc>
              <a:buNone/>
            </a:pPr>
            <a:r>
              <a:rPr lang="en-US" sz="1238" dirty="0">
                <a:solidFill>
                  <a:srgbClr val="8AA0CC"/>
                </a:solidFill>
                <a:latin typeface="Carlito" pitchFamily="34" charset="0"/>
                <a:ea typeface="Carlito" pitchFamily="34" charset="-122"/>
                <a:cs typeface="Carlito" pitchFamily="34" charset="-120"/>
              </a:rPr>
              <a:t>أربع طرق رئيسية يتعلم بها الذكاء الاصطناعي من البيانات.</a:t>
            </a:r>
            <a:endParaRPr lang="en-US" sz="1238" dirty="0"/>
          </a:p>
        </p:txBody>
      </p:sp>
      <p:sp>
        <p:nvSpPr>
          <p:cNvPr id="15" name="Text 8"/>
          <p:cNvSpPr/>
          <p:nvPr/>
        </p:nvSpPr>
        <p:spPr>
          <a:xfrm>
            <a:off x="5627489" y="3415752"/>
            <a:ext cx="835819" cy="293494"/>
          </a:xfrm>
          <a:prstGeom prst="roundRect">
            <a:avLst>
              <a:gd name="adj" fmla="val 3242136"/>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16" name="Text 9"/>
          <p:cNvSpPr/>
          <p:nvPr/>
        </p:nvSpPr>
        <p:spPr>
          <a:xfrm>
            <a:off x="5660165" y="3499991"/>
            <a:ext cx="613305" cy="143490"/>
          </a:xfrm>
          <a:prstGeom prst="rect">
            <a:avLst/>
          </a:prstGeom>
          <a:noFill/>
          <a:ln/>
        </p:spPr>
        <p:txBody>
          <a:bodyPr wrap="none" lIns="0" tIns="0" rIns="0" bIns="0" rtlCol="0" anchor="t"/>
          <a:lstStyle/>
          <a:p>
            <a:pPr algn="ctr" indent="0" marL="0">
              <a:lnSpc>
                <a:spcPts val="1097"/>
              </a:lnSpc>
              <a:buNone/>
            </a:pPr>
            <a:r>
              <a:rPr lang="en-US" sz="731" dirty="0">
                <a:solidFill>
                  <a:srgbClr val="00D9FF"/>
                </a:solidFill>
                <a:latin typeface="Courier New" pitchFamily="34" charset="0"/>
                <a:ea typeface="Courier New" pitchFamily="34" charset="-122"/>
                <a:cs typeface="Courier New" pitchFamily="34" charset="-120"/>
              </a:rPr>
              <a:t>Supervised</a:t>
            </a:r>
            <a:endParaRPr lang="en-US" sz="731" dirty="0"/>
          </a:p>
        </p:txBody>
      </p:sp>
      <p:sp>
        <p:nvSpPr>
          <p:cNvPr id="17" name="Text 10"/>
          <p:cNvSpPr/>
          <p:nvPr/>
        </p:nvSpPr>
        <p:spPr>
          <a:xfrm>
            <a:off x="6256139" y="3512493"/>
            <a:ext cx="100013" cy="100013"/>
          </a:xfrm>
          <a:prstGeom prst="rect">
            <a:avLst/>
          </a:prstGeom>
          <a:noFill/>
          <a:ln/>
        </p:spPr>
        <p:txBody>
          <a:bodyPr wrap="none" lIns="0" tIns="0" rIns="0" bIns="0" rtlCol="0" anchor="ctr"/>
          <a:lstStyle/>
          <a:p>
            <a:pPr algn="ctr" indent="0" marL="0">
              <a:buNone/>
            </a:pPr>
            <a:r>
              <a:rPr lang="en-US" sz="984" dirty="0">
                <a:solidFill>
                  <a:srgbClr val="00D9FF"/>
                </a:solidFill>
                <a:latin typeface="Segoe UI Symbol" pitchFamily="34" charset="0"/>
                <a:ea typeface="Segoe UI Symbol" pitchFamily="34" charset="-122"/>
                <a:cs typeface="Segoe UI Symbol" pitchFamily="34" charset="-120"/>
              </a:rPr>
              <a:t>✓</a:t>
            </a:r>
            <a:endParaRPr lang="en-US" sz="984" dirty="0"/>
          </a:p>
        </p:txBody>
      </p:sp>
      <p:sp>
        <p:nvSpPr>
          <p:cNvPr id="18" name="Text 11"/>
          <p:cNvSpPr/>
          <p:nvPr/>
        </p:nvSpPr>
        <p:spPr>
          <a:xfrm>
            <a:off x="4598789" y="3415752"/>
            <a:ext cx="928688" cy="293494"/>
          </a:xfrm>
          <a:prstGeom prst="roundRect">
            <a:avLst>
              <a:gd name="adj" fmla="val 3242136"/>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19" name="Text 12"/>
          <p:cNvSpPr/>
          <p:nvPr/>
        </p:nvSpPr>
        <p:spPr>
          <a:xfrm>
            <a:off x="4620915" y="3499991"/>
            <a:ext cx="727274" cy="143490"/>
          </a:xfrm>
          <a:prstGeom prst="rect">
            <a:avLst/>
          </a:prstGeom>
          <a:noFill/>
          <a:ln/>
        </p:spPr>
        <p:txBody>
          <a:bodyPr wrap="none" lIns="0" tIns="0" rIns="0" bIns="0" rtlCol="0" anchor="t"/>
          <a:lstStyle/>
          <a:p>
            <a:pPr algn="ctr" indent="0" marL="0">
              <a:lnSpc>
                <a:spcPts val="1097"/>
              </a:lnSpc>
              <a:buNone/>
            </a:pPr>
            <a:r>
              <a:rPr lang="en-US" sz="731" dirty="0">
                <a:solidFill>
                  <a:srgbClr val="B845FF"/>
                </a:solidFill>
                <a:latin typeface="Courier New" pitchFamily="34" charset="0"/>
                <a:ea typeface="Courier New" pitchFamily="34" charset="-122"/>
                <a:cs typeface="Courier New" pitchFamily="34" charset="-120"/>
              </a:rPr>
              <a:t>Unsupervised</a:t>
            </a:r>
            <a:endParaRPr lang="en-US" sz="731" dirty="0"/>
          </a:p>
        </p:txBody>
      </p:sp>
      <p:sp>
        <p:nvSpPr>
          <p:cNvPr id="20" name="Text 13"/>
          <p:cNvSpPr/>
          <p:nvPr/>
        </p:nvSpPr>
        <p:spPr>
          <a:xfrm>
            <a:off x="5320308" y="3512493"/>
            <a:ext cx="100013" cy="100013"/>
          </a:xfrm>
          <a:prstGeom prst="rect">
            <a:avLst/>
          </a:prstGeom>
          <a:noFill/>
          <a:ln/>
        </p:spPr>
        <p:txBody>
          <a:bodyPr wrap="none" lIns="0" tIns="0" rIns="0" bIns="0" rtlCol="0" anchor="ctr"/>
          <a:lstStyle/>
          <a:p>
            <a:pPr algn="ctr" indent="0" marL="0">
              <a:buNone/>
            </a:pPr>
            <a:r>
              <a:rPr lang="en-US" sz="984" dirty="0">
                <a:solidFill>
                  <a:srgbClr val="B845FF"/>
                </a:solidFill>
                <a:latin typeface="Segoe UI Symbol" pitchFamily="34" charset="0"/>
                <a:ea typeface="Segoe UI Symbol" pitchFamily="34" charset="-122"/>
                <a:cs typeface="Segoe UI Symbol" pitchFamily="34" charset="-120"/>
              </a:rPr>
              <a:t>✦</a:t>
            </a:r>
            <a:endParaRPr lang="en-US" sz="984" dirty="0"/>
          </a:p>
        </p:txBody>
      </p:sp>
      <p:sp>
        <p:nvSpPr>
          <p:cNvPr id="21" name="Text 14"/>
          <p:cNvSpPr/>
          <p:nvPr/>
        </p:nvSpPr>
        <p:spPr>
          <a:xfrm>
            <a:off x="3523655" y="3415752"/>
            <a:ext cx="975122" cy="293494"/>
          </a:xfrm>
          <a:prstGeom prst="roundRect">
            <a:avLst>
              <a:gd name="adj" fmla="val 3242136"/>
            </a:avLst>
          </a:prstGeom>
          <a:solidFill>
            <a:srgbClr val="FFD166">
              <a:alpha val="10000"/>
            </a:srgbClr>
          </a:solidFill>
          <a:ln w="7144">
            <a:solidFill>
              <a:srgbClr val="FFD166"/>
            </a:solidFill>
            <a:prstDash val="solid"/>
          </a:ln>
        </p:spPr>
        <p:txBody>
          <a:bodyPr wrap="square" rtlCol="0" anchor="ctr"/>
          <a:lstStyle/>
          <a:p>
            <a:pPr indent="0" marL="0">
              <a:buNone/>
            </a:pPr>
            <a:endParaRPr lang="en-US" dirty="0"/>
          </a:p>
        </p:txBody>
      </p:sp>
      <p:sp>
        <p:nvSpPr>
          <p:cNvPr id="22" name="Text 15"/>
          <p:cNvSpPr/>
          <p:nvPr/>
        </p:nvSpPr>
        <p:spPr>
          <a:xfrm>
            <a:off x="3630811" y="3499991"/>
            <a:ext cx="603647" cy="143490"/>
          </a:xfrm>
          <a:prstGeom prst="rect">
            <a:avLst/>
          </a:prstGeom>
          <a:noFill/>
          <a:ln/>
        </p:spPr>
        <p:txBody>
          <a:bodyPr wrap="none" lIns="0" tIns="0" rIns="0" bIns="0" rtlCol="0" anchor="t"/>
          <a:lstStyle/>
          <a:p>
            <a:pPr algn="ctr" indent="0" marL="0">
              <a:lnSpc>
                <a:spcPts val="1097"/>
              </a:lnSpc>
              <a:buNone/>
            </a:pPr>
            <a:r>
              <a:rPr lang="en-US" sz="731" dirty="0">
                <a:solidFill>
                  <a:srgbClr val="FFD166"/>
                </a:solidFill>
                <a:latin typeface="Courier New" pitchFamily="34" charset="0"/>
                <a:ea typeface="Courier New" pitchFamily="34" charset="-122"/>
                <a:cs typeface="Courier New" pitchFamily="34" charset="-120"/>
              </a:rPr>
              <a:t>Reinforcement</a:t>
            </a:r>
            <a:endParaRPr lang="en-US" sz="731" dirty="0"/>
          </a:p>
        </p:txBody>
      </p:sp>
      <p:sp>
        <p:nvSpPr>
          <p:cNvPr id="23" name="Text 16"/>
          <p:cNvSpPr/>
          <p:nvPr/>
        </p:nvSpPr>
        <p:spPr>
          <a:xfrm>
            <a:off x="4291608" y="3512493"/>
            <a:ext cx="100013" cy="100013"/>
          </a:xfrm>
          <a:prstGeom prst="rect">
            <a:avLst/>
          </a:prstGeom>
          <a:noFill/>
          <a:ln/>
        </p:spPr>
        <p:txBody>
          <a:bodyPr wrap="none" lIns="0" tIns="0" rIns="0" bIns="0" rtlCol="0" anchor="ctr"/>
          <a:lstStyle/>
          <a:p>
            <a:pPr algn="ctr" indent="0" marL="0">
              <a:buNone/>
            </a:pPr>
            <a:r>
              <a:rPr lang="en-US" sz="984" dirty="0">
                <a:solidFill>
                  <a:srgbClr val="FFD166"/>
                </a:solidFill>
                <a:latin typeface="Segoe UI Symbol" pitchFamily="34" charset="0"/>
                <a:ea typeface="Segoe UI Symbol" pitchFamily="34" charset="-122"/>
                <a:cs typeface="Segoe UI Symbol" pitchFamily="34" charset="-120"/>
              </a:rPr>
              <a:t>✦</a:t>
            </a:r>
            <a:endParaRPr lang="en-US" sz="984" dirty="0"/>
          </a:p>
        </p:txBody>
      </p:sp>
      <p:sp>
        <p:nvSpPr>
          <p:cNvPr id="24" name="Text 17"/>
          <p:cNvSpPr/>
          <p:nvPr/>
        </p:nvSpPr>
        <p:spPr>
          <a:xfrm>
            <a:off x="2680692" y="3415752"/>
            <a:ext cx="742950" cy="293494"/>
          </a:xfrm>
          <a:prstGeom prst="roundRect">
            <a:avLst>
              <a:gd name="adj" fmla="val 3242136"/>
            </a:avLst>
          </a:prstGeom>
          <a:solidFill>
            <a:srgbClr val="00F5A0">
              <a:alpha val="8000"/>
            </a:srgbClr>
          </a:solidFill>
          <a:ln w="7144">
            <a:solidFill>
              <a:srgbClr val="00F5A0"/>
            </a:solidFill>
            <a:prstDash val="solid"/>
          </a:ln>
        </p:spPr>
        <p:txBody>
          <a:bodyPr wrap="square" rtlCol="0" anchor="ctr"/>
          <a:lstStyle/>
          <a:p>
            <a:pPr indent="0" marL="0">
              <a:buNone/>
            </a:pPr>
            <a:endParaRPr lang="en-US" dirty="0"/>
          </a:p>
        </p:txBody>
      </p:sp>
      <p:sp>
        <p:nvSpPr>
          <p:cNvPr id="25" name="Text 18"/>
          <p:cNvSpPr/>
          <p:nvPr/>
        </p:nvSpPr>
        <p:spPr>
          <a:xfrm>
            <a:off x="2723918" y="3499991"/>
            <a:ext cx="499337" cy="143490"/>
          </a:xfrm>
          <a:prstGeom prst="rect">
            <a:avLst/>
          </a:prstGeom>
          <a:noFill/>
          <a:ln/>
        </p:spPr>
        <p:txBody>
          <a:bodyPr wrap="none" lIns="0" tIns="0" rIns="0" bIns="0" rtlCol="0" anchor="t"/>
          <a:lstStyle/>
          <a:p>
            <a:pPr algn="ctr" indent="0" marL="0">
              <a:lnSpc>
                <a:spcPts val="1097"/>
              </a:lnSpc>
              <a:buNone/>
            </a:pPr>
            <a:r>
              <a:rPr lang="en-US" sz="731" dirty="0">
                <a:solidFill>
                  <a:srgbClr val="00F5A0"/>
                </a:solidFill>
                <a:latin typeface="Courier New" pitchFamily="34" charset="0"/>
                <a:ea typeface="Courier New" pitchFamily="34" charset="-122"/>
                <a:cs typeface="Courier New" pitchFamily="34" charset="-120"/>
              </a:rPr>
              <a:t>Transfer</a:t>
            </a:r>
            <a:endParaRPr lang="en-US" sz="731" dirty="0"/>
          </a:p>
        </p:txBody>
      </p:sp>
      <p:sp>
        <p:nvSpPr>
          <p:cNvPr id="26" name="Text 19"/>
          <p:cNvSpPr/>
          <p:nvPr/>
        </p:nvSpPr>
        <p:spPr>
          <a:xfrm>
            <a:off x="3216473" y="3512493"/>
            <a:ext cx="100013" cy="100013"/>
          </a:xfrm>
          <a:prstGeom prst="rect">
            <a:avLst/>
          </a:prstGeom>
          <a:noFill/>
          <a:ln/>
        </p:spPr>
        <p:txBody>
          <a:bodyPr wrap="none" lIns="0" tIns="0" rIns="0" bIns="0" rtlCol="0" anchor="ctr"/>
          <a:lstStyle/>
          <a:p>
            <a:pPr algn="ctr" indent="0" marL="0">
              <a:buNone/>
            </a:pPr>
            <a:r>
              <a:rPr lang="en-US" sz="984" dirty="0">
                <a:solidFill>
                  <a:srgbClr val="00F5A0"/>
                </a:solidFill>
                <a:latin typeface="Segoe UI Symbol" pitchFamily="34" charset="0"/>
                <a:ea typeface="Segoe UI Symbol" pitchFamily="34" charset="-122"/>
                <a:cs typeface="Segoe UI Symbol" pitchFamily="34" charset="-120"/>
              </a:rPr>
              <a:t>✦</a:t>
            </a:r>
            <a:endParaRPr lang="en-US" sz="984" dirty="0"/>
          </a:p>
        </p:txBody>
      </p:sp>
      <p:sp>
        <p:nvSpPr>
          <p:cNvPr id="27" name="Text 20"/>
          <p:cNvSpPr/>
          <p:nvPr/>
        </p:nvSpPr>
        <p:spPr>
          <a:xfrm>
            <a:off x="8643938" y="4900613"/>
            <a:ext cx="42863" cy="42863"/>
          </a:xfrm>
          <a:prstGeom prst="roundRect">
            <a:avLst>
              <a:gd name="adj" fmla="val 66666"/>
            </a:avLst>
          </a:prstGeom>
          <a:solidFill>
            <a:srgbClr val="00D9FF"/>
          </a:solidFill>
          <a:ln/>
        </p:spPr>
        <p:txBody>
          <a:bodyPr wrap="square" rtlCol="0" anchor="ctr"/>
          <a:lstStyle/>
          <a:p>
            <a:pPr indent="0" marL="0">
              <a:buNone/>
            </a:pPr>
            <a:endParaRPr lang="en-US" dirty="0"/>
          </a:p>
        </p:txBody>
      </p:sp>
      <p:sp>
        <p:nvSpPr>
          <p:cNvPr id="28" name="Text 21"/>
          <p:cNvSpPr/>
          <p:nvPr/>
        </p:nvSpPr>
        <p:spPr>
          <a:xfrm>
            <a:off x="8222894" y="4857750"/>
            <a:ext cx="663773"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AI SKILLS</a:t>
            </a:r>
            <a:endParaRPr lang="en-US" sz="800" dirty="0"/>
          </a:p>
        </p:txBody>
      </p:sp>
      <p:sp>
        <p:nvSpPr>
          <p:cNvPr id="29" name="Text 22"/>
          <p:cNvSpPr/>
          <p:nvPr/>
        </p:nvSpPr>
        <p:spPr>
          <a:xfrm>
            <a:off x="457200" y="4857750"/>
            <a:ext cx="7752085"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صفحة 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66000"/>
          </a:blip>
          <a:stretch>
            <a:fillRect/>
          </a:stretch>
        </p:blipFill>
        <p:spPr>
          <a:xfrm>
            <a:off x="-1000125" y="-1285875"/>
            <a:ext cx="3429000" cy="3429000"/>
          </a:xfrm>
          <a:prstGeom prst="rect">
            <a:avLst/>
          </a:prstGeom>
        </p:spPr>
      </p:pic>
      <p:sp>
        <p:nvSpPr>
          <p:cNvPr id="4" name="Text 0"/>
          <p:cNvSpPr/>
          <p:nvPr/>
        </p:nvSpPr>
        <p:spPr>
          <a:xfrm>
            <a:off x="-1000125" y="-1285875"/>
            <a:ext cx="3429000" cy="3429000"/>
          </a:xfrm>
          <a:prstGeom prst="ellipse">
            <a:avLst/>
          </a:prstGeom>
          <a:solidFill>
            <a:srgbClr val="FFFFFF">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66000"/>
          </a:blip>
          <a:stretch>
            <a:fillRect/>
          </a:stretch>
        </p:blipFill>
        <p:spPr>
          <a:xfrm>
            <a:off x="7143750" y="3429000"/>
            <a:ext cx="3000375" cy="3000375"/>
          </a:xfrm>
          <a:prstGeom prst="rect">
            <a:avLst/>
          </a:prstGeom>
        </p:spPr>
      </p:pic>
      <p:sp>
        <p:nvSpPr>
          <p:cNvPr id="6" name="Text 1"/>
          <p:cNvSpPr/>
          <p:nvPr/>
        </p:nvSpPr>
        <p:spPr>
          <a:xfrm>
            <a:off x="7143750" y="3429000"/>
            <a:ext cx="3000375" cy="3000375"/>
          </a:xfrm>
          <a:prstGeom prst="ellipse">
            <a:avLst/>
          </a:prstGeom>
          <a:solidFill>
            <a:srgbClr val="FFFFFF">
              <a:alpha val="0"/>
            </a:srgbClr>
          </a:solidFill>
          <a:ln/>
        </p:spPr>
        <p:txBody>
          <a:bodyPr wrap="square" rtlCol="0" anchor="ctr"/>
          <a:lstStyle/>
          <a:p>
            <a:pPr indent="0" marL="0">
              <a:buNone/>
            </a:pPr>
            <a:endParaRPr lang="en-US" dirty="0"/>
          </a:p>
        </p:txBody>
      </p:sp>
      <p:sp>
        <p:nvSpPr>
          <p:cNvPr id="7" name="Text 2"/>
          <p:cNvSpPr/>
          <p:nvPr/>
        </p:nvSpPr>
        <p:spPr>
          <a:xfrm>
            <a:off x="7355406" y="387248"/>
            <a:ext cx="1354254" cy="264919"/>
          </a:xfrm>
          <a:prstGeom prst="roundRect">
            <a:avLst>
              <a:gd name="adj" fmla="val 3591843"/>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8" name="Text 3"/>
          <p:cNvSpPr/>
          <p:nvPr/>
        </p:nvSpPr>
        <p:spPr>
          <a:xfrm>
            <a:off x="7485422" y="457200"/>
            <a:ext cx="937059" cy="143490"/>
          </a:xfrm>
          <a:prstGeom prst="rect">
            <a:avLst/>
          </a:prstGeom>
          <a:noFill/>
          <a:ln/>
        </p:spPr>
        <p:txBody>
          <a:bodyPr wrap="none" lIns="0" tIns="0" rIns="0" bIns="0" rtlCol="0" anchor="t"/>
          <a:lstStyle/>
          <a:p>
            <a:pPr algn="l" indent="0" marL="0">
              <a:lnSpc>
                <a:spcPts val="1097"/>
              </a:lnSpc>
              <a:buNone/>
            </a:pPr>
            <a:r>
              <a:rPr lang="en-US" sz="731" dirty="0">
                <a:solidFill>
                  <a:srgbClr val="00D9FF"/>
                </a:solidFill>
                <a:latin typeface="Carlito" pitchFamily="34" charset="0"/>
                <a:ea typeface="Carlito" pitchFamily="34" charset="-122"/>
                <a:cs typeface="Carlito" pitchFamily="34" charset="-120"/>
              </a:rPr>
              <a:t>LEARNING PARADIGMS</a:t>
            </a:r>
            <a:endParaRPr lang="en-US" sz="731" dirty="0"/>
          </a:p>
        </p:txBody>
      </p:sp>
      <p:sp>
        <p:nvSpPr>
          <p:cNvPr id="9" name="Text 4"/>
          <p:cNvSpPr/>
          <p:nvPr/>
        </p:nvSpPr>
        <p:spPr>
          <a:xfrm>
            <a:off x="8479631" y="469702"/>
            <a:ext cx="100013" cy="100013"/>
          </a:xfrm>
          <a:prstGeom prst="rect">
            <a:avLst/>
          </a:prstGeom>
          <a:noFill/>
          <a:ln/>
        </p:spPr>
        <p:txBody>
          <a:bodyPr wrap="none" lIns="0" tIns="0" rIns="0" bIns="0" rtlCol="0" anchor="ctr"/>
          <a:lstStyle/>
          <a:p>
            <a:pPr algn="ctr" indent="0" marL="0">
              <a:buNone/>
            </a:pPr>
            <a:r>
              <a:rPr lang="en-US" sz="984" dirty="0">
                <a:solidFill>
                  <a:srgbClr val="00D9FF"/>
                </a:solidFill>
                <a:latin typeface="Segoe UI Symbol" pitchFamily="34" charset="0"/>
                <a:ea typeface="Segoe UI Symbol" pitchFamily="34" charset="-122"/>
                <a:cs typeface="Segoe UI Symbol" pitchFamily="34" charset="-120"/>
              </a:rPr>
              <a:t>✦</a:t>
            </a:r>
            <a:endParaRPr lang="en-US" sz="984" dirty="0"/>
          </a:p>
        </p:txBody>
      </p:sp>
      <p:sp>
        <p:nvSpPr>
          <p:cNvPr id="10" name="Text 5"/>
          <p:cNvSpPr/>
          <p:nvPr/>
        </p:nvSpPr>
        <p:spPr>
          <a:xfrm>
            <a:off x="457200" y="710803"/>
            <a:ext cx="8636000" cy="280419"/>
          </a:xfrm>
          <a:prstGeom prst="rect">
            <a:avLst/>
          </a:prstGeom>
          <a:noFill/>
          <a:ln/>
        </p:spPr>
        <p:txBody>
          <a:bodyPr wrap="square" lIns="0" tIns="0" rIns="0" bIns="0" rtlCol="0" anchor="t">
            <a:normAutofit/>
          </a:bodyPr>
          <a:lstStyle/>
          <a:p>
            <a:pPr algn="l" indent="0" marL="0">
              <a:lnSpc>
                <a:spcPts val="2199"/>
              </a:lnSpc>
              <a:buNone/>
            </a:pPr>
            <a:r>
              <a:rPr lang="en-US" sz="1913" b="1" dirty="0">
                <a:solidFill>
                  <a:srgbClr val="EAF6FF"/>
                </a:solidFill>
                <a:latin typeface="Carlito" pitchFamily="34" charset="0"/>
                <a:ea typeface="Carlito" pitchFamily="34" charset="-122"/>
                <a:cs typeface="Carlito" pitchFamily="34" charset="-120"/>
              </a:rPr>
              <a:t>أنواع التعلم الآلي الأربعة</a:t>
            </a:r>
            <a:endParaRPr lang="en-US" sz="1913" dirty="0"/>
          </a:p>
        </p:txBody>
      </p:sp>
      <p:sp>
        <p:nvSpPr>
          <p:cNvPr id="11" name="Text 6"/>
          <p:cNvSpPr/>
          <p:nvPr/>
        </p:nvSpPr>
        <p:spPr>
          <a:xfrm>
            <a:off x="457200" y="1018654"/>
            <a:ext cx="8229600" cy="173593"/>
          </a:xfrm>
          <a:prstGeom prst="rect">
            <a:avLst/>
          </a:prstGeom>
          <a:noFill/>
          <a:ln/>
        </p:spPr>
        <p:txBody>
          <a:bodyPr wrap="square" lIns="0" tIns="0" rIns="0" bIns="0" rtlCol="0" anchor="t"/>
          <a:lstStyle/>
          <a:p>
            <a:pPr algn="l" indent="0" marL="0">
              <a:lnSpc>
                <a:spcPts val="1266"/>
              </a:lnSpc>
              <a:buNone/>
            </a:pPr>
            <a:r>
              <a:rPr lang="en-US" sz="844" dirty="0">
                <a:solidFill>
                  <a:srgbClr val="8AA0CC"/>
                </a:solidFill>
                <a:latin typeface="Carlito" pitchFamily="34" charset="0"/>
                <a:ea typeface="Carlito" pitchFamily="34" charset="-122"/>
                <a:cs typeface="Carlito" pitchFamily="34" charset="-120"/>
              </a:rPr>
              <a:t>كل نوع مناسب لمشاكل مختلفة — اختيار النوع الصحيح نصف الحل</a:t>
            </a:r>
            <a:endParaRPr lang="en-US" sz="844" dirty="0"/>
          </a:p>
        </p:txBody>
      </p:sp>
      <p:pic>
        <p:nvPicPr>
          <p:cNvPr id="12" name="Image 3" descr="preencoded.png">    </p:cNvPr>
          <p:cNvPicPr>
            <a:picLocks noChangeAspect="1"/>
          </p:cNvPicPr>
          <p:nvPr/>
        </p:nvPicPr>
        <p:blipFill>
          <a:blip r:embed="rId4"/>
          <a:stretch>
            <a:fillRect/>
          </a:stretch>
        </p:blipFill>
        <p:spPr>
          <a:xfrm>
            <a:off x="7686675" y="1250826"/>
            <a:ext cx="1000125" cy="14288"/>
          </a:xfrm>
          <a:prstGeom prst="rect">
            <a:avLst/>
          </a:prstGeom>
        </p:spPr>
      </p:pic>
      <p:sp>
        <p:nvSpPr>
          <p:cNvPr id="13" name="Text 7"/>
          <p:cNvSpPr/>
          <p:nvPr/>
        </p:nvSpPr>
        <p:spPr>
          <a:xfrm>
            <a:off x="4632722" y="1397273"/>
            <a:ext cx="4050506" cy="1610581"/>
          </a:xfrm>
          <a:prstGeom prst="roundRect">
            <a:avLst>
              <a:gd name="adj" fmla="val 10645"/>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pic>
        <p:nvPicPr>
          <p:cNvPr id="14" name="Image 4" descr="preencoded.png">    </p:cNvPr>
          <p:cNvPicPr>
            <a:picLocks noChangeAspect="1"/>
          </p:cNvPicPr>
          <p:nvPr/>
        </p:nvPicPr>
        <p:blipFill>
          <a:blip r:embed="rId5"/>
          <a:stretch>
            <a:fillRect/>
          </a:stretch>
        </p:blipFill>
        <p:spPr>
          <a:xfrm>
            <a:off x="8136731" y="1529432"/>
            <a:ext cx="400050" cy="400050"/>
          </a:xfrm>
          <a:prstGeom prst="rect">
            <a:avLst/>
          </a:prstGeom>
        </p:spPr>
      </p:pic>
      <p:sp>
        <p:nvSpPr>
          <p:cNvPr id="15" name="Text 8"/>
          <p:cNvSpPr/>
          <p:nvPr/>
        </p:nvSpPr>
        <p:spPr>
          <a:xfrm>
            <a:off x="8140303" y="1533004"/>
            <a:ext cx="392906" cy="392906"/>
          </a:xfrm>
          <a:prstGeom prst="roundRect">
            <a:avLst>
              <a:gd name="adj" fmla="val 38788"/>
            </a:avLst>
          </a:prstGeom>
          <a:noFill/>
          <a:ln w="7144">
            <a:solidFill>
              <a:srgbClr val="00D9FF"/>
            </a:solidFill>
            <a:prstDash val="solid"/>
          </a:ln>
          <a:effectLst>
            <a:outerShdw sx="100000" sy="100000" kx="0" ky="0" algn="bl" rotWithShape="0" blurRad="152400" dist="50800" dir="16200000">
              <a:srgbClr val="00D9FF">
                <a:alpha val="25000"/>
              </a:srgbClr>
            </a:outerShdw>
          </a:effectLst>
        </p:spPr>
        <p:txBody>
          <a:bodyPr wrap="square" rtlCol="0" anchor="ctr"/>
          <a:lstStyle/>
          <a:p>
            <a:pPr indent="0" marL="0">
              <a:buNone/>
            </a:pPr>
            <a:endParaRPr lang="en-US" dirty="0"/>
          </a:p>
        </p:txBody>
      </p:sp>
      <p:sp>
        <p:nvSpPr>
          <p:cNvPr id="16" name="Text 9"/>
          <p:cNvSpPr/>
          <p:nvPr/>
        </p:nvSpPr>
        <p:spPr>
          <a:xfrm>
            <a:off x="8202097" y="1594798"/>
            <a:ext cx="269319" cy="269319"/>
          </a:xfrm>
          <a:prstGeom prst="rect">
            <a:avLst/>
          </a:prstGeom>
          <a:noFill/>
          <a:ln/>
        </p:spPr>
        <p:txBody>
          <a:bodyPr wrap="none" lIns="0" tIns="0" rIns="0" bIns="0" rtlCol="0" anchor="ctr"/>
          <a:lstStyle/>
          <a:p>
            <a:pPr algn="ctr" indent="0" marL="0">
              <a:buNone/>
            </a:pPr>
            <a:r>
              <a:rPr lang="en-US" sz="1828" dirty="0">
                <a:solidFill>
                  <a:srgbClr val="00D9FF"/>
                </a:solidFill>
                <a:latin typeface="Segoe UI Symbol" pitchFamily="34" charset="0"/>
                <a:ea typeface="Segoe UI Symbol" pitchFamily="34" charset="-122"/>
                <a:cs typeface="Segoe UI Symbol" pitchFamily="34" charset="-120"/>
              </a:rPr>
              <a:t>✓</a:t>
            </a:r>
            <a:endParaRPr lang="en-US" sz="1828" dirty="0"/>
          </a:p>
        </p:txBody>
      </p:sp>
      <p:sp>
        <p:nvSpPr>
          <p:cNvPr id="17" name="Text 10"/>
          <p:cNvSpPr/>
          <p:nvPr/>
        </p:nvSpPr>
        <p:spPr>
          <a:xfrm>
            <a:off x="6782209" y="1558342"/>
            <a:ext cx="1470285" cy="175384"/>
          </a:xfrm>
          <a:prstGeom prst="rect">
            <a:avLst/>
          </a:prstGeom>
          <a:noFill/>
          <a:ln/>
        </p:spPr>
        <p:txBody>
          <a:bodyPr wrap="none" lIns="0" tIns="0" rIns="0" bIns="0" rtlCol="0" anchor="t">
            <a:normAutofit/>
          </a:bodyPr>
          <a:lstStyle/>
          <a:p>
            <a:pPr algn="l" indent="0" marL="0">
              <a:lnSpc>
                <a:spcPts val="1485"/>
              </a:lnSpc>
              <a:buNone/>
            </a:pPr>
            <a:r>
              <a:rPr lang="en-US" sz="1238" b="1" dirty="0">
                <a:solidFill>
                  <a:srgbClr val="EAF6FF"/>
                </a:solidFill>
                <a:latin typeface="Carlito" pitchFamily="34" charset="0"/>
                <a:ea typeface="Carlito" pitchFamily="34" charset="-122"/>
                <a:cs typeface="Carlito" pitchFamily="34" charset="-120"/>
              </a:rPr>
              <a:t>التعلم بالإشراف</a:t>
            </a:r>
            <a:endParaRPr lang="en-US" sz="1238" dirty="0"/>
          </a:p>
        </p:txBody>
      </p:sp>
      <p:sp>
        <p:nvSpPr>
          <p:cNvPr id="18" name="Text 11"/>
          <p:cNvSpPr/>
          <p:nvPr/>
        </p:nvSpPr>
        <p:spPr>
          <a:xfrm>
            <a:off x="6782209" y="1761158"/>
            <a:ext cx="1470285" cy="164592"/>
          </a:xfrm>
          <a:prstGeom prst="rect">
            <a:avLst/>
          </a:prstGeom>
          <a:noFill/>
          <a:ln/>
        </p:spPr>
        <p:txBody>
          <a:bodyPr wrap="none" lIns="0" tIns="0" rIns="0" bIns="0" rtlCol="0" anchor="t"/>
          <a:lstStyle/>
          <a:p>
            <a:pPr algn="l" indent="0" marL="0">
              <a:lnSpc>
                <a:spcPts val="1097"/>
              </a:lnSpc>
              <a:buNone/>
            </a:pPr>
            <a:r>
              <a:rPr lang="en-US" sz="800" spc="15" kern="0" dirty="0">
                <a:solidFill>
                  <a:srgbClr val="8AA0CC"/>
                </a:solidFill>
                <a:latin typeface="Courier New" pitchFamily="34" charset="0"/>
                <a:ea typeface="Courier New" pitchFamily="34" charset="-122"/>
                <a:cs typeface="Courier New" pitchFamily="34" charset="-120"/>
              </a:rPr>
              <a:t>Supervised Learning</a:t>
            </a:r>
            <a:endParaRPr lang="en-US" sz="800" dirty="0"/>
          </a:p>
        </p:txBody>
      </p:sp>
      <p:sp>
        <p:nvSpPr>
          <p:cNvPr id="19" name="Text 12"/>
          <p:cNvSpPr/>
          <p:nvPr/>
        </p:nvSpPr>
        <p:spPr>
          <a:xfrm>
            <a:off x="4779169" y="2000920"/>
            <a:ext cx="3757613" cy="620716"/>
          </a:xfrm>
          <a:prstGeom prst="rect">
            <a:avLst/>
          </a:prstGeom>
          <a:noFill/>
          <a:ln/>
        </p:spPr>
        <p:txBody>
          <a:bodyPr wrap="square" lIns="0" tIns="0" rIns="0" bIns="0" rtlCol="0" anchor="t"/>
          <a:lstStyle/>
          <a:p>
            <a:pPr algn="l" indent="0" marL="0">
              <a:lnSpc>
                <a:spcPts val="1392"/>
              </a:lnSpc>
              <a:buNone/>
            </a:pPr>
            <a:r>
              <a:rPr lang="en-US" sz="844" dirty="0">
                <a:solidFill>
                  <a:srgbClr val="EAF6FF"/>
                </a:solidFill>
                <a:latin typeface="Carlito" pitchFamily="34" charset="0"/>
                <a:ea typeface="Carlito" pitchFamily="34" charset="-122"/>
                <a:cs typeface="Carlito" pitchFamily="34" charset="-120"/>
              </a:rPr>
              <a:t>يتعلم النموذج من بيانات مُوسومة: مدخلات + مخرجات معروفة. يستخدم للتصنيف والانحدار.</a:t>
            </a:r>
            <a:endParaRPr lang="en-US" sz="844" dirty="0"/>
          </a:p>
        </p:txBody>
      </p:sp>
      <p:sp>
        <p:nvSpPr>
          <p:cNvPr id="20" name="Text 13"/>
          <p:cNvSpPr/>
          <p:nvPr/>
        </p:nvSpPr>
        <p:spPr>
          <a:xfrm>
            <a:off x="6364412" y="2664954"/>
            <a:ext cx="2168798" cy="207169"/>
          </a:xfrm>
          <a:prstGeom prst="roundRect">
            <a:avLst>
              <a:gd name="adj" fmla="val 4593098"/>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21" name="Text 14"/>
          <p:cNvSpPr/>
          <p:nvPr/>
        </p:nvSpPr>
        <p:spPr>
          <a:xfrm>
            <a:off x="6446565" y="2711388"/>
            <a:ext cx="1854473" cy="146304"/>
          </a:xfrm>
          <a:prstGeom prst="rect">
            <a:avLst/>
          </a:prstGeom>
          <a:noFill/>
          <a:ln/>
        </p:spPr>
        <p:txBody>
          <a:bodyPr wrap="square" lIns="78581" tIns="35719" rIns="78581" bIns="35719" rtlCol="0" anchor="t"/>
          <a:lstStyle/>
          <a:p>
            <a:pPr algn="l" indent="0" marL="0">
              <a:lnSpc>
                <a:spcPts val="1013"/>
              </a:lnSpc>
              <a:buNone/>
            </a:pPr>
            <a:r>
              <a:rPr lang="en-US" sz="675" dirty="0">
                <a:solidFill>
                  <a:srgbClr val="00D9FF"/>
                </a:solidFill>
                <a:latin typeface="Carlito" pitchFamily="34" charset="0"/>
                <a:ea typeface="Carlito" pitchFamily="34" charset="-122"/>
                <a:cs typeface="Carlito" pitchFamily="34" charset="-120"/>
              </a:rPr>
              <a:t>مثال: تصنيف الصور، التنبؤ بأسعار المساكن</a:t>
            </a:r>
            <a:endParaRPr lang="en-US" sz="675" dirty="0"/>
          </a:p>
        </p:txBody>
      </p:sp>
      <p:sp>
        <p:nvSpPr>
          <p:cNvPr id="22" name="Text 15"/>
          <p:cNvSpPr/>
          <p:nvPr/>
        </p:nvSpPr>
        <p:spPr>
          <a:xfrm>
            <a:off x="8358188" y="2722104"/>
            <a:ext cx="92869" cy="92869"/>
          </a:xfrm>
          <a:prstGeom prst="rect">
            <a:avLst/>
          </a:prstGeom>
          <a:noFill/>
          <a:ln/>
        </p:spPr>
        <p:txBody>
          <a:bodyPr wrap="none" lIns="0" tIns="0" rIns="0" bIns="0" rtlCol="0" anchor="ctr"/>
          <a:lstStyle/>
          <a:p>
            <a:pPr algn="ctr" indent="0" marL="0">
              <a:buNone/>
            </a:pPr>
            <a:r>
              <a:rPr lang="en-US" sz="914" dirty="0">
                <a:solidFill>
                  <a:srgbClr val="FFD166"/>
                </a:solidFill>
                <a:latin typeface="Segoe UI Symbol" pitchFamily="34" charset="0"/>
                <a:ea typeface="Segoe UI Symbol" pitchFamily="34" charset="-122"/>
                <a:cs typeface="Segoe UI Symbol" pitchFamily="34" charset="-120"/>
              </a:rPr>
              <a:t>◆</a:t>
            </a:r>
            <a:endParaRPr lang="en-US" sz="914" dirty="0"/>
          </a:p>
        </p:txBody>
      </p:sp>
      <p:pic>
        <p:nvPicPr>
          <p:cNvPr id="23" name="Image 5" descr="preencoded.png">    </p:cNvPr>
          <p:cNvPicPr>
            <a:picLocks noChangeAspect="1"/>
          </p:cNvPicPr>
          <p:nvPr/>
        </p:nvPicPr>
        <p:blipFill>
          <a:blip r:embed="rId6"/>
          <a:stretch>
            <a:fillRect/>
          </a:stretch>
        </p:blipFill>
        <p:spPr>
          <a:xfrm>
            <a:off x="457200" y="1393701"/>
            <a:ext cx="4057650" cy="1617725"/>
          </a:xfrm>
          <a:prstGeom prst="rect">
            <a:avLst/>
          </a:prstGeom>
        </p:spPr>
      </p:pic>
      <p:sp>
        <p:nvSpPr>
          <p:cNvPr id="24" name="Text 16"/>
          <p:cNvSpPr/>
          <p:nvPr/>
        </p:nvSpPr>
        <p:spPr>
          <a:xfrm>
            <a:off x="460772" y="1397273"/>
            <a:ext cx="4050506" cy="1610581"/>
          </a:xfrm>
          <a:prstGeom prst="roundRect">
            <a:avLst>
              <a:gd name="adj" fmla="val 10645"/>
            </a:avLst>
          </a:prstGeom>
          <a:noFill/>
          <a:ln w="7144">
            <a:solidFill>
              <a:srgbClr val="B845FF"/>
            </a:solidFill>
            <a:prstDash val="solid"/>
          </a:ln>
        </p:spPr>
        <p:txBody>
          <a:bodyPr wrap="square" rtlCol="0" anchor="ctr"/>
          <a:lstStyle/>
          <a:p>
            <a:pPr indent="0" marL="0">
              <a:buNone/>
            </a:pPr>
            <a:endParaRPr lang="en-US" dirty="0"/>
          </a:p>
        </p:txBody>
      </p:sp>
      <p:pic>
        <p:nvPicPr>
          <p:cNvPr id="25" name="Image 6" descr="preencoded.png">    </p:cNvPr>
          <p:cNvPicPr>
            <a:picLocks noChangeAspect="1"/>
          </p:cNvPicPr>
          <p:nvPr/>
        </p:nvPicPr>
        <p:blipFill>
          <a:blip r:embed="rId7"/>
          <a:stretch>
            <a:fillRect/>
          </a:stretch>
        </p:blipFill>
        <p:spPr>
          <a:xfrm>
            <a:off x="3964781" y="1529432"/>
            <a:ext cx="400050" cy="400050"/>
          </a:xfrm>
          <a:prstGeom prst="rect">
            <a:avLst/>
          </a:prstGeom>
        </p:spPr>
      </p:pic>
      <p:sp>
        <p:nvSpPr>
          <p:cNvPr id="26" name="Text 17"/>
          <p:cNvSpPr/>
          <p:nvPr/>
        </p:nvSpPr>
        <p:spPr>
          <a:xfrm>
            <a:off x="3968353" y="1533004"/>
            <a:ext cx="392906" cy="392906"/>
          </a:xfrm>
          <a:prstGeom prst="roundRect">
            <a:avLst>
              <a:gd name="adj" fmla="val 38788"/>
            </a:avLst>
          </a:prstGeom>
          <a:noFill/>
          <a:ln w="7144">
            <a:solidFill>
              <a:srgbClr val="B845FF"/>
            </a:solidFill>
            <a:prstDash val="solid"/>
          </a:ln>
          <a:effectLst>
            <a:outerShdw sx="100000" sy="100000" kx="0" ky="0" algn="bl" rotWithShape="0" blurRad="152400" dist="50800" dir="16200000">
              <a:srgbClr val="B845FF">
                <a:alpha val="25000"/>
              </a:srgbClr>
            </a:outerShdw>
          </a:effectLst>
        </p:spPr>
        <p:txBody>
          <a:bodyPr wrap="square" rtlCol="0" anchor="ctr"/>
          <a:lstStyle/>
          <a:p>
            <a:pPr indent="0" marL="0">
              <a:buNone/>
            </a:pPr>
            <a:endParaRPr lang="en-US" dirty="0"/>
          </a:p>
        </p:txBody>
      </p:sp>
      <p:sp>
        <p:nvSpPr>
          <p:cNvPr id="27" name="Text 18"/>
          <p:cNvSpPr/>
          <p:nvPr/>
        </p:nvSpPr>
        <p:spPr>
          <a:xfrm>
            <a:off x="4030147" y="1594798"/>
            <a:ext cx="269319" cy="269319"/>
          </a:xfrm>
          <a:prstGeom prst="rect">
            <a:avLst/>
          </a:prstGeom>
          <a:noFill/>
          <a:ln/>
        </p:spPr>
        <p:txBody>
          <a:bodyPr wrap="none" lIns="0" tIns="0" rIns="0" bIns="0" rtlCol="0" anchor="ctr"/>
          <a:lstStyle/>
          <a:p>
            <a:pPr algn="ctr" indent="0" marL="0">
              <a:buNone/>
            </a:pPr>
            <a:r>
              <a:rPr lang="en-US" sz="1828" dirty="0">
                <a:solidFill>
                  <a:srgbClr val="B845FF"/>
                </a:solidFill>
                <a:latin typeface="Segoe UI Symbol" pitchFamily="34" charset="0"/>
                <a:ea typeface="Segoe UI Symbol" pitchFamily="34" charset="-122"/>
                <a:cs typeface="Segoe UI Symbol" pitchFamily="34" charset="-120"/>
              </a:rPr>
              <a:t>✦</a:t>
            </a:r>
            <a:endParaRPr lang="en-US" sz="1828" dirty="0"/>
          </a:p>
        </p:txBody>
      </p:sp>
      <p:sp>
        <p:nvSpPr>
          <p:cNvPr id="28" name="Text 19"/>
          <p:cNvSpPr/>
          <p:nvPr/>
        </p:nvSpPr>
        <p:spPr>
          <a:xfrm>
            <a:off x="2377418" y="1558342"/>
            <a:ext cx="1561719" cy="175384"/>
          </a:xfrm>
          <a:prstGeom prst="rect">
            <a:avLst/>
          </a:prstGeom>
          <a:noFill/>
          <a:ln/>
        </p:spPr>
        <p:txBody>
          <a:bodyPr wrap="none" lIns="0" tIns="0" rIns="0" bIns="0" rtlCol="0" anchor="t">
            <a:normAutofit/>
          </a:bodyPr>
          <a:lstStyle/>
          <a:p>
            <a:pPr algn="l" indent="0" marL="0">
              <a:lnSpc>
                <a:spcPts val="1485"/>
              </a:lnSpc>
              <a:buNone/>
            </a:pPr>
            <a:r>
              <a:rPr lang="en-US" sz="1238" b="1" dirty="0">
                <a:solidFill>
                  <a:srgbClr val="EAF6FF"/>
                </a:solidFill>
                <a:latin typeface="Carlito" pitchFamily="34" charset="0"/>
                <a:ea typeface="Carlito" pitchFamily="34" charset="-122"/>
                <a:cs typeface="Carlito" pitchFamily="34" charset="-120"/>
              </a:rPr>
              <a:t>التعلم بدون إشراف</a:t>
            </a:r>
            <a:endParaRPr lang="en-US" sz="1238" dirty="0"/>
          </a:p>
        </p:txBody>
      </p:sp>
      <p:sp>
        <p:nvSpPr>
          <p:cNvPr id="29" name="Text 20"/>
          <p:cNvSpPr/>
          <p:nvPr/>
        </p:nvSpPr>
        <p:spPr>
          <a:xfrm>
            <a:off x="2377418" y="1761158"/>
            <a:ext cx="1561719" cy="164592"/>
          </a:xfrm>
          <a:prstGeom prst="rect">
            <a:avLst/>
          </a:prstGeom>
          <a:noFill/>
          <a:ln/>
        </p:spPr>
        <p:txBody>
          <a:bodyPr wrap="none" lIns="0" tIns="0" rIns="0" bIns="0" rtlCol="0" anchor="t"/>
          <a:lstStyle/>
          <a:p>
            <a:pPr algn="l" indent="0" marL="0">
              <a:lnSpc>
                <a:spcPts val="1097"/>
              </a:lnSpc>
              <a:buNone/>
            </a:pPr>
            <a:r>
              <a:rPr lang="en-US" sz="800" spc="15" kern="0" dirty="0">
                <a:solidFill>
                  <a:srgbClr val="8AA0CC"/>
                </a:solidFill>
                <a:latin typeface="Courier New" pitchFamily="34" charset="0"/>
                <a:ea typeface="Courier New" pitchFamily="34" charset="-122"/>
                <a:cs typeface="Courier New" pitchFamily="34" charset="-120"/>
              </a:rPr>
              <a:t>Unsupervised Learning</a:t>
            </a:r>
            <a:endParaRPr lang="en-US" sz="800" dirty="0"/>
          </a:p>
        </p:txBody>
      </p:sp>
      <p:sp>
        <p:nvSpPr>
          <p:cNvPr id="30" name="Text 21"/>
          <p:cNvSpPr/>
          <p:nvPr/>
        </p:nvSpPr>
        <p:spPr>
          <a:xfrm>
            <a:off x="607219" y="2000920"/>
            <a:ext cx="3757613" cy="620716"/>
          </a:xfrm>
          <a:prstGeom prst="rect">
            <a:avLst/>
          </a:prstGeom>
          <a:noFill/>
          <a:ln/>
        </p:spPr>
        <p:txBody>
          <a:bodyPr wrap="square" lIns="0" tIns="0" rIns="0" bIns="0" rtlCol="0" anchor="t"/>
          <a:lstStyle/>
          <a:p>
            <a:pPr algn="l" indent="0" marL="0">
              <a:lnSpc>
                <a:spcPts val="1392"/>
              </a:lnSpc>
              <a:buNone/>
            </a:pPr>
            <a:r>
              <a:rPr lang="en-US" sz="844" dirty="0">
                <a:solidFill>
                  <a:srgbClr val="EAF6FF"/>
                </a:solidFill>
                <a:latin typeface="Carlito" pitchFamily="34" charset="0"/>
                <a:ea typeface="Carlito" pitchFamily="34" charset="-122"/>
                <a:cs typeface="Carlito" pitchFamily="34" charset="-120"/>
              </a:rPr>
              <a:t>يجد الأنماط الخفية في بيانات غير مُوسومة. يستخدم للتجميع وتقليل الأبعاد.</a:t>
            </a:r>
            <a:endParaRPr lang="en-US" sz="844" dirty="0"/>
          </a:p>
        </p:txBody>
      </p:sp>
      <p:sp>
        <p:nvSpPr>
          <p:cNvPr id="31" name="Text 22"/>
          <p:cNvSpPr/>
          <p:nvPr/>
        </p:nvSpPr>
        <p:spPr>
          <a:xfrm>
            <a:off x="2192462" y="2664954"/>
            <a:ext cx="2168798" cy="207169"/>
          </a:xfrm>
          <a:prstGeom prst="roundRect">
            <a:avLst>
              <a:gd name="adj" fmla="val 4593098"/>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32" name="Text 23"/>
          <p:cNvSpPr/>
          <p:nvPr/>
        </p:nvSpPr>
        <p:spPr>
          <a:xfrm>
            <a:off x="2274615" y="2711388"/>
            <a:ext cx="1854473" cy="146304"/>
          </a:xfrm>
          <a:prstGeom prst="rect">
            <a:avLst/>
          </a:prstGeom>
          <a:noFill/>
          <a:ln/>
        </p:spPr>
        <p:txBody>
          <a:bodyPr wrap="square" lIns="78581" tIns="35719" rIns="78581" bIns="35719" rtlCol="0" anchor="t"/>
          <a:lstStyle/>
          <a:p>
            <a:pPr algn="l" indent="0" marL="0">
              <a:lnSpc>
                <a:spcPts val="1013"/>
              </a:lnSpc>
              <a:buNone/>
            </a:pPr>
            <a:r>
              <a:rPr lang="en-US" sz="675" dirty="0">
                <a:solidFill>
                  <a:srgbClr val="B845FF"/>
                </a:solidFill>
                <a:latin typeface="Carlito" pitchFamily="34" charset="0"/>
                <a:ea typeface="Carlito" pitchFamily="34" charset="-122"/>
                <a:cs typeface="Carlito" pitchFamily="34" charset="-120"/>
              </a:rPr>
              <a:t>مثال: تقسيم العملاء، اكتشاف الحالات الشاذة</a:t>
            </a:r>
            <a:endParaRPr lang="en-US" sz="675" dirty="0"/>
          </a:p>
        </p:txBody>
      </p:sp>
      <p:sp>
        <p:nvSpPr>
          <p:cNvPr id="33" name="Text 24"/>
          <p:cNvSpPr/>
          <p:nvPr/>
        </p:nvSpPr>
        <p:spPr>
          <a:xfrm>
            <a:off x="4186238" y="2722104"/>
            <a:ext cx="92869" cy="92869"/>
          </a:xfrm>
          <a:prstGeom prst="rect">
            <a:avLst/>
          </a:prstGeom>
          <a:noFill/>
          <a:ln/>
        </p:spPr>
        <p:txBody>
          <a:bodyPr wrap="none" lIns="0" tIns="0" rIns="0" bIns="0" rtlCol="0" anchor="ctr"/>
          <a:lstStyle/>
          <a:p>
            <a:pPr algn="ctr" indent="0" marL="0">
              <a:buNone/>
            </a:pPr>
            <a:r>
              <a:rPr lang="en-US" sz="914" dirty="0">
                <a:solidFill>
                  <a:srgbClr val="FFD166"/>
                </a:solidFill>
                <a:latin typeface="Segoe UI Symbol" pitchFamily="34" charset="0"/>
                <a:ea typeface="Segoe UI Symbol" pitchFamily="34" charset="-122"/>
                <a:cs typeface="Segoe UI Symbol" pitchFamily="34" charset="-120"/>
              </a:rPr>
              <a:t>◆</a:t>
            </a:r>
            <a:endParaRPr lang="en-US" sz="914" dirty="0"/>
          </a:p>
        </p:txBody>
      </p:sp>
      <p:pic>
        <p:nvPicPr>
          <p:cNvPr id="34" name="Image 7" descr="preencoded.png">    </p:cNvPr>
          <p:cNvPicPr>
            <a:picLocks noChangeAspect="1"/>
          </p:cNvPicPr>
          <p:nvPr/>
        </p:nvPicPr>
        <p:blipFill>
          <a:blip r:embed="rId8"/>
          <a:stretch>
            <a:fillRect/>
          </a:stretch>
        </p:blipFill>
        <p:spPr>
          <a:xfrm>
            <a:off x="4629150" y="3125725"/>
            <a:ext cx="4057650" cy="1617725"/>
          </a:xfrm>
          <a:prstGeom prst="rect">
            <a:avLst/>
          </a:prstGeom>
        </p:spPr>
      </p:pic>
      <p:sp>
        <p:nvSpPr>
          <p:cNvPr id="35" name="Text 25"/>
          <p:cNvSpPr/>
          <p:nvPr/>
        </p:nvSpPr>
        <p:spPr>
          <a:xfrm>
            <a:off x="4632722" y="3129297"/>
            <a:ext cx="4050506" cy="1610581"/>
          </a:xfrm>
          <a:prstGeom prst="roundRect">
            <a:avLst>
              <a:gd name="adj" fmla="val 10645"/>
            </a:avLst>
          </a:prstGeom>
          <a:noFill/>
          <a:ln w="7144">
            <a:solidFill>
              <a:srgbClr val="B845FF"/>
            </a:solidFill>
            <a:prstDash val="solid"/>
          </a:ln>
        </p:spPr>
        <p:txBody>
          <a:bodyPr wrap="square" rtlCol="0" anchor="ctr"/>
          <a:lstStyle/>
          <a:p>
            <a:pPr indent="0" marL="0">
              <a:buNone/>
            </a:pPr>
            <a:endParaRPr lang="en-US" dirty="0"/>
          </a:p>
        </p:txBody>
      </p:sp>
      <p:pic>
        <p:nvPicPr>
          <p:cNvPr id="36" name="Image 8" descr="preencoded.png">    </p:cNvPr>
          <p:cNvPicPr>
            <a:picLocks noChangeAspect="1"/>
          </p:cNvPicPr>
          <p:nvPr/>
        </p:nvPicPr>
        <p:blipFill>
          <a:blip r:embed="rId9"/>
          <a:stretch>
            <a:fillRect/>
          </a:stretch>
        </p:blipFill>
        <p:spPr>
          <a:xfrm>
            <a:off x="8136731" y="3261457"/>
            <a:ext cx="400050" cy="400050"/>
          </a:xfrm>
          <a:prstGeom prst="rect">
            <a:avLst/>
          </a:prstGeom>
        </p:spPr>
      </p:pic>
      <p:sp>
        <p:nvSpPr>
          <p:cNvPr id="37" name="Text 26"/>
          <p:cNvSpPr/>
          <p:nvPr/>
        </p:nvSpPr>
        <p:spPr>
          <a:xfrm>
            <a:off x="8140303" y="3265029"/>
            <a:ext cx="392906" cy="392906"/>
          </a:xfrm>
          <a:prstGeom prst="roundRect">
            <a:avLst>
              <a:gd name="adj" fmla="val 38788"/>
            </a:avLst>
          </a:prstGeom>
          <a:noFill/>
          <a:ln w="7144">
            <a:solidFill>
              <a:srgbClr val="FFD166"/>
            </a:solidFill>
            <a:prstDash val="solid"/>
          </a:ln>
          <a:effectLst>
            <a:outerShdw sx="100000" sy="100000" kx="0" ky="0" algn="bl" rotWithShape="0" blurRad="152400" dist="50800" dir="16200000">
              <a:srgbClr val="FFD166">
                <a:alpha val="25000"/>
              </a:srgbClr>
            </a:outerShdw>
          </a:effectLst>
        </p:spPr>
        <p:txBody>
          <a:bodyPr wrap="square" rtlCol="0" anchor="ctr"/>
          <a:lstStyle/>
          <a:p>
            <a:pPr indent="0" marL="0">
              <a:buNone/>
            </a:pPr>
            <a:endParaRPr lang="en-US" dirty="0"/>
          </a:p>
        </p:txBody>
      </p:sp>
      <p:sp>
        <p:nvSpPr>
          <p:cNvPr id="38" name="Text 27"/>
          <p:cNvSpPr/>
          <p:nvPr/>
        </p:nvSpPr>
        <p:spPr>
          <a:xfrm>
            <a:off x="8202097" y="3326822"/>
            <a:ext cx="269319" cy="269319"/>
          </a:xfrm>
          <a:prstGeom prst="rect">
            <a:avLst/>
          </a:prstGeom>
          <a:noFill/>
          <a:ln/>
        </p:spPr>
        <p:txBody>
          <a:bodyPr wrap="none" lIns="0" tIns="0" rIns="0" bIns="0" rtlCol="0" anchor="ctr"/>
          <a:lstStyle/>
          <a:p>
            <a:pPr algn="ctr" indent="0" marL="0">
              <a:buNone/>
            </a:pPr>
            <a:r>
              <a:rPr lang="en-US" sz="1828" dirty="0">
                <a:solidFill>
                  <a:srgbClr val="FFD166"/>
                </a:solidFill>
                <a:latin typeface="Segoe UI Symbol" pitchFamily="34" charset="0"/>
                <a:ea typeface="Segoe UI Symbol" pitchFamily="34" charset="-122"/>
                <a:cs typeface="Segoe UI Symbol" pitchFamily="34" charset="-120"/>
              </a:rPr>
              <a:t>✦</a:t>
            </a:r>
            <a:endParaRPr lang="en-US" sz="1828" dirty="0"/>
          </a:p>
        </p:txBody>
      </p:sp>
      <p:sp>
        <p:nvSpPr>
          <p:cNvPr id="39" name="Text 28"/>
          <p:cNvSpPr/>
          <p:nvPr/>
        </p:nvSpPr>
        <p:spPr>
          <a:xfrm>
            <a:off x="6689341" y="3290367"/>
            <a:ext cx="1579127" cy="175384"/>
          </a:xfrm>
          <a:prstGeom prst="rect">
            <a:avLst/>
          </a:prstGeom>
          <a:noFill/>
          <a:ln/>
        </p:spPr>
        <p:txBody>
          <a:bodyPr wrap="none" lIns="0" tIns="0" rIns="0" bIns="0" rtlCol="0" anchor="t">
            <a:normAutofit/>
          </a:bodyPr>
          <a:lstStyle/>
          <a:p>
            <a:pPr algn="l" indent="0" marL="0">
              <a:lnSpc>
                <a:spcPts val="1485"/>
              </a:lnSpc>
              <a:buNone/>
            </a:pPr>
            <a:r>
              <a:rPr lang="en-US" sz="1238" b="1" dirty="0">
                <a:solidFill>
                  <a:srgbClr val="EAF6FF"/>
                </a:solidFill>
                <a:latin typeface="Carlito" pitchFamily="34" charset="0"/>
                <a:ea typeface="Carlito" pitchFamily="34" charset="-122"/>
                <a:cs typeface="Carlito" pitchFamily="34" charset="-120"/>
              </a:rPr>
              <a:t>التعلم بالتعزيز</a:t>
            </a:r>
            <a:endParaRPr lang="en-US" sz="1238" dirty="0"/>
          </a:p>
        </p:txBody>
      </p:sp>
      <p:sp>
        <p:nvSpPr>
          <p:cNvPr id="40" name="Text 29"/>
          <p:cNvSpPr/>
          <p:nvPr/>
        </p:nvSpPr>
        <p:spPr>
          <a:xfrm>
            <a:off x="6689341" y="3493182"/>
            <a:ext cx="1482116" cy="164592"/>
          </a:xfrm>
          <a:prstGeom prst="rect">
            <a:avLst/>
          </a:prstGeom>
          <a:noFill/>
          <a:ln/>
        </p:spPr>
        <p:txBody>
          <a:bodyPr wrap="none" lIns="0" tIns="0" rIns="0" bIns="0" rtlCol="0" anchor="t"/>
          <a:lstStyle/>
          <a:p>
            <a:pPr algn="l" indent="0" marL="0">
              <a:lnSpc>
                <a:spcPts val="1097"/>
              </a:lnSpc>
              <a:buNone/>
            </a:pPr>
            <a:r>
              <a:rPr lang="en-US" sz="800" spc="15" kern="0" dirty="0">
                <a:solidFill>
                  <a:srgbClr val="8AA0CC"/>
                </a:solidFill>
                <a:latin typeface="Courier New" pitchFamily="34" charset="0"/>
                <a:ea typeface="Courier New" pitchFamily="34" charset="-122"/>
                <a:cs typeface="Courier New" pitchFamily="34" charset="-120"/>
              </a:rPr>
              <a:t>Reinforcement Learning</a:t>
            </a:r>
            <a:endParaRPr lang="en-US" sz="800" dirty="0"/>
          </a:p>
        </p:txBody>
      </p:sp>
      <p:sp>
        <p:nvSpPr>
          <p:cNvPr id="41" name="Text 30"/>
          <p:cNvSpPr/>
          <p:nvPr/>
        </p:nvSpPr>
        <p:spPr>
          <a:xfrm>
            <a:off x="4779169" y="3732944"/>
            <a:ext cx="3757613" cy="620716"/>
          </a:xfrm>
          <a:prstGeom prst="rect">
            <a:avLst/>
          </a:prstGeom>
          <a:noFill/>
          <a:ln/>
        </p:spPr>
        <p:txBody>
          <a:bodyPr wrap="square" lIns="0" tIns="0" rIns="0" bIns="0" rtlCol="0" anchor="t"/>
          <a:lstStyle/>
          <a:p>
            <a:pPr algn="l" indent="0" marL="0">
              <a:lnSpc>
                <a:spcPts val="1392"/>
              </a:lnSpc>
              <a:buNone/>
            </a:pPr>
            <a:r>
              <a:rPr lang="en-US" sz="844" dirty="0">
                <a:solidFill>
                  <a:srgbClr val="EAF6FF"/>
                </a:solidFill>
                <a:latin typeface="Carlito" pitchFamily="34" charset="0"/>
                <a:ea typeface="Carlito" pitchFamily="34" charset="-122"/>
                <a:cs typeface="Carlito" pitchFamily="34" charset="-120"/>
              </a:rPr>
              <a:t>يتعلم عبر التجربة والمكافأة. الوكيل يتفاعل مع بيئة ويحسن سلوكه عبر الزمن.</a:t>
            </a:r>
            <a:endParaRPr lang="en-US" sz="844" dirty="0"/>
          </a:p>
        </p:txBody>
      </p:sp>
      <p:sp>
        <p:nvSpPr>
          <p:cNvPr id="42" name="Text 31"/>
          <p:cNvSpPr/>
          <p:nvPr/>
        </p:nvSpPr>
        <p:spPr>
          <a:xfrm>
            <a:off x="6380262" y="4396978"/>
            <a:ext cx="2152948" cy="207169"/>
          </a:xfrm>
          <a:prstGeom prst="roundRect">
            <a:avLst>
              <a:gd name="adj" fmla="val 4593098"/>
            </a:avLst>
          </a:prstGeom>
          <a:solidFill>
            <a:srgbClr val="FFD166">
              <a:alpha val="10000"/>
            </a:srgbClr>
          </a:solidFill>
          <a:ln w="7144">
            <a:solidFill>
              <a:srgbClr val="FFD166"/>
            </a:solidFill>
            <a:prstDash val="solid"/>
          </a:ln>
        </p:spPr>
        <p:txBody>
          <a:bodyPr wrap="square" rtlCol="0" anchor="ctr"/>
          <a:lstStyle/>
          <a:p>
            <a:pPr indent="0" marL="0">
              <a:buNone/>
            </a:pPr>
            <a:endParaRPr lang="en-US" dirty="0"/>
          </a:p>
        </p:txBody>
      </p:sp>
      <p:sp>
        <p:nvSpPr>
          <p:cNvPr id="43" name="Text 32"/>
          <p:cNvSpPr/>
          <p:nvPr/>
        </p:nvSpPr>
        <p:spPr>
          <a:xfrm>
            <a:off x="6462415" y="4443413"/>
            <a:ext cx="1838623" cy="146304"/>
          </a:xfrm>
          <a:prstGeom prst="rect">
            <a:avLst/>
          </a:prstGeom>
          <a:noFill/>
          <a:ln/>
        </p:spPr>
        <p:txBody>
          <a:bodyPr wrap="square" lIns="78581" tIns="35719" rIns="78581" bIns="35719" rtlCol="0" anchor="t"/>
          <a:lstStyle/>
          <a:p>
            <a:pPr algn="l" indent="0" marL="0">
              <a:lnSpc>
                <a:spcPts val="1013"/>
              </a:lnSpc>
              <a:buNone/>
            </a:pPr>
            <a:r>
              <a:rPr lang="en-US" sz="675" dirty="0">
                <a:solidFill>
                  <a:srgbClr val="FFD166"/>
                </a:solidFill>
                <a:latin typeface="Carlito" pitchFamily="34" charset="0"/>
                <a:ea typeface="Carlito" pitchFamily="34" charset="-122"/>
                <a:cs typeface="Carlito" pitchFamily="34" charset="-120"/>
              </a:rPr>
              <a:t>مثال: AlphaGo، قيادة السيارات، الروبوتات</a:t>
            </a:r>
            <a:endParaRPr lang="en-US" sz="675" dirty="0"/>
          </a:p>
        </p:txBody>
      </p:sp>
      <p:sp>
        <p:nvSpPr>
          <p:cNvPr id="44" name="Text 33"/>
          <p:cNvSpPr/>
          <p:nvPr/>
        </p:nvSpPr>
        <p:spPr>
          <a:xfrm>
            <a:off x="8358188" y="4454128"/>
            <a:ext cx="92869" cy="92869"/>
          </a:xfrm>
          <a:prstGeom prst="rect">
            <a:avLst/>
          </a:prstGeom>
          <a:noFill/>
          <a:ln/>
        </p:spPr>
        <p:txBody>
          <a:bodyPr wrap="none" lIns="0" tIns="0" rIns="0" bIns="0" rtlCol="0" anchor="ctr"/>
          <a:lstStyle/>
          <a:p>
            <a:pPr algn="ctr" indent="0" marL="0">
              <a:buNone/>
            </a:pPr>
            <a:r>
              <a:rPr lang="en-US" sz="914" dirty="0">
                <a:solidFill>
                  <a:srgbClr val="FFD166"/>
                </a:solidFill>
                <a:latin typeface="Segoe UI Symbol" pitchFamily="34" charset="0"/>
                <a:ea typeface="Segoe UI Symbol" pitchFamily="34" charset="-122"/>
                <a:cs typeface="Segoe UI Symbol" pitchFamily="34" charset="-120"/>
              </a:rPr>
              <a:t>◆</a:t>
            </a:r>
            <a:endParaRPr lang="en-US" sz="914" dirty="0"/>
          </a:p>
        </p:txBody>
      </p:sp>
      <p:sp>
        <p:nvSpPr>
          <p:cNvPr id="45" name="Text 34"/>
          <p:cNvSpPr/>
          <p:nvPr/>
        </p:nvSpPr>
        <p:spPr>
          <a:xfrm>
            <a:off x="460772" y="3129297"/>
            <a:ext cx="4050506" cy="1610581"/>
          </a:xfrm>
          <a:prstGeom prst="roundRect">
            <a:avLst>
              <a:gd name="adj" fmla="val 10645"/>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pic>
        <p:nvPicPr>
          <p:cNvPr id="46" name="Image 9" descr="preencoded.png">    </p:cNvPr>
          <p:cNvPicPr>
            <a:picLocks noChangeAspect="1"/>
          </p:cNvPicPr>
          <p:nvPr/>
        </p:nvPicPr>
        <p:blipFill>
          <a:blip r:embed="rId10"/>
          <a:stretch>
            <a:fillRect/>
          </a:stretch>
        </p:blipFill>
        <p:spPr>
          <a:xfrm>
            <a:off x="3964781" y="3261457"/>
            <a:ext cx="400050" cy="400050"/>
          </a:xfrm>
          <a:prstGeom prst="rect">
            <a:avLst/>
          </a:prstGeom>
        </p:spPr>
      </p:pic>
      <p:sp>
        <p:nvSpPr>
          <p:cNvPr id="47" name="Text 35"/>
          <p:cNvSpPr/>
          <p:nvPr/>
        </p:nvSpPr>
        <p:spPr>
          <a:xfrm>
            <a:off x="3968353" y="3265029"/>
            <a:ext cx="392906" cy="392906"/>
          </a:xfrm>
          <a:prstGeom prst="roundRect">
            <a:avLst>
              <a:gd name="adj" fmla="val 38788"/>
            </a:avLst>
          </a:prstGeom>
          <a:noFill/>
          <a:ln w="7144">
            <a:solidFill>
              <a:srgbClr val="00F5A0"/>
            </a:solidFill>
            <a:prstDash val="solid"/>
          </a:ln>
          <a:effectLst>
            <a:outerShdw sx="100000" sy="100000" kx="0" ky="0" algn="bl" rotWithShape="0" blurRad="152400" dist="50800" dir="16200000">
              <a:srgbClr val="00F5A0">
                <a:alpha val="25000"/>
              </a:srgbClr>
            </a:outerShdw>
          </a:effectLst>
        </p:spPr>
        <p:txBody>
          <a:bodyPr wrap="square" rtlCol="0" anchor="ctr"/>
          <a:lstStyle/>
          <a:p>
            <a:pPr indent="0" marL="0">
              <a:buNone/>
            </a:pPr>
            <a:endParaRPr lang="en-US" dirty="0"/>
          </a:p>
        </p:txBody>
      </p:sp>
      <p:sp>
        <p:nvSpPr>
          <p:cNvPr id="48" name="Text 36"/>
          <p:cNvSpPr/>
          <p:nvPr/>
        </p:nvSpPr>
        <p:spPr>
          <a:xfrm>
            <a:off x="4030147" y="3326822"/>
            <a:ext cx="269319" cy="269319"/>
          </a:xfrm>
          <a:prstGeom prst="rect">
            <a:avLst/>
          </a:prstGeom>
          <a:noFill/>
          <a:ln/>
        </p:spPr>
        <p:txBody>
          <a:bodyPr wrap="none" lIns="0" tIns="0" rIns="0" bIns="0" rtlCol="0" anchor="ctr"/>
          <a:lstStyle/>
          <a:p>
            <a:pPr algn="ctr" indent="0" marL="0">
              <a:buNone/>
            </a:pPr>
            <a:r>
              <a:rPr lang="en-US" sz="1828" dirty="0">
                <a:solidFill>
                  <a:srgbClr val="00F5A0"/>
                </a:solidFill>
                <a:latin typeface="Segoe UI Symbol" pitchFamily="34" charset="0"/>
                <a:ea typeface="Segoe UI Symbol" pitchFamily="34" charset="-122"/>
                <a:cs typeface="Segoe UI Symbol" pitchFamily="34" charset="-120"/>
              </a:rPr>
              <a:t>✦</a:t>
            </a:r>
            <a:endParaRPr lang="en-US" sz="1828" dirty="0"/>
          </a:p>
        </p:txBody>
      </p:sp>
      <p:sp>
        <p:nvSpPr>
          <p:cNvPr id="49" name="Text 37"/>
          <p:cNvSpPr/>
          <p:nvPr/>
        </p:nvSpPr>
        <p:spPr>
          <a:xfrm>
            <a:off x="2888866" y="3290367"/>
            <a:ext cx="1143759" cy="175384"/>
          </a:xfrm>
          <a:prstGeom prst="rect">
            <a:avLst/>
          </a:prstGeom>
          <a:noFill/>
          <a:ln/>
        </p:spPr>
        <p:txBody>
          <a:bodyPr wrap="none" lIns="0" tIns="0" rIns="0" bIns="0" rtlCol="0" anchor="t">
            <a:normAutofit/>
          </a:bodyPr>
          <a:lstStyle/>
          <a:p>
            <a:pPr algn="l" indent="0" marL="0">
              <a:lnSpc>
                <a:spcPts val="1485"/>
              </a:lnSpc>
              <a:buNone/>
            </a:pPr>
            <a:r>
              <a:rPr lang="en-US" sz="1238" b="1" dirty="0">
                <a:solidFill>
                  <a:srgbClr val="EAF6FF"/>
                </a:solidFill>
                <a:latin typeface="Carlito" pitchFamily="34" charset="0"/>
                <a:ea typeface="Carlito" pitchFamily="34" charset="-122"/>
                <a:cs typeface="Carlito" pitchFamily="34" charset="-120"/>
              </a:rPr>
              <a:t>نقل المعرفة</a:t>
            </a:r>
            <a:endParaRPr lang="en-US" sz="1238" dirty="0"/>
          </a:p>
        </p:txBody>
      </p:sp>
      <p:sp>
        <p:nvSpPr>
          <p:cNvPr id="50" name="Text 38"/>
          <p:cNvSpPr/>
          <p:nvPr/>
        </p:nvSpPr>
        <p:spPr>
          <a:xfrm>
            <a:off x="2888866" y="3493182"/>
            <a:ext cx="1143759" cy="164592"/>
          </a:xfrm>
          <a:prstGeom prst="rect">
            <a:avLst/>
          </a:prstGeom>
          <a:noFill/>
          <a:ln/>
        </p:spPr>
        <p:txBody>
          <a:bodyPr wrap="none" lIns="0" tIns="0" rIns="0" bIns="0" rtlCol="0" anchor="t"/>
          <a:lstStyle/>
          <a:p>
            <a:pPr algn="l" indent="0" marL="0">
              <a:lnSpc>
                <a:spcPts val="1097"/>
              </a:lnSpc>
              <a:buNone/>
            </a:pPr>
            <a:r>
              <a:rPr lang="en-US" sz="800" spc="15" kern="0" dirty="0">
                <a:solidFill>
                  <a:srgbClr val="8AA0CC"/>
                </a:solidFill>
                <a:latin typeface="Courier New" pitchFamily="34" charset="0"/>
                <a:ea typeface="Courier New" pitchFamily="34" charset="-122"/>
                <a:cs typeface="Courier New" pitchFamily="34" charset="-120"/>
              </a:rPr>
              <a:t>Transfer Learning</a:t>
            </a:r>
            <a:endParaRPr lang="en-US" sz="800" dirty="0"/>
          </a:p>
        </p:txBody>
      </p:sp>
      <p:sp>
        <p:nvSpPr>
          <p:cNvPr id="51" name="Text 39"/>
          <p:cNvSpPr/>
          <p:nvPr/>
        </p:nvSpPr>
        <p:spPr>
          <a:xfrm>
            <a:off x="607219" y="3732944"/>
            <a:ext cx="3757613" cy="620716"/>
          </a:xfrm>
          <a:prstGeom prst="rect">
            <a:avLst/>
          </a:prstGeom>
          <a:noFill/>
          <a:ln/>
        </p:spPr>
        <p:txBody>
          <a:bodyPr wrap="square" lIns="0" tIns="0" rIns="0" bIns="0" rtlCol="0" anchor="t"/>
          <a:lstStyle/>
          <a:p>
            <a:pPr algn="l" indent="0" marL="0">
              <a:lnSpc>
                <a:spcPts val="1392"/>
              </a:lnSpc>
              <a:buNone/>
            </a:pPr>
            <a:r>
              <a:rPr lang="en-US" sz="844" dirty="0">
                <a:solidFill>
                  <a:srgbClr val="EAF6FF"/>
                </a:solidFill>
                <a:latin typeface="Carlito" pitchFamily="34" charset="0"/>
                <a:ea typeface="Carlito" pitchFamily="34" charset="-122"/>
                <a:cs typeface="Carlito" pitchFamily="34" charset="-120"/>
              </a:rPr>
              <a:t>استخدام نموذج مُدرب مسبقاً على مهمة جديدة. يوفر الوقت والبيانات ويحسن الأداء.</a:t>
            </a:r>
            <a:endParaRPr lang="en-US" sz="844" dirty="0"/>
          </a:p>
        </p:txBody>
      </p:sp>
      <p:sp>
        <p:nvSpPr>
          <p:cNvPr id="52" name="Text 40"/>
          <p:cNvSpPr/>
          <p:nvPr/>
        </p:nvSpPr>
        <p:spPr>
          <a:xfrm>
            <a:off x="2524199" y="4396978"/>
            <a:ext cx="1837060" cy="207169"/>
          </a:xfrm>
          <a:prstGeom prst="roundRect">
            <a:avLst>
              <a:gd name="adj" fmla="val 4593098"/>
            </a:avLst>
          </a:prstGeom>
          <a:solidFill>
            <a:srgbClr val="00F5A0">
              <a:alpha val="8000"/>
            </a:srgbClr>
          </a:solidFill>
          <a:ln w="7144">
            <a:solidFill>
              <a:srgbClr val="00F5A0"/>
            </a:solidFill>
            <a:prstDash val="solid"/>
          </a:ln>
        </p:spPr>
        <p:txBody>
          <a:bodyPr wrap="square" rtlCol="0" anchor="ctr"/>
          <a:lstStyle/>
          <a:p>
            <a:pPr indent="0" marL="0">
              <a:buNone/>
            </a:pPr>
            <a:endParaRPr lang="en-US" dirty="0"/>
          </a:p>
        </p:txBody>
      </p:sp>
      <p:sp>
        <p:nvSpPr>
          <p:cNvPr id="53" name="Text 41"/>
          <p:cNvSpPr/>
          <p:nvPr/>
        </p:nvSpPr>
        <p:spPr>
          <a:xfrm>
            <a:off x="2606353" y="4443413"/>
            <a:ext cx="1522735" cy="146304"/>
          </a:xfrm>
          <a:prstGeom prst="rect">
            <a:avLst/>
          </a:prstGeom>
          <a:noFill/>
          <a:ln/>
        </p:spPr>
        <p:txBody>
          <a:bodyPr wrap="square" lIns="78581" tIns="35719" rIns="78581" bIns="35719" rtlCol="0" anchor="t"/>
          <a:lstStyle/>
          <a:p>
            <a:pPr algn="l" indent="0" marL="0">
              <a:lnSpc>
                <a:spcPts val="1013"/>
              </a:lnSpc>
              <a:buNone/>
            </a:pPr>
            <a:r>
              <a:rPr lang="en-US" sz="675" dirty="0">
                <a:solidFill>
                  <a:srgbClr val="00F5A0"/>
                </a:solidFill>
                <a:latin typeface="Carlito" pitchFamily="34" charset="0"/>
                <a:ea typeface="Carlito" pitchFamily="34" charset="-122"/>
                <a:cs typeface="Carlito" pitchFamily="34" charset="-120"/>
              </a:rPr>
              <a:t>مثال: BERT، GPT، ResNet مُدرب مسبقاً</a:t>
            </a:r>
            <a:endParaRPr lang="en-US" sz="675" dirty="0"/>
          </a:p>
        </p:txBody>
      </p:sp>
      <p:sp>
        <p:nvSpPr>
          <p:cNvPr id="54" name="Text 42"/>
          <p:cNvSpPr/>
          <p:nvPr/>
        </p:nvSpPr>
        <p:spPr>
          <a:xfrm>
            <a:off x="4186238" y="4454128"/>
            <a:ext cx="92869" cy="92869"/>
          </a:xfrm>
          <a:prstGeom prst="rect">
            <a:avLst/>
          </a:prstGeom>
          <a:noFill/>
          <a:ln/>
        </p:spPr>
        <p:txBody>
          <a:bodyPr wrap="none" lIns="0" tIns="0" rIns="0" bIns="0" rtlCol="0" anchor="ctr"/>
          <a:lstStyle/>
          <a:p>
            <a:pPr algn="ctr" indent="0" marL="0">
              <a:buNone/>
            </a:pPr>
            <a:r>
              <a:rPr lang="en-US" sz="914" dirty="0">
                <a:solidFill>
                  <a:srgbClr val="FFD166"/>
                </a:solidFill>
                <a:latin typeface="Segoe UI Symbol" pitchFamily="34" charset="0"/>
                <a:ea typeface="Segoe UI Symbol" pitchFamily="34" charset="-122"/>
                <a:cs typeface="Segoe UI Symbol" pitchFamily="34" charset="-120"/>
              </a:rPr>
              <a:t>◆</a:t>
            </a:r>
            <a:endParaRPr lang="en-US" sz="914" dirty="0"/>
          </a:p>
        </p:txBody>
      </p:sp>
      <p:sp>
        <p:nvSpPr>
          <p:cNvPr id="55" name="Text 43"/>
          <p:cNvSpPr/>
          <p:nvPr/>
        </p:nvSpPr>
        <p:spPr>
          <a:xfrm>
            <a:off x="8643938" y="4900613"/>
            <a:ext cx="42863" cy="42863"/>
          </a:xfrm>
          <a:prstGeom prst="roundRect">
            <a:avLst>
              <a:gd name="adj" fmla="val 66666"/>
            </a:avLst>
          </a:prstGeom>
          <a:solidFill>
            <a:srgbClr val="00D9FF"/>
          </a:solidFill>
          <a:ln/>
        </p:spPr>
        <p:txBody>
          <a:bodyPr wrap="square" rtlCol="0" anchor="ctr"/>
          <a:lstStyle/>
          <a:p>
            <a:pPr indent="0" marL="0">
              <a:buNone/>
            </a:pPr>
            <a:endParaRPr lang="en-US" dirty="0"/>
          </a:p>
        </p:txBody>
      </p:sp>
      <p:sp>
        <p:nvSpPr>
          <p:cNvPr id="56" name="Text 44"/>
          <p:cNvSpPr/>
          <p:nvPr/>
        </p:nvSpPr>
        <p:spPr>
          <a:xfrm>
            <a:off x="8222894" y="4857750"/>
            <a:ext cx="663773"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AI SKILLS</a:t>
            </a:r>
            <a:endParaRPr lang="en-US" sz="800" dirty="0"/>
          </a:p>
        </p:txBody>
      </p:sp>
      <p:sp>
        <p:nvSpPr>
          <p:cNvPr id="57" name="Text 45"/>
          <p:cNvSpPr/>
          <p:nvPr/>
        </p:nvSpPr>
        <p:spPr>
          <a:xfrm>
            <a:off x="457200" y="4857750"/>
            <a:ext cx="7752085"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صفحة 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65000"/>
          </a:blip>
          <a:stretch>
            <a:fillRect/>
          </a:stretch>
        </p:blipFill>
        <p:spPr>
          <a:xfrm>
            <a:off x="6858000" y="-1143000"/>
            <a:ext cx="3429000" cy="3429000"/>
          </a:xfrm>
          <a:prstGeom prst="rect">
            <a:avLst/>
          </a:prstGeom>
        </p:spPr>
      </p:pic>
      <p:sp>
        <p:nvSpPr>
          <p:cNvPr id="4" name="Text 0"/>
          <p:cNvSpPr/>
          <p:nvPr/>
        </p:nvSpPr>
        <p:spPr>
          <a:xfrm>
            <a:off x="6858000" y="-1143000"/>
            <a:ext cx="3429000" cy="3429000"/>
          </a:xfrm>
          <a:prstGeom prst="ellipse">
            <a:avLst/>
          </a:prstGeom>
          <a:solidFill>
            <a:srgbClr val="FFFFFF">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65000"/>
          </a:blip>
          <a:stretch>
            <a:fillRect/>
          </a:stretch>
        </p:blipFill>
        <p:spPr>
          <a:xfrm>
            <a:off x="-1143000" y="3429000"/>
            <a:ext cx="3000375" cy="3000375"/>
          </a:xfrm>
          <a:prstGeom prst="rect">
            <a:avLst/>
          </a:prstGeom>
        </p:spPr>
      </p:pic>
      <p:sp>
        <p:nvSpPr>
          <p:cNvPr id="6" name="Text 1"/>
          <p:cNvSpPr/>
          <p:nvPr/>
        </p:nvSpPr>
        <p:spPr>
          <a:xfrm>
            <a:off x="-1143000" y="3429000"/>
            <a:ext cx="3000375" cy="3000375"/>
          </a:xfrm>
          <a:prstGeom prst="ellipse">
            <a:avLst/>
          </a:prstGeom>
          <a:solidFill>
            <a:srgbClr val="FFFFFF">
              <a:alpha val="0"/>
            </a:srgbClr>
          </a:solidFill>
          <a:ln/>
        </p:spPr>
        <p:txBody>
          <a:bodyPr wrap="square" rtlCol="0" anchor="ctr"/>
          <a:lstStyle/>
          <a:p>
            <a:pPr indent="0" marL="0">
              <a:buNone/>
            </a:pPr>
            <a:endParaRPr lang="en-US" dirty="0"/>
          </a:p>
        </p:txBody>
      </p:sp>
      <p:sp>
        <p:nvSpPr>
          <p:cNvPr id="7" name="Text 2"/>
          <p:cNvSpPr/>
          <p:nvPr/>
        </p:nvSpPr>
        <p:spPr>
          <a:xfrm>
            <a:off x="87436" y="1571625"/>
            <a:ext cx="3626853" cy="2160270"/>
          </a:xfrm>
          <a:prstGeom prst="rect">
            <a:avLst/>
          </a:prstGeom>
          <a:noFill/>
          <a:ln/>
        </p:spPr>
        <p:txBody>
          <a:bodyPr wrap="square" lIns="0" tIns="0" rIns="0" bIns="0" rtlCol="0" anchor="t"/>
          <a:lstStyle/>
          <a:p>
            <a:pPr algn="l" indent="0" marL="0">
              <a:lnSpc>
                <a:spcPts val="15750"/>
              </a:lnSpc>
              <a:buNone/>
            </a:pPr>
            <a:r>
              <a:rPr lang="en-US" sz="15750" b="1" spc="-630" kern="0" dirty="0">
                <a:solidFill>
                  <a:srgbClr val="FFD166">
                    <a:alpha val="8000"/>
                  </a:srgbClr>
                </a:solidFill>
                <a:latin typeface="Liberation Sans Narrow" pitchFamily="34" charset="0"/>
                <a:ea typeface="Liberation Sans Narrow" pitchFamily="34" charset="-122"/>
                <a:cs typeface="Liberation Sans Narrow" pitchFamily="34" charset="-120"/>
              </a:rPr>
              <a:t>04</a:t>
            </a:r>
            <a:endParaRPr lang="en-US" sz="15750" dirty="0"/>
          </a:p>
        </p:txBody>
      </p:sp>
      <p:pic>
        <p:nvPicPr>
          <p:cNvPr id="8" name="Image 3" descr="preencoded.png">    </p:cNvPr>
          <p:cNvPicPr>
            <a:picLocks noChangeAspect="1"/>
          </p:cNvPicPr>
          <p:nvPr/>
        </p:nvPicPr>
        <p:blipFill>
          <a:blip r:embed="rId4"/>
          <a:stretch>
            <a:fillRect/>
          </a:stretch>
        </p:blipFill>
        <p:spPr>
          <a:xfrm>
            <a:off x="8893969" y="571500"/>
            <a:ext cx="21431" cy="4000500"/>
          </a:xfrm>
          <a:prstGeom prst="rect">
            <a:avLst/>
          </a:prstGeom>
        </p:spPr>
      </p:pic>
      <p:sp>
        <p:nvSpPr>
          <p:cNvPr id="9" name="Text 3"/>
          <p:cNvSpPr/>
          <p:nvPr/>
        </p:nvSpPr>
        <p:spPr>
          <a:xfrm>
            <a:off x="3932992" y="1434143"/>
            <a:ext cx="1278128" cy="304209"/>
          </a:xfrm>
          <a:prstGeom prst="roundRect">
            <a:avLst>
              <a:gd name="adj" fmla="val 3127940"/>
            </a:avLst>
          </a:prstGeom>
          <a:solidFill>
            <a:srgbClr val="FFD166">
              <a:alpha val="10000"/>
            </a:srgbClr>
          </a:solidFill>
          <a:ln w="7144">
            <a:solidFill>
              <a:srgbClr val="FFD166"/>
            </a:solidFill>
            <a:prstDash val="solid"/>
          </a:ln>
        </p:spPr>
        <p:txBody>
          <a:bodyPr wrap="square" rtlCol="0" anchor="ctr"/>
          <a:lstStyle/>
          <a:p>
            <a:pPr indent="0" marL="0">
              <a:buNone/>
            </a:pPr>
            <a:endParaRPr lang="en-US" dirty="0"/>
          </a:p>
        </p:txBody>
      </p:sp>
      <p:sp>
        <p:nvSpPr>
          <p:cNvPr id="10" name="Text 4"/>
          <p:cNvSpPr/>
          <p:nvPr/>
        </p:nvSpPr>
        <p:spPr>
          <a:xfrm>
            <a:off x="3990279" y="1525525"/>
            <a:ext cx="992104" cy="133241"/>
          </a:xfrm>
          <a:prstGeom prst="rect">
            <a:avLst/>
          </a:prstGeom>
          <a:noFill/>
          <a:ln/>
        </p:spPr>
        <p:txBody>
          <a:bodyPr wrap="none" lIns="0" tIns="0" rIns="0" bIns="0" rtlCol="0" anchor="t"/>
          <a:lstStyle/>
          <a:p>
            <a:pPr algn="ctr" indent="0" marL="0">
              <a:lnSpc>
                <a:spcPts val="1181"/>
              </a:lnSpc>
              <a:buNone/>
            </a:pPr>
            <a:r>
              <a:rPr lang="en-US" sz="788" dirty="0">
                <a:solidFill>
                  <a:srgbClr val="FFD166"/>
                </a:solidFill>
                <a:latin typeface="Liberation Sans Narrow" pitchFamily="34" charset="0"/>
                <a:ea typeface="Liberation Sans Narrow" pitchFamily="34" charset="-122"/>
                <a:cs typeface="Liberation Sans Narrow" pitchFamily="34" charset="-120"/>
              </a:rPr>
              <a:t>CHAPTER 04 / 04</a:t>
            </a:r>
            <a:endParaRPr lang="en-US" sz="788" dirty="0"/>
          </a:p>
        </p:txBody>
      </p:sp>
      <p:sp>
        <p:nvSpPr>
          <p:cNvPr id="11" name="Text 5"/>
          <p:cNvSpPr/>
          <p:nvPr/>
        </p:nvSpPr>
        <p:spPr>
          <a:xfrm>
            <a:off x="4938229" y="1529097"/>
            <a:ext cx="114300" cy="114300"/>
          </a:xfrm>
          <a:prstGeom prst="rect">
            <a:avLst/>
          </a:prstGeom>
          <a:noFill/>
          <a:ln/>
        </p:spPr>
        <p:txBody>
          <a:bodyPr wrap="none" lIns="0" tIns="0" rIns="0" bIns="0" rtlCol="0" anchor="ctr"/>
          <a:lstStyle/>
          <a:p>
            <a:pPr algn="ctr" indent="0" marL="0">
              <a:buNone/>
            </a:pPr>
            <a:r>
              <a:rPr lang="en-US" sz="1125" dirty="0">
                <a:solidFill>
                  <a:srgbClr val="FFD166"/>
                </a:solidFill>
                <a:latin typeface="Segoe UI Symbol" pitchFamily="34" charset="0"/>
                <a:ea typeface="Segoe UI Symbol" pitchFamily="34" charset="-122"/>
                <a:cs typeface="Segoe UI Symbol" pitchFamily="34" charset="-120"/>
              </a:rPr>
              <a:t>❏</a:t>
            </a:r>
            <a:endParaRPr lang="en-US" sz="1125" dirty="0"/>
          </a:p>
        </p:txBody>
      </p:sp>
      <p:sp>
        <p:nvSpPr>
          <p:cNvPr id="12" name="Text 6"/>
          <p:cNvSpPr/>
          <p:nvPr/>
        </p:nvSpPr>
        <p:spPr>
          <a:xfrm>
            <a:off x="274320" y="1939863"/>
            <a:ext cx="8595360" cy="627949"/>
          </a:xfrm>
          <a:prstGeom prst="rect">
            <a:avLst/>
          </a:prstGeom>
          <a:noFill/>
          <a:ln/>
        </p:spPr>
        <p:txBody>
          <a:bodyPr wrap="none" lIns="0" tIns="0" rIns="0" bIns="0" rtlCol="0" anchor="t"/>
          <a:lstStyle/>
          <a:p>
            <a:pPr algn="ctr" indent="0" marL="0">
              <a:lnSpc>
                <a:spcPts val="4579"/>
              </a:lnSpc>
              <a:buNone/>
            </a:pPr>
            <a:r>
              <a:rPr lang="en-US" sz="4163" b="1" spc="-42" kern="0" dirty="0">
                <a:solidFill>
                  <a:srgbClr val="00D9FF"/>
                </a:solidFill>
                <a:latin typeface="Carlito" pitchFamily="34" charset="0"/>
                <a:ea typeface="Carlito" pitchFamily="34" charset="-122"/>
                <a:cs typeface="Carlito" pitchFamily="34" charset="-120"/>
              </a:rPr>
              <a:t>خوارزميات التدريب</a:t>
            </a:r>
            <a:endParaRPr lang="en-US" sz="4163" dirty="0"/>
          </a:p>
        </p:txBody>
      </p:sp>
      <p:pic>
        <p:nvPicPr>
          <p:cNvPr id="13" name="Image 4" descr="preencoded.png">    </p:cNvPr>
          <p:cNvPicPr>
            <a:picLocks noChangeAspect="1"/>
          </p:cNvPicPr>
          <p:nvPr/>
        </p:nvPicPr>
        <p:blipFill>
          <a:blip r:embed="rId5"/>
          <a:stretch>
            <a:fillRect/>
          </a:stretch>
        </p:blipFill>
        <p:spPr>
          <a:xfrm>
            <a:off x="3857625" y="2678460"/>
            <a:ext cx="1428750" cy="14288"/>
          </a:xfrm>
          <a:prstGeom prst="rect">
            <a:avLst/>
          </a:prstGeom>
        </p:spPr>
      </p:pic>
      <p:sp>
        <p:nvSpPr>
          <p:cNvPr id="14" name="Text 7"/>
          <p:cNvSpPr/>
          <p:nvPr/>
        </p:nvSpPr>
        <p:spPr>
          <a:xfrm>
            <a:off x="1828912" y="2849910"/>
            <a:ext cx="5486177" cy="254603"/>
          </a:xfrm>
          <a:prstGeom prst="rect">
            <a:avLst/>
          </a:prstGeom>
          <a:noFill/>
          <a:ln/>
        </p:spPr>
        <p:txBody>
          <a:bodyPr wrap="square" lIns="0" tIns="0" rIns="0" bIns="0" rtlCol="0" anchor="t"/>
          <a:lstStyle/>
          <a:p>
            <a:pPr algn="ctr" indent="0" marL="0">
              <a:lnSpc>
                <a:spcPts val="1856"/>
              </a:lnSpc>
              <a:buNone/>
            </a:pPr>
            <a:r>
              <a:rPr lang="en-US" sz="1238" dirty="0">
                <a:solidFill>
                  <a:srgbClr val="8AA0CC"/>
                </a:solidFill>
                <a:latin typeface="Carlito" pitchFamily="34" charset="0"/>
                <a:ea typeface="Carlito" pitchFamily="34" charset="-122"/>
                <a:cs typeface="Carlito" pitchFamily="34" charset="-120"/>
              </a:rPr>
              <a:t>كيف يتعلم النموذج فعلاً؟ رحلة داخل حلقة التدريب والمعلمات الفائقة.</a:t>
            </a:r>
            <a:endParaRPr lang="en-US" sz="1238" dirty="0"/>
          </a:p>
        </p:txBody>
      </p:sp>
      <p:sp>
        <p:nvSpPr>
          <p:cNvPr id="15" name="Text 8"/>
          <p:cNvSpPr/>
          <p:nvPr/>
        </p:nvSpPr>
        <p:spPr>
          <a:xfrm>
            <a:off x="5650706" y="3415752"/>
            <a:ext cx="510778" cy="293494"/>
          </a:xfrm>
          <a:prstGeom prst="roundRect">
            <a:avLst>
              <a:gd name="adj" fmla="val 3242136"/>
            </a:avLst>
          </a:prstGeom>
          <a:solidFill>
            <a:srgbClr val="FFD166">
              <a:alpha val="10000"/>
            </a:srgbClr>
          </a:solidFill>
          <a:ln w="7144">
            <a:solidFill>
              <a:srgbClr val="FFD166"/>
            </a:solidFill>
            <a:prstDash val="solid"/>
          </a:ln>
        </p:spPr>
        <p:txBody>
          <a:bodyPr wrap="square" rtlCol="0" anchor="ctr"/>
          <a:lstStyle/>
          <a:p>
            <a:pPr indent="0" marL="0">
              <a:buNone/>
            </a:pPr>
            <a:endParaRPr lang="en-US" dirty="0"/>
          </a:p>
        </p:txBody>
      </p:sp>
      <p:sp>
        <p:nvSpPr>
          <p:cNvPr id="16" name="Text 9"/>
          <p:cNvSpPr/>
          <p:nvPr/>
        </p:nvSpPr>
        <p:spPr>
          <a:xfrm>
            <a:off x="5709348" y="3499991"/>
            <a:ext cx="236332" cy="143490"/>
          </a:xfrm>
          <a:prstGeom prst="rect">
            <a:avLst/>
          </a:prstGeom>
          <a:noFill/>
          <a:ln/>
        </p:spPr>
        <p:txBody>
          <a:bodyPr wrap="none" lIns="0" tIns="0" rIns="0" bIns="0" rtlCol="0" anchor="t"/>
          <a:lstStyle/>
          <a:p>
            <a:pPr algn="ctr" indent="0" marL="0">
              <a:lnSpc>
                <a:spcPts val="1097"/>
              </a:lnSpc>
              <a:buNone/>
            </a:pPr>
            <a:r>
              <a:rPr lang="en-US" sz="731" dirty="0">
                <a:solidFill>
                  <a:srgbClr val="FFD166"/>
                </a:solidFill>
                <a:latin typeface="Courier New" pitchFamily="34" charset="0"/>
                <a:ea typeface="Courier New" pitchFamily="34" charset="-122"/>
                <a:cs typeface="Courier New" pitchFamily="34" charset="-120"/>
              </a:rPr>
              <a:t>SGD</a:t>
            </a:r>
            <a:endParaRPr lang="en-US" sz="731" dirty="0"/>
          </a:p>
        </p:txBody>
      </p:sp>
      <p:sp>
        <p:nvSpPr>
          <p:cNvPr id="17" name="Text 10"/>
          <p:cNvSpPr/>
          <p:nvPr/>
        </p:nvSpPr>
        <p:spPr>
          <a:xfrm>
            <a:off x="5954316" y="3512493"/>
            <a:ext cx="100013" cy="100013"/>
          </a:xfrm>
          <a:prstGeom prst="rect">
            <a:avLst/>
          </a:prstGeom>
          <a:noFill/>
          <a:ln/>
        </p:spPr>
        <p:txBody>
          <a:bodyPr wrap="none" lIns="0" tIns="0" rIns="0" bIns="0" rtlCol="0" anchor="ctr"/>
          <a:lstStyle/>
          <a:p>
            <a:pPr algn="ctr" indent="0" marL="0">
              <a:buNone/>
            </a:pPr>
            <a:r>
              <a:rPr lang="en-US" sz="984" dirty="0">
                <a:solidFill>
                  <a:srgbClr val="FFD166"/>
                </a:solidFill>
                <a:latin typeface="Segoe UI Symbol" pitchFamily="34" charset="0"/>
                <a:ea typeface="Segoe UI Symbol" pitchFamily="34" charset="-122"/>
                <a:cs typeface="Segoe UI Symbol" pitchFamily="34" charset="-120"/>
              </a:rPr>
              <a:t>➤</a:t>
            </a:r>
            <a:endParaRPr lang="en-US" sz="984" dirty="0"/>
          </a:p>
        </p:txBody>
      </p:sp>
      <p:sp>
        <p:nvSpPr>
          <p:cNvPr id="18" name="Text 11"/>
          <p:cNvSpPr/>
          <p:nvPr/>
        </p:nvSpPr>
        <p:spPr>
          <a:xfrm>
            <a:off x="4993481" y="3415752"/>
            <a:ext cx="557213" cy="293494"/>
          </a:xfrm>
          <a:prstGeom prst="roundRect">
            <a:avLst>
              <a:gd name="adj" fmla="val 3242136"/>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19" name="Text 12"/>
          <p:cNvSpPr/>
          <p:nvPr/>
        </p:nvSpPr>
        <p:spPr>
          <a:xfrm>
            <a:off x="5057806" y="3499991"/>
            <a:ext cx="271400" cy="143490"/>
          </a:xfrm>
          <a:prstGeom prst="rect">
            <a:avLst/>
          </a:prstGeom>
          <a:noFill/>
          <a:ln/>
        </p:spPr>
        <p:txBody>
          <a:bodyPr wrap="none" lIns="0" tIns="0" rIns="0" bIns="0" rtlCol="0" anchor="t"/>
          <a:lstStyle/>
          <a:p>
            <a:pPr algn="ctr" indent="0" marL="0">
              <a:lnSpc>
                <a:spcPts val="1097"/>
              </a:lnSpc>
              <a:buNone/>
            </a:pPr>
            <a:r>
              <a:rPr lang="en-US" sz="731" dirty="0">
                <a:solidFill>
                  <a:srgbClr val="B845FF"/>
                </a:solidFill>
                <a:latin typeface="Courier New" pitchFamily="34" charset="0"/>
                <a:ea typeface="Courier New" pitchFamily="34" charset="-122"/>
                <a:cs typeface="Courier New" pitchFamily="34" charset="-120"/>
              </a:rPr>
              <a:t>Adam</a:t>
            </a:r>
            <a:endParaRPr lang="en-US" sz="731" dirty="0"/>
          </a:p>
        </p:txBody>
      </p:sp>
      <p:sp>
        <p:nvSpPr>
          <p:cNvPr id="20" name="Text 13"/>
          <p:cNvSpPr/>
          <p:nvPr/>
        </p:nvSpPr>
        <p:spPr>
          <a:xfrm>
            <a:off x="5343525" y="3512493"/>
            <a:ext cx="100013" cy="100013"/>
          </a:xfrm>
          <a:prstGeom prst="rect">
            <a:avLst/>
          </a:prstGeom>
          <a:noFill/>
          <a:ln/>
        </p:spPr>
        <p:txBody>
          <a:bodyPr wrap="none" lIns="0" tIns="0" rIns="0" bIns="0" rtlCol="0" anchor="ctr"/>
          <a:lstStyle/>
          <a:p>
            <a:pPr algn="ctr" indent="0" marL="0">
              <a:buNone/>
            </a:pPr>
            <a:r>
              <a:rPr lang="en-US" sz="984" dirty="0">
                <a:solidFill>
                  <a:srgbClr val="B845FF"/>
                </a:solidFill>
                <a:latin typeface="Segoe UI Symbol" pitchFamily="34" charset="0"/>
                <a:ea typeface="Segoe UI Symbol" pitchFamily="34" charset="-122"/>
                <a:cs typeface="Segoe UI Symbol" pitchFamily="34" charset="-120"/>
              </a:rPr>
              <a:t>⚡</a:t>
            </a:r>
            <a:endParaRPr lang="en-US" sz="984" dirty="0"/>
          </a:p>
        </p:txBody>
      </p:sp>
      <p:sp>
        <p:nvSpPr>
          <p:cNvPr id="21" name="Text 14"/>
          <p:cNvSpPr/>
          <p:nvPr/>
        </p:nvSpPr>
        <p:spPr>
          <a:xfrm>
            <a:off x="3918347" y="3415752"/>
            <a:ext cx="975122" cy="293494"/>
          </a:xfrm>
          <a:prstGeom prst="roundRect">
            <a:avLst>
              <a:gd name="adj" fmla="val 3242136"/>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22" name="Text 15"/>
          <p:cNvSpPr/>
          <p:nvPr/>
        </p:nvSpPr>
        <p:spPr>
          <a:xfrm>
            <a:off x="3942869" y="3499991"/>
            <a:ext cx="768916" cy="143490"/>
          </a:xfrm>
          <a:prstGeom prst="rect">
            <a:avLst/>
          </a:prstGeom>
          <a:noFill/>
          <a:ln/>
        </p:spPr>
        <p:txBody>
          <a:bodyPr wrap="none" lIns="0" tIns="0" rIns="0" bIns="0" rtlCol="0" anchor="t"/>
          <a:lstStyle/>
          <a:p>
            <a:pPr algn="ctr" indent="0" marL="0">
              <a:lnSpc>
                <a:spcPts val="1097"/>
              </a:lnSpc>
              <a:buNone/>
            </a:pPr>
            <a:r>
              <a:rPr lang="en-US" sz="731" dirty="0">
                <a:solidFill>
                  <a:srgbClr val="00D9FF"/>
                </a:solidFill>
                <a:latin typeface="Courier New" pitchFamily="34" charset="0"/>
                <a:ea typeface="Courier New" pitchFamily="34" charset="-122"/>
                <a:cs typeface="Courier New" pitchFamily="34" charset="-120"/>
              </a:rPr>
              <a:t>Learning Rate</a:t>
            </a:r>
            <a:endParaRPr lang="en-US" sz="731" dirty="0"/>
          </a:p>
        </p:txBody>
      </p:sp>
      <p:sp>
        <p:nvSpPr>
          <p:cNvPr id="23" name="Text 16"/>
          <p:cNvSpPr/>
          <p:nvPr/>
        </p:nvSpPr>
        <p:spPr>
          <a:xfrm>
            <a:off x="4686300" y="3512493"/>
            <a:ext cx="100013" cy="100013"/>
          </a:xfrm>
          <a:prstGeom prst="rect">
            <a:avLst/>
          </a:prstGeom>
          <a:noFill/>
          <a:ln/>
        </p:spPr>
        <p:txBody>
          <a:bodyPr wrap="none" lIns="0" tIns="0" rIns="0" bIns="0" rtlCol="0" anchor="ctr"/>
          <a:lstStyle/>
          <a:p>
            <a:pPr algn="ctr" indent="0" marL="0">
              <a:buNone/>
            </a:pPr>
            <a:r>
              <a:rPr lang="en-US" sz="984" dirty="0">
                <a:solidFill>
                  <a:srgbClr val="00D9FF"/>
                </a:solidFill>
                <a:latin typeface="Segoe UI Symbol" pitchFamily="34" charset="0"/>
                <a:ea typeface="Segoe UI Symbol" pitchFamily="34" charset="-122"/>
                <a:cs typeface="Segoe UI Symbol" pitchFamily="34" charset="-120"/>
              </a:rPr>
              <a:t>⚙</a:t>
            </a:r>
            <a:endParaRPr lang="en-US" sz="984" dirty="0"/>
          </a:p>
        </p:txBody>
      </p:sp>
      <p:sp>
        <p:nvSpPr>
          <p:cNvPr id="24" name="Text 17"/>
          <p:cNvSpPr/>
          <p:nvPr/>
        </p:nvSpPr>
        <p:spPr>
          <a:xfrm>
            <a:off x="2982516" y="3415752"/>
            <a:ext cx="835819" cy="293494"/>
          </a:xfrm>
          <a:prstGeom prst="roundRect">
            <a:avLst>
              <a:gd name="adj" fmla="val 3242136"/>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25" name="Text 18"/>
          <p:cNvSpPr/>
          <p:nvPr/>
        </p:nvSpPr>
        <p:spPr>
          <a:xfrm>
            <a:off x="3022862" y="3499991"/>
            <a:ext cx="597963" cy="143490"/>
          </a:xfrm>
          <a:prstGeom prst="rect">
            <a:avLst/>
          </a:prstGeom>
          <a:noFill/>
          <a:ln/>
        </p:spPr>
        <p:txBody>
          <a:bodyPr wrap="none" lIns="0" tIns="0" rIns="0" bIns="0" rtlCol="0" anchor="t"/>
          <a:lstStyle/>
          <a:p>
            <a:pPr algn="ctr" indent="0" marL="0">
              <a:lnSpc>
                <a:spcPts val="1097"/>
              </a:lnSpc>
              <a:buNone/>
            </a:pPr>
            <a:r>
              <a:rPr lang="en-US" sz="731" dirty="0">
                <a:solidFill>
                  <a:srgbClr val="00D9FF"/>
                </a:solidFill>
                <a:latin typeface="Courier New" pitchFamily="34" charset="0"/>
                <a:ea typeface="Courier New" pitchFamily="34" charset="-122"/>
                <a:cs typeface="Courier New" pitchFamily="34" charset="-120"/>
              </a:rPr>
              <a:t>Batch Size</a:t>
            </a:r>
            <a:endParaRPr lang="en-US" sz="731" dirty="0"/>
          </a:p>
        </p:txBody>
      </p:sp>
      <p:sp>
        <p:nvSpPr>
          <p:cNvPr id="26" name="Text 19"/>
          <p:cNvSpPr/>
          <p:nvPr/>
        </p:nvSpPr>
        <p:spPr>
          <a:xfrm>
            <a:off x="3611166" y="3512493"/>
            <a:ext cx="100013" cy="100013"/>
          </a:xfrm>
          <a:prstGeom prst="rect">
            <a:avLst/>
          </a:prstGeom>
          <a:noFill/>
          <a:ln/>
        </p:spPr>
        <p:txBody>
          <a:bodyPr wrap="none" lIns="0" tIns="0" rIns="0" bIns="0" rtlCol="0" anchor="ctr"/>
          <a:lstStyle/>
          <a:p>
            <a:pPr algn="ctr" indent="0" marL="0">
              <a:buNone/>
            </a:pPr>
            <a:r>
              <a:rPr lang="en-US" sz="984" dirty="0">
                <a:solidFill>
                  <a:srgbClr val="00D9FF"/>
                </a:solidFill>
                <a:latin typeface="Segoe UI Symbol" pitchFamily="34" charset="0"/>
                <a:ea typeface="Segoe UI Symbol" pitchFamily="34" charset="-122"/>
                <a:cs typeface="Segoe UI Symbol" pitchFamily="34" charset="-120"/>
              </a:rPr>
              <a:t>▦</a:t>
            </a:r>
            <a:endParaRPr lang="en-US" sz="984" dirty="0"/>
          </a:p>
        </p:txBody>
      </p:sp>
      <p:sp>
        <p:nvSpPr>
          <p:cNvPr id="27" name="Text 20"/>
          <p:cNvSpPr/>
          <p:nvPr/>
        </p:nvSpPr>
        <p:spPr>
          <a:xfrm>
            <a:off x="8643938" y="4900613"/>
            <a:ext cx="42863" cy="42863"/>
          </a:xfrm>
          <a:prstGeom prst="roundRect">
            <a:avLst>
              <a:gd name="adj" fmla="val 66666"/>
            </a:avLst>
          </a:prstGeom>
          <a:solidFill>
            <a:srgbClr val="00D9FF"/>
          </a:solidFill>
          <a:ln/>
        </p:spPr>
        <p:txBody>
          <a:bodyPr wrap="square" rtlCol="0" anchor="ctr"/>
          <a:lstStyle/>
          <a:p>
            <a:pPr indent="0" marL="0">
              <a:buNone/>
            </a:pPr>
            <a:endParaRPr lang="en-US" dirty="0"/>
          </a:p>
        </p:txBody>
      </p:sp>
      <p:sp>
        <p:nvSpPr>
          <p:cNvPr id="28" name="Text 21"/>
          <p:cNvSpPr/>
          <p:nvPr/>
        </p:nvSpPr>
        <p:spPr>
          <a:xfrm>
            <a:off x="8222894" y="4857750"/>
            <a:ext cx="663773"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AI SKILLS</a:t>
            </a:r>
            <a:endParaRPr lang="en-US" sz="800" dirty="0"/>
          </a:p>
        </p:txBody>
      </p:sp>
      <p:sp>
        <p:nvSpPr>
          <p:cNvPr id="29" name="Text 22"/>
          <p:cNvSpPr/>
          <p:nvPr/>
        </p:nvSpPr>
        <p:spPr>
          <a:xfrm>
            <a:off x="457200" y="4857750"/>
            <a:ext cx="7752085"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صفحة 09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65000"/>
          </a:blip>
          <a:stretch>
            <a:fillRect/>
          </a:stretch>
        </p:blipFill>
        <p:spPr>
          <a:xfrm>
            <a:off x="2714625" y="-1071562"/>
            <a:ext cx="3714750" cy="2143125"/>
          </a:xfrm>
          <a:prstGeom prst="rect">
            <a:avLst/>
          </a:prstGeom>
        </p:spPr>
      </p:pic>
      <p:sp>
        <p:nvSpPr>
          <p:cNvPr id="4" name="Text 0"/>
          <p:cNvSpPr/>
          <p:nvPr/>
        </p:nvSpPr>
        <p:spPr>
          <a:xfrm>
            <a:off x="2714625" y="-1071562"/>
            <a:ext cx="3714750" cy="2143125"/>
          </a:xfrm>
          <a:prstGeom prst="roundRect">
            <a:avLst>
              <a:gd name="adj" fmla="val 42667"/>
            </a:avLst>
          </a:prstGeom>
          <a:solidFill>
            <a:srgbClr val="FFFFFF">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65000"/>
          </a:blip>
          <a:stretch>
            <a:fillRect/>
          </a:stretch>
        </p:blipFill>
        <p:spPr>
          <a:xfrm>
            <a:off x="7000875" y="3000375"/>
            <a:ext cx="3429000" cy="3429000"/>
          </a:xfrm>
          <a:prstGeom prst="rect">
            <a:avLst/>
          </a:prstGeom>
        </p:spPr>
      </p:pic>
      <p:sp>
        <p:nvSpPr>
          <p:cNvPr id="6" name="Text 1"/>
          <p:cNvSpPr/>
          <p:nvPr/>
        </p:nvSpPr>
        <p:spPr>
          <a:xfrm>
            <a:off x="7000875" y="3000375"/>
            <a:ext cx="3429000" cy="3429000"/>
          </a:xfrm>
          <a:prstGeom prst="ellipse">
            <a:avLst/>
          </a:prstGeom>
          <a:solidFill>
            <a:srgbClr val="FFFFFF">
              <a:alpha val="0"/>
            </a:srgbClr>
          </a:solidFill>
          <a:ln/>
        </p:spPr>
        <p:txBody>
          <a:bodyPr wrap="square" rtlCol="0" anchor="ctr"/>
          <a:lstStyle/>
          <a:p>
            <a:pPr indent="0" marL="0">
              <a:buNone/>
            </a:pPr>
            <a:endParaRPr lang="en-US" dirty="0"/>
          </a:p>
        </p:txBody>
      </p:sp>
      <p:sp>
        <p:nvSpPr>
          <p:cNvPr id="7" name="Text 2"/>
          <p:cNvSpPr/>
          <p:nvPr/>
        </p:nvSpPr>
        <p:spPr>
          <a:xfrm>
            <a:off x="7791398" y="387248"/>
            <a:ext cx="918262" cy="264919"/>
          </a:xfrm>
          <a:prstGeom prst="roundRect">
            <a:avLst>
              <a:gd name="adj" fmla="val 3591843"/>
            </a:avLst>
          </a:prstGeom>
          <a:solidFill>
            <a:srgbClr val="FFD166">
              <a:alpha val="10000"/>
            </a:srgbClr>
          </a:solidFill>
          <a:ln w="7144">
            <a:solidFill>
              <a:srgbClr val="FFD166"/>
            </a:solidFill>
            <a:prstDash val="solid"/>
          </a:ln>
        </p:spPr>
        <p:txBody>
          <a:bodyPr wrap="square" rtlCol="0" anchor="ctr"/>
          <a:lstStyle/>
          <a:p>
            <a:pPr indent="0" marL="0">
              <a:buNone/>
            </a:pPr>
            <a:endParaRPr lang="en-US" dirty="0"/>
          </a:p>
        </p:txBody>
      </p:sp>
      <p:sp>
        <p:nvSpPr>
          <p:cNvPr id="8" name="Text 3"/>
          <p:cNvSpPr/>
          <p:nvPr/>
        </p:nvSpPr>
        <p:spPr>
          <a:xfrm>
            <a:off x="7815982" y="457200"/>
            <a:ext cx="711932" cy="143490"/>
          </a:xfrm>
          <a:prstGeom prst="rect">
            <a:avLst/>
          </a:prstGeom>
          <a:noFill/>
          <a:ln/>
        </p:spPr>
        <p:txBody>
          <a:bodyPr wrap="none" lIns="0" tIns="0" rIns="0" bIns="0" rtlCol="0" anchor="t"/>
          <a:lstStyle/>
          <a:p>
            <a:pPr algn="l" indent="0" marL="0">
              <a:lnSpc>
                <a:spcPts val="1097"/>
              </a:lnSpc>
              <a:buNone/>
            </a:pPr>
            <a:r>
              <a:rPr lang="en-US" sz="731" dirty="0">
                <a:solidFill>
                  <a:srgbClr val="FFD166"/>
                </a:solidFill>
                <a:latin typeface="Carlito" pitchFamily="34" charset="0"/>
                <a:ea typeface="Carlito" pitchFamily="34" charset="-122"/>
                <a:cs typeface="Carlito" pitchFamily="34" charset="-120"/>
              </a:rPr>
              <a:t>OPTIMIZERS</a:t>
            </a:r>
            <a:endParaRPr lang="en-US" sz="731" dirty="0"/>
          </a:p>
        </p:txBody>
      </p:sp>
      <p:sp>
        <p:nvSpPr>
          <p:cNvPr id="9" name="Text 4"/>
          <p:cNvSpPr/>
          <p:nvPr/>
        </p:nvSpPr>
        <p:spPr>
          <a:xfrm>
            <a:off x="8479631" y="469702"/>
            <a:ext cx="100013" cy="100013"/>
          </a:xfrm>
          <a:prstGeom prst="rect">
            <a:avLst/>
          </a:prstGeom>
          <a:noFill/>
          <a:ln/>
        </p:spPr>
        <p:txBody>
          <a:bodyPr wrap="none" lIns="0" tIns="0" rIns="0" bIns="0" rtlCol="0" anchor="ctr"/>
          <a:lstStyle/>
          <a:p>
            <a:pPr algn="ctr" indent="0" marL="0">
              <a:buNone/>
            </a:pPr>
            <a:r>
              <a:rPr lang="en-US" sz="984" dirty="0">
                <a:solidFill>
                  <a:srgbClr val="FFD166"/>
                </a:solidFill>
                <a:latin typeface="Segoe UI Symbol" pitchFamily="34" charset="0"/>
                <a:ea typeface="Segoe UI Symbol" pitchFamily="34" charset="-122"/>
                <a:cs typeface="Segoe UI Symbol" pitchFamily="34" charset="-120"/>
              </a:rPr>
              <a:t>⚙</a:t>
            </a:r>
            <a:endParaRPr lang="en-US" sz="984" dirty="0"/>
          </a:p>
        </p:txBody>
      </p:sp>
      <p:sp>
        <p:nvSpPr>
          <p:cNvPr id="10" name="Text 5"/>
          <p:cNvSpPr/>
          <p:nvPr/>
        </p:nvSpPr>
        <p:spPr>
          <a:xfrm>
            <a:off x="457200" y="696516"/>
            <a:ext cx="8636000" cy="249723"/>
          </a:xfrm>
          <a:prstGeom prst="rect">
            <a:avLst/>
          </a:prstGeom>
          <a:noFill/>
          <a:ln/>
        </p:spPr>
        <p:txBody>
          <a:bodyPr wrap="none" lIns="0" tIns="0" rIns="0" bIns="0" rtlCol="0" anchor="t">
            <a:normAutofit/>
          </a:bodyPr>
          <a:lstStyle/>
          <a:p>
            <a:pPr algn="l" indent="0" marL="0">
              <a:lnSpc>
                <a:spcPts val="2070"/>
              </a:lnSpc>
              <a:buNone/>
            </a:pPr>
            <a:r>
              <a:rPr lang="en-US" sz="1800" b="1" dirty="0">
                <a:solidFill>
                  <a:srgbClr val="EAF6FF"/>
                </a:solidFill>
                <a:latin typeface="Carlito" pitchFamily="34" charset="0"/>
                <a:ea typeface="Carlito" pitchFamily="34" charset="-122"/>
                <a:cs typeface="Carlito" pitchFamily="34" charset="-120"/>
              </a:rPr>
              <a:t>SGD مقابل Adam</a:t>
            </a:r>
            <a:endParaRPr lang="en-US" sz="1800" dirty="0"/>
          </a:p>
        </p:txBody>
      </p:sp>
      <p:sp>
        <p:nvSpPr>
          <p:cNvPr id="11" name="Text 6"/>
          <p:cNvSpPr/>
          <p:nvPr/>
        </p:nvSpPr>
        <p:spPr>
          <a:xfrm>
            <a:off x="457200" y="973671"/>
            <a:ext cx="8229600" cy="164592"/>
          </a:xfrm>
          <a:prstGeom prst="rect">
            <a:avLst/>
          </a:prstGeom>
          <a:noFill/>
          <a:ln/>
        </p:spPr>
        <p:txBody>
          <a:bodyPr wrap="square" lIns="0" tIns="0" rIns="0" bIns="0" rtlCol="0" anchor="t"/>
          <a:lstStyle/>
          <a:p>
            <a:pPr algn="l" indent="0" marL="0">
              <a:lnSpc>
                <a:spcPts val="1181"/>
              </a:lnSpc>
              <a:buNone/>
            </a:pPr>
            <a:r>
              <a:rPr lang="en-US" sz="800" dirty="0">
                <a:solidFill>
                  <a:srgbClr val="8AA0CC"/>
                </a:solidFill>
                <a:latin typeface="Carlito" pitchFamily="34" charset="0"/>
                <a:ea typeface="Carlito" pitchFamily="34" charset="-122"/>
                <a:cs typeface="Carlito" pitchFamily="34" charset="-120"/>
              </a:rPr>
              <a:t>مقارنة شاملة لأشهر خوارزميتين تحسين تستخدمان في تدريب نماذج الذكاء الاصطناعي</a:t>
            </a:r>
            <a:endParaRPr lang="en-US" sz="800" dirty="0"/>
          </a:p>
        </p:txBody>
      </p:sp>
      <p:pic>
        <p:nvPicPr>
          <p:cNvPr id="12" name="Image 3" descr="preencoded.png">    </p:cNvPr>
          <p:cNvPicPr>
            <a:picLocks noChangeAspect="1"/>
          </p:cNvPicPr>
          <p:nvPr/>
        </p:nvPicPr>
        <p:blipFill>
          <a:blip r:embed="rId4"/>
          <a:stretch>
            <a:fillRect/>
          </a:stretch>
        </p:blipFill>
        <p:spPr>
          <a:xfrm>
            <a:off x="7829550" y="1180840"/>
            <a:ext cx="857250" cy="14288"/>
          </a:xfrm>
          <a:prstGeom prst="rect">
            <a:avLst/>
          </a:prstGeom>
        </p:spPr>
      </p:pic>
      <p:sp>
        <p:nvSpPr>
          <p:cNvPr id="13" name="Text 7"/>
          <p:cNvSpPr/>
          <p:nvPr/>
        </p:nvSpPr>
        <p:spPr>
          <a:xfrm>
            <a:off x="4639866" y="1298711"/>
            <a:ext cx="4043363" cy="2393826"/>
          </a:xfrm>
          <a:prstGeom prst="roundRect">
            <a:avLst>
              <a:gd name="adj" fmla="val 7162"/>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pic>
        <p:nvPicPr>
          <p:cNvPr id="14" name="Image 4" descr="preencoded.png">    </p:cNvPr>
          <p:cNvPicPr>
            <a:picLocks noChangeAspect="1"/>
          </p:cNvPicPr>
          <p:nvPr/>
        </p:nvPicPr>
        <p:blipFill>
          <a:blip r:embed="rId5"/>
          <a:stretch>
            <a:fillRect/>
          </a:stretch>
        </p:blipFill>
        <p:spPr>
          <a:xfrm>
            <a:off x="8136731" y="1430871"/>
            <a:ext cx="400050" cy="400050"/>
          </a:xfrm>
          <a:prstGeom prst="rect">
            <a:avLst/>
          </a:prstGeom>
        </p:spPr>
      </p:pic>
      <p:sp>
        <p:nvSpPr>
          <p:cNvPr id="15" name="Text 8"/>
          <p:cNvSpPr/>
          <p:nvPr/>
        </p:nvSpPr>
        <p:spPr>
          <a:xfrm>
            <a:off x="8140303" y="1434443"/>
            <a:ext cx="392906" cy="392906"/>
          </a:xfrm>
          <a:prstGeom prst="roundRect">
            <a:avLst>
              <a:gd name="adj" fmla="val 38788"/>
            </a:avLst>
          </a:prstGeom>
          <a:noFill/>
          <a:ln w="7144">
            <a:solidFill>
              <a:srgbClr val="00D9FF"/>
            </a:solidFill>
            <a:prstDash val="solid"/>
          </a:ln>
          <a:effectLst>
            <a:outerShdw sx="100000" sy="100000" kx="0" ky="0" algn="bl" rotWithShape="0" blurRad="152400" dist="50800" dir="16200000">
              <a:srgbClr val="00D9FF">
                <a:alpha val="25000"/>
              </a:srgbClr>
            </a:outerShdw>
          </a:effectLst>
        </p:spPr>
        <p:txBody>
          <a:bodyPr wrap="square" rtlCol="0" anchor="ctr"/>
          <a:lstStyle/>
          <a:p>
            <a:pPr indent="0" marL="0">
              <a:buNone/>
            </a:pPr>
            <a:endParaRPr lang="en-US" dirty="0"/>
          </a:p>
        </p:txBody>
      </p:sp>
      <p:sp>
        <p:nvSpPr>
          <p:cNvPr id="16" name="Text 9"/>
          <p:cNvSpPr/>
          <p:nvPr/>
        </p:nvSpPr>
        <p:spPr>
          <a:xfrm>
            <a:off x="8202097" y="1496236"/>
            <a:ext cx="269319" cy="269319"/>
          </a:xfrm>
          <a:prstGeom prst="rect">
            <a:avLst/>
          </a:prstGeom>
          <a:noFill/>
          <a:ln/>
        </p:spPr>
        <p:txBody>
          <a:bodyPr wrap="none" lIns="0" tIns="0" rIns="0" bIns="0" rtlCol="0" anchor="ctr"/>
          <a:lstStyle/>
          <a:p>
            <a:pPr algn="ctr" indent="0" marL="0">
              <a:buNone/>
            </a:pPr>
            <a:r>
              <a:rPr lang="en-US" sz="1828" dirty="0">
                <a:solidFill>
                  <a:srgbClr val="00D9FF"/>
                </a:solidFill>
                <a:latin typeface="Segoe UI Symbol" pitchFamily="34" charset="0"/>
                <a:ea typeface="Segoe UI Symbol" pitchFamily="34" charset="-122"/>
                <a:cs typeface="Segoe UI Symbol" pitchFamily="34" charset="-120"/>
              </a:rPr>
              <a:t>➤</a:t>
            </a:r>
            <a:endParaRPr lang="en-US" sz="1828" dirty="0"/>
          </a:p>
        </p:txBody>
      </p:sp>
      <p:sp>
        <p:nvSpPr>
          <p:cNvPr id="17" name="Text 10"/>
          <p:cNvSpPr/>
          <p:nvPr/>
        </p:nvSpPr>
        <p:spPr>
          <a:xfrm>
            <a:off x="4763453" y="1524883"/>
            <a:ext cx="1019502" cy="212027"/>
          </a:xfrm>
          <a:prstGeom prst="roundRect">
            <a:avLst>
              <a:gd name="adj" fmla="val 4487860"/>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18" name="Text 11"/>
          <p:cNvSpPr/>
          <p:nvPr/>
        </p:nvSpPr>
        <p:spPr>
          <a:xfrm>
            <a:off x="4864894" y="1579104"/>
            <a:ext cx="3257550" cy="139654"/>
          </a:xfrm>
          <a:prstGeom prst="rect">
            <a:avLst/>
          </a:prstGeom>
          <a:noFill/>
          <a:ln/>
        </p:spPr>
        <p:txBody>
          <a:bodyPr wrap="none" lIns="0" tIns="0" rIns="0" bIns="0" rtlCol="0" anchor="t"/>
          <a:lstStyle/>
          <a:p>
            <a:pPr algn="l" indent="0" marL="0">
              <a:lnSpc>
                <a:spcPts val="928"/>
              </a:lnSpc>
              <a:buNone/>
            </a:pPr>
            <a:r>
              <a:rPr lang="en-US" sz="800" dirty="0">
                <a:solidFill>
                  <a:srgbClr val="00D9FF"/>
                </a:solidFill>
                <a:latin typeface="Carlito" pitchFamily="34" charset="0"/>
                <a:ea typeface="Carlito" pitchFamily="34" charset="-122"/>
                <a:cs typeface="Carlito" pitchFamily="34" charset="-120"/>
              </a:rPr>
              <a:t>الأكثر استخداماً</a:t>
            </a:r>
            <a:endParaRPr lang="en-US" sz="800" dirty="0"/>
          </a:p>
        </p:txBody>
      </p:sp>
      <p:sp>
        <p:nvSpPr>
          <p:cNvPr id="19" name="Text 12"/>
          <p:cNvSpPr/>
          <p:nvPr/>
        </p:nvSpPr>
        <p:spPr>
          <a:xfrm>
            <a:off x="5595789" y="1588033"/>
            <a:ext cx="91440" cy="91440"/>
          </a:xfrm>
          <a:prstGeom prst="rect">
            <a:avLst/>
          </a:prstGeom>
          <a:noFill/>
          <a:ln/>
        </p:spPr>
        <p:txBody>
          <a:bodyPr wrap="none" lIns="0" tIns="0" rIns="0" bIns="0" rtlCol="0" anchor="ctr"/>
          <a:lstStyle/>
          <a:p>
            <a:pPr algn="ctr" indent="0" marL="0">
              <a:buNone/>
            </a:pPr>
            <a:r>
              <a:rPr lang="en-US" sz="844" dirty="0">
                <a:solidFill>
                  <a:srgbClr val="FFD166"/>
                </a:solidFill>
                <a:latin typeface="Segoe UI Symbol" pitchFamily="34" charset="0"/>
                <a:ea typeface="Segoe UI Symbol" pitchFamily="34" charset="-122"/>
                <a:cs typeface="Segoe UI Symbol" pitchFamily="34" charset="-120"/>
              </a:rPr>
              <a:t>★</a:t>
            </a:r>
            <a:endParaRPr lang="en-US" sz="844" dirty="0"/>
          </a:p>
        </p:txBody>
      </p:sp>
      <p:sp>
        <p:nvSpPr>
          <p:cNvPr id="20" name="Text 13"/>
          <p:cNvSpPr/>
          <p:nvPr/>
        </p:nvSpPr>
        <p:spPr>
          <a:xfrm>
            <a:off x="4786313" y="1916646"/>
            <a:ext cx="3750469" cy="158306"/>
          </a:xfrm>
          <a:prstGeom prst="rect">
            <a:avLst/>
          </a:prstGeom>
          <a:noFill/>
          <a:ln/>
        </p:spPr>
        <p:txBody>
          <a:bodyPr wrap="square" lIns="0" tIns="0" rIns="0" bIns="0" rtlCol="0" anchor="t">
            <a:normAutofit/>
          </a:bodyPr>
          <a:lstStyle/>
          <a:p>
            <a:pPr algn="r" indent="0" marL="0">
              <a:lnSpc>
                <a:spcPts val="1350"/>
              </a:lnSpc>
              <a:buNone/>
            </a:pPr>
            <a:r>
              <a:rPr lang="en-US" sz="1125" b="1" dirty="0">
                <a:solidFill>
                  <a:srgbClr val="EAF6FF"/>
                </a:solidFill>
                <a:latin typeface="Carlito" pitchFamily="34" charset="0"/>
                <a:ea typeface="Carlito" pitchFamily="34" charset="-122"/>
                <a:cs typeface="Carlito" pitchFamily="34" charset="-120"/>
              </a:rPr>
              <a:t>SGD — Stochastic Gradient Descent</a:t>
            </a:r>
            <a:endParaRPr lang="en-US" sz="1125" dirty="0"/>
          </a:p>
        </p:txBody>
      </p:sp>
      <p:sp>
        <p:nvSpPr>
          <p:cNvPr id="21" name="Text 14"/>
          <p:cNvSpPr/>
          <p:nvPr/>
        </p:nvSpPr>
        <p:spPr>
          <a:xfrm>
            <a:off x="4786313" y="2102383"/>
            <a:ext cx="3860197" cy="173593"/>
          </a:xfrm>
          <a:prstGeom prst="rect">
            <a:avLst/>
          </a:prstGeom>
          <a:noFill/>
          <a:ln/>
        </p:spPr>
        <p:txBody>
          <a:bodyPr wrap="square" lIns="0" tIns="0" rIns="0" bIns="0" rtlCol="0" anchor="t"/>
          <a:lstStyle/>
          <a:p>
            <a:pPr algn="l" indent="0" marL="0">
              <a:lnSpc>
                <a:spcPts val="1266"/>
              </a:lnSpc>
              <a:buNone/>
            </a:pPr>
            <a:r>
              <a:rPr lang="en-US" sz="844" dirty="0">
                <a:solidFill>
                  <a:srgbClr val="00D9FF"/>
                </a:solidFill>
                <a:latin typeface="Carlito" pitchFamily="34" charset="0"/>
                <a:ea typeface="Carlito" pitchFamily="34" charset="-122"/>
                <a:cs typeface="Carlito" pitchFamily="34" charset="-120"/>
              </a:rPr>
              <a:t>الانحدار التدرجي العشوائي</a:t>
            </a:r>
            <a:endParaRPr lang="en-US" sz="844" dirty="0"/>
          </a:p>
        </p:txBody>
      </p:sp>
      <p:sp>
        <p:nvSpPr>
          <p:cNvPr id="22" name="Text 15"/>
          <p:cNvSpPr/>
          <p:nvPr/>
        </p:nvSpPr>
        <p:spPr>
          <a:xfrm>
            <a:off x="4786313" y="2348843"/>
            <a:ext cx="3750469" cy="610791"/>
          </a:xfrm>
          <a:prstGeom prst="rect">
            <a:avLst/>
          </a:prstGeom>
          <a:noFill/>
          <a:ln/>
        </p:spPr>
        <p:txBody>
          <a:bodyPr wrap="square" lIns="0" tIns="0" rIns="0" bIns="0" rtlCol="0" anchor="t"/>
          <a:lstStyle/>
          <a:p>
            <a:pPr algn="l" marL="342900" indent="-342900">
              <a:lnSpc>
                <a:spcPts val="1181"/>
              </a:lnSpc>
              <a:spcAft>
                <a:spcPts val="338"/>
              </a:spcAft>
              <a:buSzPct val="100000"/>
              <a:buChar char="•"/>
            </a:pPr>
            <a:r>
              <a:rPr lang="en-US" sz="800" dirty="0">
                <a:solidFill>
                  <a:srgbClr val="EAF6FF"/>
                </a:solidFill>
                <a:latin typeface="Carlito" pitchFamily="34" charset="0"/>
                <a:ea typeface="Carlito" pitchFamily="34" charset="-122"/>
                <a:cs typeface="Carlito" pitchFamily="34" charset="-120"/>
              </a:rPr>
              <a:t>✓بسيط وسريع</a:t>
            </a:r>
            <a:endParaRPr lang="en-US" sz="800" dirty="0"/>
          </a:p>
          <a:p>
            <a:pPr algn="l" marL="342900" indent="-342900">
              <a:lnSpc>
                <a:spcPts val="1181"/>
              </a:lnSpc>
              <a:spcAft>
                <a:spcPts val="338"/>
              </a:spcAft>
              <a:buSzPct val="100000"/>
              <a:buChar char="•"/>
            </a:pPr>
            <a:r>
              <a:rPr lang="en-US" sz="800" dirty="0">
                <a:solidFill>
                  <a:srgbClr val="EAF6FF"/>
                </a:solidFill>
                <a:latin typeface="Carlito" pitchFamily="34" charset="0"/>
                <a:ea typeface="Carlito" pitchFamily="34" charset="-122"/>
                <a:cs typeface="Carlito" pitchFamily="34" charset="-120"/>
              </a:rPr>
              <a:t>✓ذاكرة أقل</a:t>
            </a:r>
            <a:endParaRPr lang="en-US" sz="800" dirty="0"/>
          </a:p>
          <a:p>
            <a:pPr algn="l" marL="342900" indent="-342900">
              <a:lnSpc>
                <a:spcPts val="1181"/>
              </a:lnSpc>
              <a:spcAft>
                <a:spcPts val="338"/>
              </a:spcAft>
              <a:buSzPct val="100000"/>
              <a:buChar char="•"/>
            </a:pPr>
            <a:r>
              <a:rPr lang="en-US" sz="800" dirty="0">
                <a:solidFill>
                  <a:srgbClr val="EAF6FF"/>
                </a:solidFill>
                <a:latin typeface="Carlito" pitchFamily="34" charset="0"/>
                <a:ea typeface="Carlito" pitchFamily="34" charset="-122"/>
                <a:cs typeface="Carlito" pitchFamily="34" charset="-120"/>
              </a:rPr>
              <a:t>✓يتطلب ضبط دقيق لمعدل التعلم</a:t>
            </a:r>
            <a:endParaRPr lang="en-US" sz="800" dirty="0"/>
          </a:p>
        </p:txBody>
      </p:sp>
      <p:sp>
        <p:nvSpPr>
          <p:cNvPr id="23" name="Text 16"/>
          <p:cNvSpPr/>
          <p:nvPr/>
        </p:nvSpPr>
        <p:spPr>
          <a:xfrm>
            <a:off x="4789884" y="2973921"/>
            <a:ext cx="3743325" cy="307851"/>
          </a:xfrm>
          <a:prstGeom prst="roundRect">
            <a:avLst>
              <a:gd name="adj" fmla="val 37128"/>
            </a:avLst>
          </a:prstGeom>
          <a:solidFill>
            <a:srgbClr val="060A1C"/>
          </a:solidFill>
          <a:ln w="7144">
            <a:solidFill>
              <a:srgbClr val="00D9FF"/>
            </a:solidFill>
            <a:prstDash val="solid"/>
          </a:ln>
        </p:spPr>
        <p:txBody>
          <a:bodyPr wrap="square" rtlCol="0" anchor="ctr"/>
          <a:lstStyle/>
          <a:p>
            <a:pPr indent="0" marL="0">
              <a:buNone/>
            </a:pPr>
            <a:endParaRPr lang="en-US" dirty="0"/>
          </a:p>
        </p:txBody>
      </p:sp>
      <p:sp>
        <p:nvSpPr>
          <p:cNvPr id="24" name="Text 17"/>
          <p:cNvSpPr/>
          <p:nvPr/>
        </p:nvSpPr>
        <p:spPr>
          <a:xfrm>
            <a:off x="4786313" y="2970349"/>
            <a:ext cx="3750469" cy="314995"/>
          </a:xfrm>
          <a:prstGeom prst="rect">
            <a:avLst/>
          </a:prstGeom>
          <a:noFill/>
          <a:ln/>
        </p:spPr>
        <p:txBody>
          <a:bodyPr wrap="none" lIns="0" tIns="0" rIns="0" bIns="0" rtlCol="0" anchor="ctr"/>
          <a:lstStyle/>
          <a:p>
            <a:pPr algn="ctr" indent="0" marL="0">
              <a:lnSpc>
                <a:spcPts val="1243"/>
              </a:lnSpc>
              <a:buNone/>
            </a:pPr>
            <a:r>
              <a:rPr lang="en-US" sz="800" dirty="0">
                <a:solidFill>
                  <a:srgbClr val="B0E0FF"/>
                </a:solidFill>
                <a:latin typeface="Courier New" pitchFamily="34" charset="0"/>
                <a:ea typeface="Courier New" pitchFamily="34" charset="-122"/>
                <a:cs typeface="Courier New" pitchFamily="34" charset="-120"/>
              </a:rPr>
              <a:t>θ ← θ - η · ∇J(θ)</a:t>
            </a:r>
            <a:endParaRPr lang="en-US" sz="800" dirty="0"/>
          </a:p>
        </p:txBody>
      </p:sp>
      <p:sp>
        <p:nvSpPr>
          <p:cNvPr id="25" name="Text 18"/>
          <p:cNvSpPr/>
          <p:nvPr/>
        </p:nvSpPr>
        <p:spPr>
          <a:xfrm>
            <a:off x="6450806" y="3360353"/>
            <a:ext cx="2082403" cy="196453"/>
          </a:xfrm>
          <a:prstGeom prst="roundRect">
            <a:avLst>
              <a:gd name="adj" fmla="val 4843639"/>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26" name="Text 19"/>
          <p:cNvSpPr/>
          <p:nvPr/>
        </p:nvSpPr>
        <p:spPr>
          <a:xfrm>
            <a:off x="6532959" y="3406787"/>
            <a:ext cx="1768078" cy="139654"/>
          </a:xfrm>
          <a:prstGeom prst="rect">
            <a:avLst/>
          </a:prstGeom>
          <a:noFill/>
          <a:ln/>
        </p:spPr>
        <p:txBody>
          <a:bodyPr wrap="square" lIns="78581" tIns="35719" rIns="78581" bIns="35719" rtlCol="0" anchor="t"/>
          <a:lstStyle/>
          <a:p>
            <a:pPr algn="l" indent="0" marL="0">
              <a:lnSpc>
                <a:spcPts val="928"/>
              </a:lnSpc>
              <a:buNone/>
            </a:pPr>
            <a:r>
              <a:rPr lang="en-US" sz="619" dirty="0">
                <a:solidFill>
                  <a:srgbClr val="00D9FF"/>
                </a:solidFill>
                <a:latin typeface="Carlito" pitchFamily="34" charset="0"/>
                <a:ea typeface="Carlito" pitchFamily="34" charset="-122"/>
                <a:cs typeface="Carlito" pitchFamily="34" charset="-120"/>
              </a:rPr>
              <a:t>الأفضل: النماذج الكبيرة، البحث الأكاديمي</a:t>
            </a:r>
            <a:endParaRPr lang="en-US" sz="619" dirty="0"/>
          </a:p>
        </p:txBody>
      </p:sp>
      <p:sp>
        <p:nvSpPr>
          <p:cNvPr id="27" name="Text 20"/>
          <p:cNvSpPr/>
          <p:nvPr/>
        </p:nvSpPr>
        <p:spPr>
          <a:xfrm>
            <a:off x="8358188" y="3412145"/>
            <a:ext cx="92869" cy="92869"/>
          </a:xfrm>
          <a:prstGeom prst="rect">
            <a:avLst/>
          </a:prstGeom>
          <a:noFill/>
          <a:ln/>
        </p:spPr>
        <p:txBody>
          <a:bodyPr wrap="none" lIns="0" tIns="0" rIns="0" bIns="0" rtlCol="0" anchor="ctr"/>
          <a:lstStyle/>
          <a:p>
            <a:pPr algn="ctr" indent="0" marL="0">
              <a:buNone/>
            </a:pPr>
            <a:r>
              <a:rPr lang="en-US" sz="914" dirty="0">
                <a:solidFill>
                  <a:srgbClr val="FFD166"/>
                </a:solidFill>
                <a:latin typeface="Segoe UI Symbol" pitchFamily="34" charset="0"/>
                <a:ea typeface="Segoe UI Symbol" pitchFamily="34" charset="-122"/>
                <a:cs typeface="Segoe UI Symbol" pitchFamily="34" charset="-120"/>
              </a:rPr>
              <a:t>✦</a:t>
            </a:r>
            <a:endParaRPr lang="en-US" sz="914" dirty="0"/>
          </a:p>
        </p:txBody>
      </p:sp>
      <p:pic>
        <p:nvPicPr>
          <p:cNvPr id="28" name="Image 5" descr="preencoded.png">    </p:cNvPr>
          <p:cNvPicPr>
            <a:picLocks noChangeAspect="1"/>
          </p:cNvPicPr>
          <p:nvPr/>
        </p:nvPicPr>
        <p:blipFill>
          <a:blip r:embed="rId6"/>
          <a:stretch>
            <a:fillRect/>
          </a:stretch>
        </p:blipFill>
        <p:spPr>
          <a:xfrm>
            <a:off x="457200" y="1295140"/>
            <a:ext cx="4050506" cy="2400970"/>
          </a:xfrm>
          <a:prstGeom prst="rect">
            <a:avLst/>
          </a:prstGeom>
        </p:spPr>
      </p:pic>
      <p:sp>
        <p:nvSpPr>
          <p:cNvPr id="29" name="Text 21"/>
          <p:cNvSpPr/>
          <p:nvPr/>
        </p:nvSpPr>
        <p:spPr>
          <a:xfrm>
            <a:off x="460772" y="1298711"/>
            <a:ext cx="4043363" cy="2393826"/>
          </a:xfrm>
          <a:prstGeom prst="roundRect">
            <a:avLst>
              <a:gd name="adj" fmla="val 7162"/>
            </a:avLst>
          </a:prstGeom>
          <a:noFill/>
          <a:ln w="7144">
            <a:solidFill>
              <a:srgbClr val="B845FF"/>
            </a:solidFill>
            <a:prstDash val="solid"/>
          </a:ln>
        </p:spPr>
        <p:txBody>
          <a:bodyPr wrap="square" rtlCol="0" anchor="ctr"/>
          <a:lstStyle/>
          <a:p>
            <a:pPr indent="0" marL="0">
              <a:buNone/>
            </a:pPr>
            <a:endParaRPr lang="en-US" dirty="0"/>
          </a:p>
        </p:txBody>
      </p:sp>
      <p:pic>
        <p:nvPicPr>
          <p:cNvPr id="30" name="Image 6" descr="preencoded.png">    </p:cNvPr>
          <p:cNvPicPr>
            <a:picLocks noChangeAspect="1"/>
          </p:cNvPicPr>
          <p:nvPr/>
        </p:nvPicPr>
        <p:blipFill>
          <a:blip r:embed="rId7"/>
          <a:stretch>
            <a:fillRect/>
          </a:stretch>
        </p:blipFill>
        <p:spPr>
          <a:xfrm>
            <a:off x="3957638" y="1430871"/>
            <a:ext cx="400050" cy="400050"/>
          </a:xfrm>
          <a:prstGeom prst="rect">
            <a:avLst/>
          </a:prstGeom>
        </p:spPr>
      </p:pic>
      <p:sp>
        <p:nvSpPr>
          <p:cNvPr id="31" name="Text 22"/>
          <p:cNvSpPr/>
          <p:nvPr/>
        </p:nvSpPr>
        <p:spPr>
          <a:xfrm>
            <a:off x="3961209" y="1434443"/>
            <a:ext cx="392906" cy="392906"/>
          </a:xfrm>
          <a:prstGeom prst="roundRect">
            <a:avLst>
              <a:gd name="adj" fmla="val 38788"/>
            </a:avLst>
          </a:prstGeom>
          <a:noFill/>
          <a:ln w="7144">
            <a:solidFill>
              <a:srgbClr val="B845FF"/>
            </a:solidFill>
            <a:prstDash val="solid"/>
          </a:ln>
          <a:effectLst>
            <a:outerShdw sx="100000" sy="100000" kx="0" ky="0" algn="bl" rotWithShape="0" blurRad="152400" dist="50800" dir="16200000">
              <a:srgbClr val="B845FF">
                <a:alpha val="25000"/>
              </a:srgbClr>
            </a:outerShdw>
          </a:effectLst>
        </p:spPr>
        <p:txBody>
          <a:bodyPr wrap="square" rtlCol="0" anchor="ctr"/>
          <a:lstStyle/>
          <a:p>
            <a:pPr indent="0" marL="0">
              <a:buNone/>
            </a:pPr>
            <a:endParaRPr lang="en-US" dirty="0"/>
          </a:p>
        </p:txBody>
      </p:sp>
      <p:sp>
        <p:nvSpPr>
          <p:cNvPr id="32" name="Text 23"/>
          <p:cNvSpPr/>
          <p:nvPr/>
        </p:nvSpPr>
        <p:spPr>
          <a:xfrm>
            <a:off x="4023003" y="1496236"/>
            <a:ext cx="269319" cy="269319"/>
          </a:xfrm>
          <a:prstGeom prst="rect">
            <a:avLst/>
          </a:prstGeom>
          <a:noFill/>
          <a:ln/>
        </p:spPr>
        <p:txBody>
          <a:bodyPr wrap="none" lIns="0" tIns="0" rIns="0" bIns="0" rtlCol="0" anchor="ctr"/>
          <a:lstStyle/>
          <a:p>
            <a:pPr algn="ctr" indent="0" marL="0">
              <a:buNone/>
            </a:pPr>
            <a:r>
              <a:rPr lang="en-US" sz="1828" dirty="0">
                <a:solidFill>
                  <a:srgbClr val="B845FF"/>
                </a:solidFill>
                <a:latin typeface="Segoe UI Symbol" pitchFamily="34" charset="0"/>
                <a:ea typeface="Segoe UI Symbol" pitchFamily="34" charset="-122"/>
                <a:cs typeface="Segoe UI Symbol" pitchFamily="34" charset="-120"/>
              </a:rPr>
              <a:t>⚡</a:t>
            </a:r>
            <a:endParaRPr lang="en-US" sz="1828" dirty="0"/>
          </a:p>
        </p:txBody>
      </p:sp>
      <p:sp>
        <p:nvSpPr>
          <p:cNvPr id="33" name="Text 24"/>
          <p:cNvSpPr/>
          <p:nvPr/>
        </p:nvSpPr>
        <p:spPr>
          <a:xfrm>
            <a:off x="584359" y="1524883"/>
            <a:ext cx="769471" cy="212027"/>
          </a:xfrm>
          <a:prstGeom prst="roundRect">
            <a:avLst>
              <a:gd name="adj" fmla="val 4487860"/>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34" name="Text 25"/>
          <p:cNvSpPr/>
          <p:nvPr/>
        </p:nvSpPr>
        <p:spPr>
          <a:xfrm>
            <a:off x="685800" y="1579104"/>
            <a:ext cx="3257550" cy="139654"/>
          </a:xfrm>
          <a:prstGeom prst="rect">
            <a:avLst/>
          </a:prstGeom>
          <a:noFill/>
          <a:ln/>
        </p:spPr>
        <p:txBody>
          <a:bodyPr wrap="none" lIns="0" tIns="0" rIns="0" bIns="0" rtlCol="0" anchor="t"/>
          <a:lstStyle/>
          <a:p>
            <a:pPr algn="l" indent="0" marL="0">
              <a:lnSpc>
                <a:spcPts val="928"/>
              </a:lnSpc>
              <a:buNone/>
            </a:pPr>
            <a:r>
              <a:rPr lang="en-US" sz="800" dirty="0">
                <a:solidFill>
                  <a:srgbClr val="B845FF"/>
                </a:solidFill>
                <a:latin typeface="Carlito" pitchFamily="34" charset="0"/>
                <a:ea typeface="Carlito" pitchFamily="34" charset="-122"/>
                <a:cs typeface="Carlito" pitchFamily="34" charset="-120"/>
              </a:rPr>
              <a:t>الأكثر قوة</a:t>
            </a:r>
            <a:endParaRPr lang="en-US" sz="800" dirty="0"/>
          </a:p>
        </p:txBody>
      </p:sp>
      <p:sp>
        <p:nvSpPr>
          <p:cNvPr id="35" name="Text 26"/>
          <p:cNvSpPr/>
          <p:nvPr/>
        </p:nvSpPr>
        <p:spPr>
          <a:xfrm>
            <a:off x="1166664" y="1588033"/>
            <a:ext cx="91440" cy="91440"/>
          </a:xfrm>
          <a:prstGeom prst="rect">
            <a:avLst/>
          </a:prstGeom>
          <a:noFill/>
          <a:ln/>
        </p:spPr>
        <p:txBody>
          <a:bodyPr wrap="none" lIns="0" tIns="0" rIns="0" bIns="0" rtlCol="0" anchor="ctr"/>
          <a:lstStyle/>
          <a:p>
            <a:pPr algn="ctr" indent="0" marL="0">
              <a:buNone/>
            </a:pPr>
            <a:r>
              <a:rPr lang="en-US" sz="844" dirty="0">
                <a:solidFill>
                  <a:srgbClr val="FFD166"/>
                </a:solidFill>
                <a:latin typeface="Segoe UI Symbol" pitchFamily="34" charset="0"/>
                <a:ea typeface="Segoe UI Symbol" pitchFamily="34" charset="-122"/>
                <a:cs typeface="Segoe UI Symbol" pitchFamily="34" charset="-120"/>
              </a:rPr>
              <a:t>⚡</a:t>
            </a:r>
            <a:endParaRPr lang="en-US" sz="844" dirty="0"/>
          </a:p>
        </p:txBody>
      </p:sp>
      <p:sp>
        <p:nvSpPr>
          <p:cNvPr id="36" name="Text 27"/>
          <p:cNvSpPr/>
          <p:nvPr/>
        </p:nvSpPr>
        <p:spPr>
          <a:xfrm>
            <a:off x="607219" y="1916646"/>
            <a:ext cx="3750469" cy="158306"/>
          </a:xfrm>
          <a:prstGeom prst="rect">
            <a:avLst/>
          </a:prstGeom>
          <a:noFill/>
          <a:ln/>
        </p:spPr>
        <p:txBody>
          <a:bodyPr wrap="square" lIns="0" tIns="0" rIns="0" bIns="0" rtlCol="0" anchor="t">
            <a:normAutofit/>
          </a:bodyPr>
          <a:lstStyle/>
          <a:p>
            <a:pPr algn="r" indent="0" marL="0">
              <a:lnSpc>
                <a:spcPts val="1350"/>
              </a:lnSpc>
              <a:buNone/>
            </a:pPr>
            <a:r>
              <a:rPr lang="en-US" sz="1125" b="1" dirty="0">
                <a:solidFill>
                  <a:srgbClr val="EAF6FF"/>
                </a:solidFill>
                <a:latin typeface="Carlito" pitchFamily="34" charset="0"/>
                <a:ea typeface="Carlito" pitchFamily="34" charset="-122"/>
                <a:cs typeface="Carlito" pitchFamily="34" charset="-120"/>
              </a:rPr>
              <a:t>Adam — Adaptive Moment Estimation</a:t>
            </a:r>
            <a:endParaRPr lang="en-US" sz="1125" dirty="0"/>
          </a:p>
        </p:txBody>
      </p:sp>
      <p:sp>
        <p:nvSpPr>
          <p:cNvPr id="37" name="Text 28"/>
          <p:cNvSpPr/>
          <p:nvPr/>
        </p:nvSpPr>
        <p:spPr>
          <a:xfrm>
            <a:off x="607219" y="2102383"/>
            <a:ext cx="3750469" cy="173593"/>
          </a:xfrm>
          <a:prstGeom prst="rect">
            <a:avLst/>
          </a:prstGeom>
          <a:noFill/>
          <a:ln/>
        </p:spPr>
        <p:txBody>
          <a:bodyPr wrap="none" lIns="0" tIns="0" rIns="0" bIns="0" rtlCol="0" anchor="t"/>
          <a:lstStyle/>
          <a:p>
            <a:pPr algn="l" indent="0" marL="0">
              <a:lnSpc>
                <a:spcPts val="1266"/>
              </a:lnSpc>
              <a:buNone/>
            </a:pPr>
            <a:r>
              <a:rPr lang="en-US" sz="844" dirty="0">
                <a:solidFill>
                  <a:srgbClr val="B845FF"/>
                </a:solidFill>
                <a:latin typeface="Carlito" pitchFamily="34" charset="0"/>
                <a:ea typeface="Carlito" pitchFamily="34" charset="-122"/>
                <a:cs typeface="Carlito" pitchFamily="34" charset="-120"/>
              </a:rPr>
              <a:t>تقدير العزم التكيفي</a:t>
            </a:r>
            <a:endParaRPr lang="en-US" sz="844" dirty="0"/>
          </a:p>
        </p:txBody>
      </p:sp>
      <p:sp>
        <p:nvSpPr>
          <p:cNvPr id="38" name="Text 29"/>
          <p:cNvSpPr/>
          <p:nvPr/>
        </p:nvSpPr>
        <p:spPr>
          <a:xfrm>
            <a:off x="607219" y="2348843"/>
            <a:ext cx="3750469" cy="610791"/>
          </a:xfrm>
          <a:prstGeom prst="rect">
            <a:avLst/>
          </a:prstGeom>
          <a:noFill/>
          <a:ln/>
        </p:spPr>
        <p:txBody>
          <a:bodyPr wrap="square" lIns="0" tIns="0" rIns="0" bIns="0" rtlCol="0" anchor="t"/>
          <a:lstStyle/>
          <a:p>
            <a:pPr algn="l" marL="342900" indent="-342900">
              <a:lnSpc>
                <a:spcPts val="1181"/>
              </a:lnSpc>
              <a:spcAft>
                <a:spcPts val="338"/>
              </a:spcAft>
              <a:buSzPct val="100000"/>
              <a:buChar char="•"/>
            </a:pPr>
            <a:r>
              <a:rPr lang="en-US" sz="800" dirty="0">
                <a:solidFill>
                  <a:srgbClr val="EAF6FF"/>
                </a:solidFill>
                <a:latin typeface="Carlito" pitchFamily="34" charset="0"/>
                <a:ea typeface="Carlito" pitchFamily="34" charset="-122"/>
                <a:cs typeface="Carlito" pitchFamily="34" charset="-120"/>
              </a:rPr>
              <a:t>✓يتكيف تلقائياً</a:t>
            </a:r>
            <a:endParaRPr lang="en-US" sz="800" dirty="0"/>
          </a:p>
          <a:p>
            <a:pPr algn="l" marL="342900" indent="-342900">
              <a:lnSpc>
                <a:spcPts val="1181"/>
              </a:lnSpc>
              <a:spcAft>
                <a:spcPts val="338"/>
              </a:spcAft>
              <a:buSzPct val="100000"/>
              <a:buChar char="•"/>
            </a:pPr>
            <a:r>
              <a:rPr lang="en-US" sz="800" dirty="0">
                <a:solidFill>
                  <a:srgbClr val="EAF6FF"/>
                </a:solidFill>
                <a:latin typeface="Carlito" pitchFamily="34" charset="0"/>
                <a:ea typeface="Carlito" pitchFamily="34" charset="-122"/>
                <a:cs typeface="Carlito" pitchFamily="34" charset="-120"/>
              </a:rPr>
              <a:t>✓يتقارب أسرع</a:t>
            </a:r>
            <a:endParaRPr lang="en-US" sz="800" dirty="0"/>
          </a:p>
          <a:p>
            <a:pPr algn="l" marL="342900" indent="-342900">
              <a:lnSpc>
                <a:spcPts val="1181"/>
              </a:lnSpc>
              <a:spcAft>
                <a:spcPts val="338"/>
              </a:spcAft>
              <a:buSzPct val="100000"/>
              <a:buChar char="•"/>
            </a:pPr>
            <a:r>
              <a:rPr lang="en-US" sz="800" dirty="0">
                <a:solidFill>
                  <a:srgbClr val="EAF6FF"/>
                </a:solidFill>
                <a:latin typeface="Carlito" pitchFamily="34" charset="0"/>
                <a:ea typeface="Carlito" pitchFamily="34" charset="-122"/>
                <a:cs typeface="Carlito" pitchFamily="34" charset="-120"/>
              </a:rPr>
              <a:t>✓مزج بين Momentum وRMSProp</a:t>
            </a:r>
            <a:endParaRPr lang="en-US" sz="800" dirty="0"/>
          </a:p>
        </p:txBody>
      </p:sp>
      <p:sp>
        <p:nvSpPr>
          <p:cNvPr id="39" name="Text 30"/>
          <p:cNvSpPr/>
          <p:nvPr/>
        </p:nvSpPr>
        <p:spPr>
          <a:xfrm>
            <a:off x="610791" y="2973921"/>
            <a:ext cx="3743325" cy="307851"/>
          </a:xfrm>
          <a:prstGeom prst="roundRect">
            <a:avLst>
              <a:gd name="adj" fmla="val 37128"/>
            </a:avLst>
          </a:prstGeom>
          <a:solidFill>
            <a:srgbClr val="060A1C"/>
          </a:solidFill>
          <a:ln w="7144">
            <a:solidFill>
              <a:srgbClr val="B845FF"/>
            </a:solidFill>
            <a:prstDash val="solid"/>
          </a:ln>
        </p:spPr>
        <p:txBody>
          <a:bodyPr wrap="square" rtlCol="0" anchor="ctr"/>
          <a:lstStyle/>
          <a:p>
            <a:pPr indent="0" marL="0">
              <a:buNone/>
            </a:pPr>
            <a:endParaRPr lang="en-US" dirty="0"/>
          </a:p>
        </p:txBody>
      </p:sp>
      <p:sp>
        <p:nvSpPr>
          <p:cNvPr id="40" name="Text 31"/>
          <p:cNvSpPr/>
          <p:nvPr/>
        </p:nvSpPr>
        <p:spPr>
          <a:xfrm>
            <a:off x="607219" y="2970349"/>
            <a:ext cx="3750469" cy="314995"/>
          </a:xfrm>
          <a:prstGeom prst="rect">
            <a:avLst/>
          </a:prstGeom>
          <a:noFill/>
          <a:ln/>
        </p:spPr>
        <p:txBody>
          <a:bodyPr wrap="none" lIns="0" tIns="0" rIns="0" bIns="0" rtlCol="0" anchor="ctr"/>
          <a:lstStyle/>
          <a:p>
            <a:pPr algn="ctr" indent="0" marL="0">
              <a:lnSpc>
                <a:spcPts val="1243"/>
              </a:lnSpc>
              <a:buNone/>
            </a:pPr>
            <a:r>
              <a:rPr lang="en-US" sz="800" dirty="0">
                <a:solidFill>
                  <a:srgbClr val="B0E0FF"/>
                </a:solidFill>
                <a:latin typeface="Liberation Sans Narrow" pitchFamily="34" charset="0"/>
                <a:ea typeface="Liberation Sans Narrow" pitchFamily="34" charset="-122"/>
                <a:cs typeface="Liberation Sans Narrow" pitchFamily="34" charset="-120"/>
              </a:rPr>
              <a:t>m_t = β₁·m + (1-β₁)·g</a:t>
            </a:r>
            <a:endParaRPr lang="en-US" sz="800" dirty="0"/>
          </a:p>
        </p:txBody>
      </p:sp>
      <p:sp>
        <p:nvSpPr>
          <p:cNvPr id="41" name="Text 32"/>
          <p:cNvSpPr/>
          <p:nvPr/>
        </p:nvSpPr>
        <p:spPr>
          <a:xfrm>
            <a:off x="2140223" y="3360353"/>
            <a:ext cx="2213893" cy="196453"/>
          </a:xfrm>
          <a:prstGeom prst="roundRect">
            <a:avLst>
              <a:gd name="adj" fmla="val 4843639"/>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42" name="Text 33"/>
          <p:cNvSpPr/>
          <p:nvPr/>
        </p:nvSpPr>
        <p:spPr>
          <a:xfrm>
            <a:off x="2222376" y="3406787"/>
            <a:ext cx="1899568" cy="139654"/>
          </a:xfrm>
          <a:prstGeom prst="rect">
            <a:avLst/>
          </a:prstGeom>
          <a:noFill/>
          <a:ln/>
        </p:spPr>
        <p:txBody>
          <a:bodyPr wrap="square" lIns="78581" tIns="35719" rIns="78581" bIns="35719" rtlCol="0" anchor="t"/>
          <a:lstStyle/>
          <a:p>
            <a:pPr algn="l" indent="0" marL="0">
              <a:lnSpc>
                <a:spcPts val="928"/>
              </a:lnSpc>
              <a:buNone/>
            </a:pPr>
            <a:r>
              <a:rPr lang="en-US" sz="619" dirty="0">
                <a:solidFill>
                  <a:srgbClr val="B845FF"/>
                </a:solidFill>
                <a:latin typeface="Carlito" pitchFamily="34" charset="0"/>
                <a:ea typeface="Carlito" pitchFamily="34" charset="-122"/>
                <a:cs typeface="Carlito" pitchFamily="34" charset="-120"/>
              </a:rPr>
              <a:t>الأفضل: الشبكات العميقة، NLP، Transfer Learning</a:t>
            </a:r>
            <a:endParaRPr lang="en-US" sz="619" dirty="0"/>
          </a:p>
        </p:txBody>
      </p:sp>
      <p:sp>
        <p:nvSpPr>
          <p:cNvPr id="43" name="Text 34"/>
          <p:cNvSpPr/>
          <p:nvPr/>
        </p:nvSpPr>
        <p:spPr>
          <a:xfrm>
            <a:off x="4179094" y="3412145"/>
            <a:ext cx="92869" cy="92869"/>
          </a:xfrm>
          <a:prstGeom prst="rect">
            <a:avLst/>
          </a:prstGeom>
          <a:noFill/>
          <a:ln/>
        </p:spPr>
        <p:txBody>
          <a:bodyPr wrap="none" lIns="0" tIns="0" rIns="0" bIns="0" rtlCol="0" anchor="ctr"/>
          <a:lstStyle/>
          <a:p>
            <a:pPr algn="ctr" indent="0" marL="0">
              <a:buNone/>
            </a:pPr>
            <a:r>
              <a:rPr lang="en-US" sz="914" dirty="0">
                <a:solidFill>
                  <a:srgbClr val="FFD166"/>
                </a:solidFill>
                <a:latin typeface="Segoe UI Symbol" pitchFamily="34" charset="0"/>
                <a:ea typeface="Segoe UI Symbol" pitchFamily="34" charset="-122"/>
                <a:cs typeface="Segoe UI Symbol" pitchFamily="34" charset="-120"/>
              </a:rPr>
              <a:t>✦</a:t>
            </a:r>
            <a:endParaRPr lang="en-US" sz="914" dirty="0"/>
          </a:p>
        </p:txBody>
      </p:sp>
      <p:sp>
        <p:nvSpPr>
          <p:cNvPr id="44" name="Text 35"/>
          <p:cNvSpPr/>
          <p:nvPr/>
        </p:nvSpPr>
        <p:spPr>
          <a:xfrm>
            <a:off x="460772" y="3799694"/>
            <a:ext cx="8222456" cy="940184"/>
          </a:xfrm>
          <a:prstGeom prst="roundRect">
            <a:avLst>
              <a:gd name="adj" fmla="val 18236"/>
            </a:avLst>
          </a:prstGeom>
          <a:solidFill>
            <a:srgbClr val="0B0F2A">
              <a:alpha val="70000"/>
            </a:srgbClr>
          </a:solidFill>
          <a:ln w="7144">
            <a:solidFill>
              <a:srgbClr val="00D9FF"/>
            </a:solidFill>
            <a:prstDash val="solid"/>
          </a:ln>
        </p:spPr>
        <p:txBody>
          <a:bodyPr wrap="square" rtlCol="0" anchor="ctr"/>
          <a:lstStyle/>
          <a:p>
            <a:pPr indent="0" marL="0">
              <a:buNone/>
            </a:pPr>
            <a:endParaRPr lang="en-US" dirty="0"/>
          </a:p>
        </p:txBody>
      </p:sp>
      <p:sp>
        <p:nvSpPr>
          <p:cNvPr id="45" name="Text 36"/>
          <p:cNvSpPr/>
          <p:nvPr/>
        </p:nvSpPr>
        <p:spPr>
          <a:xfrm>
            <a:off x="8451056" y="3892562"/>
            <a:ext cx="114300" cy="114300"/>
          </a:xfrm>
          <a:prstGeom prst="rect">
            <a:avLst/>
          </a:prstGeom>
          <a:noFill/>
          <a:ln/>
        </p:spPr>
        <p:txBody>
          <a:bodyPr wrap="none" lIns="0" tIns="0" rIns="0" bIns="0" rtlCol="0" anchor="ctr"/>
          <a:lstStyle/>
          <a:p>
            <a:pPr algn="ctr" indent="0" marL="0">
              <a:buNone/>
            </a:pPr>
            <a:r>
              <a:rPr lang="en-US" sz="1125" dirty="0">
                <a:solidFill>
                  <a:srgbClr val="FFD166"/>
                </a:solidFill>
                <a:latin typeface="Segoe UI Symbol" pitchFamily="34" charset="0"/>
                <a:ea typeface="Segoe UI Symbol" pitchFamily="34" charset="-122"/>
                <a:cs typeface="Segoe UI Symbol" pitchFamily="34" charset="-120"/>
              </a:rPr>
              <a:t>▦</a:t>
            </a:r>
            <a:endParaRPr lang="en-US" sz="1125" dirty="0"/>
          </a:p>
        </p:txBody>
      </p:sp>
      <p:sp>
        <p:nvSpPr>
          <p:cNvPr id="46" name="Text 37"/>
          <p:cNvSpPr/>
          <p:nvPr/>
        </p:nvSpPr>
        <p:spPr>
          <a:xfrm>
            <a:off x="7019404" y="3874703"/>
            <a:ext cx="1484462" cy="164592"/>
          </a:xfrm>
          <a:prstGeom prst="rect">
            <a:avLst/>
          </a:prstGeom>
          <a:noFill/>
          <a:ln/>
        </p:spPr>
        <p:txBody>
          <a:bodyPr wrap="none" lIns="0" tIns="0" rIns="0" bIns="0" rtlCol="0" anchor="t"/>
          <a:lstStyle/>
          <a:p>
            <a:pPr algn="l" indent="0" marL="0">
              <a:lnSpc>
                <a:spcPts val="1181"/>
              </a:lnSpc>
              <a:buNone/>
            </a:pPr>
            <a:r>
              <a:rPr lang="en-US" sz="800" b="1" dirty="0">
                <a:solidFill>
                  <a:srgbClr val="EAF6FF"/>
                </a:solidFill>
                <a:latin typeface="Carlito" pitchFamily="34" charset="0"/>
                <a:ea typeface="Carlito" pitchFamily="34" charset="-122"/>
                <a:cs typeface="Carlito" pitchFamily="34" charset="-120"/>
              </a:rPr>
              <a:t>المعلمات الفائقة الرئيسية</a:t>
            </a:r>
            <a:endParaRPr lang="en-US" sz="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78644" y="4067584"/>
          <a:ext cx="7986713" cy="914400"/>
        </p:xfrm>
        <a:graphic>
          <a:graphicData uri="http://schemas.openxmlformats.org/drawingml/2006/table">
            <a:tbl>
              <a:tblPr/>
              <a:tblGrid>
                <a:gridCol w="2169802"/>
                <a:gridCol w="2782602"/>
                <a:gridCol w="3034308"/>
              </a:tblGrid>
              <a:tr h="0">
                <a:tc>
                  <a:txBody>
                    <a:bodyPr/>
                    <a:lstStyle/>
                    <a:p>
                      <a:pPr algn="r" indent="0" marL="0">
                        <a:buNone/>
                      </a:pPr>
                      <a:r>
                        <a:rPr lang="en-US" sz="800" b="1" dirty="0">
                          <a:solidFill>
                            <a:srgbClr val="00D9FF"/>
                          </a:solidFill>
                          <a:latin typeface="Carlito" pitchFamily="34" charset="0"/>
                          <a:ea typeface="Carlito" pitchFamily="34" charset="-122"/>
                          <a:cs typeface="Carlito" pitchFamily="34" charset="-120"/>
                        </a:rPr>
                        <a:t>المعلمة</a:t>
                      </a:r>
                      <a:endParaRPr lang="en-US" sz="800" dirty="0">
                        <a:latin typeface="Carlito" charset="0"/>
                        <a:ea typeface="Carlito" charset="0"/>
                        <a:cs typeface="Carlito" charset="0"/>
                      </a:endParaRPr>
                    </a:p>
                  </a:txBody>
                  <a:tcPr marL="35719" marR="57150" marT="57150" marB="35719" anchor="ctr">
                    <a:lnL w="6350" cap="flat" cmpd="sng" algn="ctr">
                      <a:solidFill>
                        <a:srgbClr val="00D9FF"/>
                      </a:solidFill>
                      <a:prstDash val="solid"/>
                      <a:round/>
                      <a:headEnd type="none" w="med" len="med"/>
                      <a:tailEnd type="none" w="med" len="med"/>
                    </a:lnL>
                    <a:lnR w="6350" cap="flat" cmpd="sng" algn="ctr">
                      <a:solidFill>
                        <a:srgbClr val="00D9FF"/>
                      </a:solidFill>
                      <a:prstDash val="solid"/>
                      <a:round/>
                      <a:headEnd type="none" w="med" len="med"/>
                      <a:tailEnd type="none" w="med" len="med"/>
                    </a:lnR>
                    <a:lnT w="6350" cap="flat" cmpd="sng" algn="ctr">
                      <a:solidFill>
                        <a:srgbClr val="00D9FF"/>
                      </a:solidFill>
                      <a:prstDash val="solid"/>
                      <a:round/>
                      <a:headEnd type="none" w="med" len="med"/>
                      <a:tailEnd type="none" w="med" len="med"/>
                    </a:lnT>
                    <a:lnB w="6350" cap="flat" cmpd="sng" algn="ctr">
                      <a:solidFill>
                        <a:srgbClr val="00D9FF"/>
                      </a:solidFill>
                      <a:prstDash val="solid"/>
                      <a:round/>
                      <a:headEnd type="none" w="med" len="med"/>
                      <a:tailEnd type="none" w="med" len="med"/>
                    </a:lnB>
                  </a:tcPr>
                </a:tc>
                <a:tc>
                  <a:txBody>
                    <a:bodyPr/>
                    <a:lstStyle/>
                    <a:p>
                      <a:pPr algn="r" indent="0" marL="0">
                        <a:buNone/>
                      </a:pPr>
                      <a:r>
                        <a:rPr lang="en-US" sz="800" b="1" dirty="0">
                          <a:solidFill>
                            <a:srgbClr val="00D9FF"/>
                          </a:solidFill>
                          <a:latin typeface="Carlito" pitchFamily="34" charset="0"/>
                          <a:ea typeface="Carlito" pitchFamily="34" charset="-122"/>
                          <a:cs typeface="Carlito" pitchFamily="34" charset="-120"/>
                        </a:rPr>
                        <a:t>الوصف</a:t>
                      </a:r>
                      <a:endParaRPr lang="en-US" sz="800" dirty="0">
                        <a:latin typeface="Carlito" charset="0"/>
                        <a:ea typeface="Carlito" charset="0"/>
                        <a:cs typeface="Carlito" charset="0"/>
                      </a:endParaRPr>
                    </a:p>
                  </a:txBody>
                  <a:tcPr marL="35719" marR="57150" marT="57150" marB="35719" anchor="ctr">
                    <a:lnL w="6350" cap="flat" cmpd="sng" algn="ctr">
                      <a:solidFill>
                        <a:srgbClr val="00D9FF"/>
                      </a:solidFill>
                      <a:prstDash val="solid"/>
                      <a:round/>
                      <a:headEnd type="none" w="med" len="med"/>
                      <a:tailEnd type="none" w="med" len="med"/>
                    </a:lnL>
                    <a:lnR w="6350" cap="flat" cmpd="sng" algn="ctr">
                      <a:solidFill>
                        <a:srgbClr val="00D9FF"/>
                      </a:solidFill>
                      <a:prstDash val="solid"/>
                      <a:round/>
                      <a:headEnd type="none" w="med" len="med"/>
                      <a:tailEnd type="none" w="med" len="med"/>
                    </a:lnR>
                    <a:lnT w="6350" cap="flat" cmpd="sng" algn="ctr">
                      <a:solidFill>
                        <a:srgbClr val="00D9FF"/>
                      </a:solidFill>
                      <a:prstDash val="solid"/>
                      <a:round/>
                      <a:headEnd type="none" w="med" len="med"/>
                      <a:tailEnd type="none" w="med" len="med"/>
                    </a:lnT>
                    <a:lnB w="6350" cap="flat" cmpd="sng" algn="ctr">
                      <a:solidFill>
                        <a:srgbClr val="00D9FF"/>
                      </a:solidFill>
                      <a:prstDash val="solid"/>
                      <a:round/>
                      <a:headEnd type="none" w="med" len="med"/>
                      <a:tailEnd type="none" w="med" len="med"/>
                    </a:lnB>
                  </a:tcPr>
                </a:tc>
                <a:tc>
                  <a:txBody>
                    <a:bodyPr/>
                    <a:lstStyle/>
                    <a:p>
                      <a:pPr algn="r" indent="0" marL="0">
                        <a:buNone/>
                      </a:pPr>
                      <a:r>
                        <a:rPr lang="en-US" sz="800" b="1" dirty="0">
                          <a:solidFill>
                            <a:srgbClr val="00D9FF"/>
                          </a:solidFill>
                          <a:latin typeface="Carlito" pitchFamily="34" charset="0"/>
                          <a:ea typeface="Carlito" pitchFamily="34" charset="-122"/>
                          <a:cs typeface="Carlito" pitchFamily="34" charset="-120"/>
                        </a:rPr>
                        <a:t>القيمة الموصى بها</a:t>
                      </a:r>
                      <a:endParaRPr lang="en-US" sz="800" dirty="0">
                        <a:latin typeface="Carlito" charset="0"/>
                        <a:ea typeface="Carlito" charset="0"/>
                        <a:cs typeface="Carlito" charset="0"/>
                      </a:endParaRPr>
                    </a:p>
                  </a:txBody>
                  <a:tcPr marL="35719" marR="57150" marT="57150" marB="35719" anchor="ctr">
                    <a:lnL w="6350" cap="flat" cmpd="sng" algn="ctr">
                      <a:solidFill>
                        <a:srgbClr val="00D9FF"/>
                      </a:solidFill>
                      <a:prstDash val="solid"/>
                      <a:round/>
                      <a:headEnd type="none" w="med" len="med"/>
                      <a:tailEnd type="none" w="med" len="med"/>
                    </a:lnL>
                    <a:lnR w="6350" cap="flat" cmpd="sng" algn="ctr">
                      <a:solidFill>
                        <a:srgbClr val="00D9FF"/>
                      </a:solidFill>
                      <a:prstDash val="solid"/>
                      <a:round/>
                      <a:headEnd type="none" w="med" len="med"/>
                      <a:tailEnd type="none" w="med" len="med"/>
                    </a:lnR>
                    <a:lnT w="6350" cap="flat" cmpd="sng" algn="ctr">
                      <a:solidFill>
                        <a:srgbClr val="00D9FF"/>
                      </a:solidFill>
                      <a:prstDash val="solid"/>
                      <a:round/>
                      <a:headEnd type="none" w="med" len="med"/>
                      <a:tailEnd type="none" w="med" len="med"/>
                    </a:lnT>
                    <a:lnB w="6350" cap="flat" cmpd="sng" algn="ctr">
                      <a:solidFill>
                        <a:srgbClr val="00D9FF"/>
                      </a:solidFill>
                      <a:prstDash val="solid"/>
                      <a:round/>
                      <a:headEnd type="none" w="med" len="med"/>
                      <a:tailEnd type="none" w="med" len="med"/>
                    </a:lnB>
                  </a:tcPr>
                </a:tc>
              </a:tr>
              <a:tr h="0">
                <a:tc>
                  <a:txBody>
                    <a:bodyPr/>
                    <a:lstStyle/>
                    <a:p>
                      <a:pPr algn="l" indent="0" marL="0">
                        <a:buNone/>
                      </a:pPr>
                      <a:r>
                        <a:rPr lang="en-US" sz="800" dirty="0">
                          <a:solidFill>
                            <a:srgbClr val="EAF6FF"/>
                          </a:solidFill>
                          <a:latin typeface="Courier New" pitchFamily="34" charset="0"/>
                          <a:ea typeface="Courier New" pitchFamily="34" charset="-122"/>
                          <a:cs typeface="Courier New" pitchFamily="34" charset="-120"/>
                        </a:rPr>
                        <a:t>Learning Rate (η)</a:t>
                      </a:r>
                      <a:endParaRPr lang="en-US" sz="800" dirty="0">
                        <a:latin typeface="Courier New" charset="0"/>
                        <a:ea typeface="Courier New" charset="0"/>
                        <a:cs typeface="Courier New" charset="0"/>
                      </a:endParaRPr>
                    </a:p>
                  </a:txBody>
                  <a:tcPr marL="35719" marR="57150" marT="57150" marB="35719" anchor="ctr">
                    <a:lnL w="6350" cap="flat" cmpd="sng" algn="ctr">
                      <a:solidFill>
                        <a:srgbClr val="00D9FF"/>
                      </a:solidFill>
                      <a:prstDash val="solid"/>
                      <a:round/>
                      <a:headEnd type="none" w="med" len="med"/>
                      <a:tailEnd type="none" w="med" len="med"/>
                    </a:lnL>
                    <a:lnR w="6350" cap="flat" cmpd="sng" algn="ctr">
                      <a:solidFill>
                        <a:srgbClr val="00D9FF"/>
                      </a:solidFill>
                      <a:prstDash val="solid"/>
                      <a:round/>
                      <a:headEnd type="none" w="med" len="med"/>
                      <a:tailEnd type="none" w="med" len="med"/>
                    </a:lnR>
                    <a:lnT w="6350" cap="flat" cmpd="sng" algn="ctr">
                      <a:solidFill>
                        <a:srgbClr val="00D9FF"/>
                      </a:solidFill>
                      <a:prstDash val="solid"/>
                      <a:round/>
                      <a:headEnd type="none" w="med" len="med"/>
                      <a:tailEnd type="none" w="med" len="med"/>
                    </a:lnT>
                    <a:lnB w="6350" cap="flat" cmpd="sng" algn="ctr">
                      <a:solidFill>
                        <a:srgbClr val="00D9FF"/>
                      </a:solidFill>
                      <a:prstDash val="solid"/>
                      <a:round/>
                      <a:headEnd type="none" w="med" len="med"/>
                      <a:tailEnd type="none" w="med" len="med"/>
                    </a:lnB>
                  </a:tcPr>
                </a:tc>
                <a:tc>
                  <a:txBody>
                    <a:bodyPr/>
                    <a:lstStyle/>
                    <a:p>
                      <a:pPr algn="l" indent="0" marL="0">
                        <a:buNone/>
                      </a:pPr>
                      <a:r>
                        <a:rPr lang="en-US" sz="800" dirty="0">
                          <a:solidFill>
                            <a:srgbClr val="8AA0CC"/>
                          </a:solidFill>
                          <a:latin typeface="Carlito" pitchFamily="34" charset="0"/>
                          <a:ea typeface="Carlito" pitchFamily="34" charset="-122"/>
                          <a:cs typeface="Carlito" pitchFamily="34" charset="-120"/>
                        </a:rPr>
                        <a:t>حجم خطوة التحديث</a:t>
                      </a:r>
                      <a:endParaRPr lang="en-US" sz="800" dirty="0">
                        <a:latin typeface="Carlito" charset="0"/>
                        <a:ea typeface="Carlito" charset="0"/>
                        <a:cs typeface="Carlito" charset="0"/>
                      </a:endParaRPr>
                    </a:p>
                  </a:txBody>
                  <a:tcPr marL="35719" marR="57150" marT="57150" marB="35719" anchor="ctr">
                    <a:lnL w="6350" cap="flat" cmpd="sng" algn="ctr">
                      <a:solidFill>
                        <a:srgbClr val="00D9FF"/>
                      </a:solidFill>
                      <a:prstDash val="solid"/>
                      <a:round/>
                      <a:headEnd type="none" w="med" len="med"/>
                      <a:tailEnd type="none" w="med" len="med"/>
                    </a:lnL>
                    <a:lnR w="6350" cap="flat" cmpd="sng" algn="ctr">
                      <a:solidFill>
                        <a:srgbClr val="00D9FF"/>
                      </a:solidFill>
                      <a:prstDash val="solid"/>
                      <a:round/>
                      <a:headEnd type="none" w="med" len="med"/>
                      <a:tailEnd type="none" w="med" len="med"/>
                    </a:lnR>
                    <a:lnT w="6350" cap="flat" cmpd="sng" algn="ctr">
                      <a:solidFill>
                        <a:srgbClr val="00D9FF"/>
                      </a:solidFill>
                      <a:prstDash val="solid"/>
                      <a:round/>
                      <a:headEnd type="none" w="med" len="med"/>
                      <a:tailEnd type="none" w="med" len="med"/>
                    </a:lnT>
                    <a:lnB w="6350" cap="flat" cmpd="sng" algn="ctr">
                      <a:solidFill>
                        <a:srgbClr val="00D9FF"/>
                      </a:solidFill>
                      <a:prstDash val="solid"/>
                      <a:round/>
                      <a:headEnd type="none" w="med" len="med"/>
                      <a:tailEnd type="none" w="med" len="med"/>
                    </a:lnB>
                  </a:tcPr>
                </a:tc>
                <a:tc>
                  <a:txBody>
                    <a:bodyPr/>
                    <a:lstStyle/>
                    <a:p>
                      <a:pPr algn="l" indent="0" marL="0">
                        <a:buNone/>
                      </a:pPr>
                      <a:r>
                        <a:rPr lang="en-US" sz="800" dirty="0">
                          <a:solidFill>
                            <a:srgbClr val="FFD166"/>
                          </a:solidFill>
                          <a:latin typeface="Courier New" pitchFamily="34" charset="0"/>
                          <a:ea typeface="Courier New" pitchFamily="34" charset="-122"/>
                          <a:cs typeface="Courier New" pitchFamily="34" charset="-120"/>
                        </a:rPr>
                        <a:t>0.001 (Adam) / 0.01 (SGD)</a:t>
                      </a:r>
                      <a:endParaRPr lang="en-US" sz="800" dirty="0">
                        <a:latin typeface="Courier New" charset="0"/>
                        <a:ea typeface="Courier New" charset="0"/>
                        <a:cs typeface="Courier New" charset="0"/>
                      </a:endParaRPr>
                    </a:p>
                  </a:txBody>
                  <a:tcPr marL="35719" marR="57150" marT="57150" marB="35719" anchor="ctr">
                    <a:lnL w="6350" cap="flat" cmpd="sng" algn="ctr">
                      <a:solidFill>
                        <a:srgbClr val="00D9FF"/>
                      </a:solidFill>
                      <a:prstDash val="solid"/>
                      <a:round/>
                      <a:headEnd type="none" w="med" len="med"/>
                      <a:tailEnd type="none" w="med" len="med"/>
                    </a:lnL>
                    <a:lnR w="6350" cap="flat" cmpd="sng" algn="ctr">
                      <a:solidFill>
                        <a:srgbClr val="00D9FF"/>
                      </a:solidFill>
                      <a:prstDash val="solid"/>
                      <a:round/>
                      <a:headEnd type="none" w="med" len="med"/>
                      <a:tailEnd type="none" w="med" len="med"/>
                    </a:lnR>
                    <a:lnT w="6350" cap="flat" cmpd="sng" algn="ctr">
                      <a:solidFill>
                        <a:srgbClr val="00D9FF"/>
                      </a:solidFill>
                      <a:prstDash val="solid"/>
                      <a:round/>
                      <a:headEnd type="none" w="med" len="med"/>
                      <a:tailEnd type="none" w="med" len="med"/>
                    </a:lnT>
                    <a:lnB w="6350" cap="flat" cmpd="sng" algn="ctr">
                      <a:solidFill>
                        <a:srgbClr val="00D9FF"/>
                      </a:solidFill>
                      <a:prstDash val="solid"/>
                      <a:round/>
                      <a:headEnd type="none" w="med" len="med"/>
                      <a:tailEnd type="none" w="med" len="med"/>
                    </a:lnB>
                  </a:tcPr>
                </a:tc>
              </a:tr>
              <a:tr h="0">
                <a:tc>
                  <a:txBody>
                    <a:bodyPr/>
                    <a:lstStyle/>
                    <a:p>
                      <a:pPr algn="l" indent="0" marL="0">
                        <a:buNone/>
                      </a:pPr>
                      <a:r>
                        <a:rPr lang="en-US" sz="800" dirty="0">
                          <a:solidFill>
                            <a:srgbClr val="EAF6FF"/>
                          </a:solidFill>
                          <a:latin typeface="Courier New" pitchFamily="34" charset="0"/>
                          <a:ea typeface="Courier New" pitchFamily="34" charset="-122"/>
                          <a:cs typeface="Courier New" pitchFamily="34" charset="-120"/>
                        </a:rPr>
                        <a:t>Batch Size</a:t>
                      </a:r>
                      <a:endParaRPr lang="en-US" sz="800" dirty="0">
                        <a:latin typeface="Courier New" charset="0"/>
                        <a:ea typeface="Courier New" charset="0"/>
                        <a:cs typeface="Courier New" charset="0"/>
                      </a:endParaRPr>
                    </a:p>
                  </a:txBody>
                  <a:tcPr marL="35719" marR="57150" marT="57150" marB="35719" anchor="ctr">
                    <a:lnL w="6350" cap="flat" cmpd="sng" algn="ctr">
                      <a:solidFill>
                        <a:srgbClr val="00D9FF"/>
                      </a:solidFill>
                      <a:prstDash val="solid"/>
                      <a:round/>
                      <a:headEnd type="none" w="med" len="med"/>
                      <a:tailEnd type="none" w="med" len="med"/>
                    </a:lnL>
                    <a:lnR w="6350" cap="flat" cmpd="sng" algn="ctr">
                      <a:solidFill>
                        <a:srgbClr val="00D9FF"/>
                      </a:solidFill>
                      <a:prstDash val="solid"/>
                      <a:round/>
                      <a:headEnd type="none" w="med" len="med"/>
                      <a:tailEnd type="none" w="med" len="med"/>
                    </a:lnR>
                    <a:lnT w="6350" cap="flat" cmpd="sng" algn="ctr">
                      <a:solidFill>
                        <a:srgbClr val="00D9FF"/>
                      </a:solidFill>
                      <a:prstDash val="solid"/>
                      <a:round/>
                      <a:headEnd type="none" w="med" len="med"/>
                      <a:tailEnd type="none" w="med" len="med"/>
                    </a:lnT>
                    <a:lnB w="6350" cap="flat" cmpd="sng" algn="ctr">
                      <a:solidFill>
                        <a:srgbClr val="00D9FF"/>
                      </a:solidFill>
                      <a:prstDash val="solid"/>
                      <a:round/>
                      <a:headEnd type="none" w="med" len="med"/>
                      <a:tailEnd type="none" w="med" len="med"/>
                    </a:lnB>
                  </a:tcPr>
                </a:tc>
                <a:tc>
                  <a:txBody>
                    <a:bodyPr/>
                    <a:lstStyle/>
                    <a:p>
                      <a:pPr algn="l" indent="0" marL="0">
                        <a:buNone/>
                      </a:pPr>
                      <a:r>
                        <a:rPr lang="en-US" sz="800" dirty="0">
                          <a:solidFill>
                            <a:srgbClr val="8AA0CC"/>
                          </a:solidFill>
                          <a:latin typeface="Carlito" pitchFamily="34" charset="0"/>
                          <a:ea typeface="Carlito" pitchFamily="34" charset="-122"/>
                          <a:cs typeface="Carlito" pitchFamily="34" charset="-120"/>
                        </a:rPr>
                        <a:t>عدد العينات لكل خطوة</a:t>
                      </a:r>
                      <a:endParaRPr lang="en-US" sz="800" dirty="0">
                        <a:latin typeface="Carlito" charset="0"/>
                        <a:ea typeface="Carlito" charset="0"/>
                        <a:cs typeface="Carlito" charset="0"/>
                      </a:endParaRPr>
                    </a:p>
                  </a:txBody>
                  <a:tcPr marL="35719" marR="57150" marT="57150" marB="35719" anchor="ctr">
                    <a:lnL w="6350" cap="flat" cmpd="sng" algn="ctr">
                      <a:solidFill>
                        <a:srgbClr val="00D9FF"/>
                      </a:solidFill>
                      <a:prstDash val="solid"/>
                      <a:round/>
                      <a:headEnd type="none" w="med" len="med"/>
                      <a:tailEnd type="none" w="med" len="med"/>
                    </a:lnL>
                    <a:lnR w="6350" cap="flat" cmpd="sng" algn="ctr">
                      <a:solidFill>
                        <a:srgbClr val="00D9FF"/>
                      </a:solidFill>
                      <a:prstDash val="solid"/>
                      <a:round/>
                      <a:headEnd type="none" w="med" len="med"/>
                      <a:tailEnd type="none" w="med" len="med"/>
                    </a:lnR>
                    <a:lnT w="6350" cap="flat" cmpd="sng" algn="ctr">
                      <a:solidFill>
                        <a:srgbClr val="00D9FF"/>
                      </a:solidFill>
                      <a:prstDash val="solid"/>
                      <a:round/>
                      <a:headEnd type="none" w="med" len="med"/>
                      <a:tailEnd type="none" w="med" len="med"/>
                    </a:lnT>
                    <a:lnB w="6350" cap="flat" cmpd="sng" algn="ctr">
                      <a:solidFill>
                        <a:srgbClr val="00D9FF"/>
                      </a:solidFill>
                      <a:prstDash val="solid"/>
                      <a:round/>
                      <a:headEnd type="none" w="med" len="med"/>
                      <a:tailEnd type="none" w="med" len="med"/>
                    </a:lnB>
                  </a:tcPr>
                </a:tc>
                <a:tc>
                  <a:txBody>
                    <a:bodyPr/>
                    <a:lstStyle/>
                    <a:p>
                      <a:pPr algn="l" indent="0" marL="0">
                        <a:buNone/>
                      </a:pPr>
                      <a:r>
                        <a:rPr lang="en-US" sz="800" dirty="0">
                          <a:solidFill>
                            <a:srgbClr val="FFD166"/>
                          </a:solidFill>
                          <a:latin typeface="Courier New" pitchFamily="34" charset="0"/>
                          <a:ea typeface="Courier New" pitchFamily="34" charset="-122"/>
                          <a:cs typeface="Courier New" pitchFamily="34" charset="-120"/>
                        </a:rPr>
                        <a:t>32 - 256</a:t>
                      </a:r>
                      <a:endParaRPr lang="en-US" sz="800" dirty="0">
                        <a:latin typeface="Courier New" charset="0"/>
                        <a:ea typeface="Courier New" charset="0"/>
                        <a:cs typeface="Courier New" charset="0"/>
                      </a:endParaRPr>
                    </a:p>
                  </a:txBody>
                  <a:tcPr marL="35719" marR="57150" marT="57150" marB="35719" anchor="ctr">
                    <a:lnL w="6350" cap="flat" cmpd="sng" algn="ctr">
                      <a:solidFill>
                        <a:srgbClr val="00D9FF"/>
                      </a:solidFill>
                      <a:prstDash val="solid"/>
                      <a:round/>
                      <a:headEnd type="none" w="med" len="med"/>
                      <a:tailEnd type="none" w="med" len="med"/>
                    </a:lnL>
                    <a:lnR w="6350" cap="flat" cmpd="sng" algn="ctr">
                      <a:solidFill>
                        <a:srgbClr val="00D9FF"/>
                      </a:solidFill>
                      <a:prstDash val="solid"/>
                      <a:round/>
                      <a:headEnd type="none" w="med" len="med"/>
                      <a:tailEnd type="none" w="med" len="med"/>
                    </a:lnR>
                    <a:lnT w="6350" cap="flat" cmpd="sng" algn="ctr">
                      <a:solidFill>
                        <a:srgbClr val="00D9FF"/>
                      </a:solidFill>
                      <a:prstDash val="solid"/>
                      <a:round/>
                      <a:headEnd type="none" w="med" len="med"/>
                      <a:tailEnd type="none" w="med" len="med"/>
                    </a:lnT>
                    <a:lnB w="6350" cap="flat" cmpd="sng" algn="ctr">
                      <a:solidFill>
                        <a:srgbClr val="00D9FF"/>
                      </a:solidFill>
                      <a:prstDash val="solid"/>
                      <a:round/>
                      <a:headEnd type="none" w="med" len="med"/>
                      <a:tailEnd type="none" w="med" len="med"/>
                    </a:lnB>
                  </a:tcPr>
                </a:tc>
              </a:tr>
              <a:tr h="0">
                <a:tc>
                  <a:txBody>
                    <a:bodyPr/>
                    <a:lstStyle/>
                    <a:p>
                      <a:pPr algn="l" indent="0" marL="0">
                        <a:buNone/>
                      </a:pPr>
                      <a:r>
                        <a:rPr lang="en-US" sz="800" dirty="0">
                          <a:solidFill>
                            <a:srgbClr val="EAF6FF"/>
                          </a:solidFill>
                          <a:latin typeface="Courier New" pitchFamily="34" charset="0"/>
                          <a:ea typeface="Courier New" pitchFamily="34" charset="-122"/>
                          <a:cs typeface="Courier New" pitchFamily="34" charset="-120"/>
                        </a:rPr>
                        <a:t>Epochs</a:t>
                      </a:r>
                      <a:endParaRPr lang="en-US" sz="800" dirty="0">
                        <a:latin typeface="Courier New" charset="0"/>
                        <a:ea typeface="Courier New" charset="0"/>
                        <a:cs typeface="Courier New" charset="0"/>
                      </a:endParaRPr>
                    </a:p>
                  </a:txBody>
                  <a:tcPr marL="35719" marR="57150" marT="57150" marB="35719" anchor="ctr">
                    <a:lnL w="6350" cap="flat" cmpd="sng" algn="ctr">
                      <a:solidFill>
                        <a:srgbClr val="00D9FF"/>
                      </a:solidFill>
                      <a:prstDash val="solid"/>
                      <a:round/>
                      <a:headEnd type="none" w="med" len="med"/>
                      <a:tailEnd type="none" w="med" len="med"/>
                    </a:lnL>
                    <a:lnR w="6350" cap="flat" cmpd="sng" algn="ctr">
                      <a:solidFill>
                        <a:srgbClr val="00D9FF"/>
                      </a:solidFill>
                      <a:prstDash val="solid"/>
                      <a:round/>
                      <a:headEnd type="none" w="med" len="med"/>
                      <a:tailEnd type="none" w="med" len="med"/>
                    </a:lnR>
                    <a:lnT w="6350" cap="flat" cmpd="sng" algn="ctr">
                      <a:solidFill>
                        <a:srgbClr val="00D9FF"/>
                      </a:solidFill>
                      <a:prstDash val="solid"/>
                      <a:round/>
                      <a:headEnd type="none" w="med" len="med"/>
                      <a:tailEnd type="none" w="med" len="med"/>
                    </a:lnT>
                    <a:lnB w="6350" cap="flat" cmpd="sng" algn="ctr">
                      <a:solidFill>
                        <a:srgbClr val="00D9FF"/>
                      </a:solidFill>
                      <a:prstDash val="solid"/>
                      <a:round/>
                      <a:headEnd type="none" w="med" len="med"/>
                      <a:tailEnd type="none" w="med" len="med"/>
                    </a:lnB>
                  </a:tcPr>
                </a:tc>
                <a:tc>
                  <a:txBody>
                    <a:bodyPr/>
                    <a:lstStyle/>
                    <a:p>
                      <a:pPr algn="l" indent="0" marL="0">
                        <a:buNone/>
                      </a:pPr>
                      <a:r>
                        <a:rPr lang="en-US" sz="800" dirty="0">
                          <a:solidFill>
                            <a:srgbClr val="8AA0CC"/>
                          </a:solidFill>
                          <a:latin typeface="Carlito" pitchFamily="34" charset="0"/>
                          <a:ea typeface="Carlito" pitchFamily="34" charset="-122"/>
                          <a:cs typeface="Carlito" pitchFamily="34" charset="-120"/>
                        </a:rPr>
                        <a:t>عدد دورات التدريب</a:t>
                      </a:r>
                      <a:endParaRPr lang="en-US" sz="800" dirty="0">
                        <a:latin typeface="Carlito" charset="0"/>
                        <a:ea typeface="Carlito" charset="0"/>
                        <a:cs typeface="Carlito" charset="0"/>
                      </a:endParaRPr>
                    </a:p>
                  </a:txBody>
                  <a:tcPr marL="35719" marR="57150" marT="57150" marB="35719" anchor="ctr">
                    <a:lnL w="6350" cap="flat" cmpd="sng" algn="ctr">
                      <a:solidFill>
                        <a:srgbClr val="00D9FF"/>
                      </a:solidFill>
                      <a:prstDash val="solid"/>
                      <a:round/>
                      <a:headEnd type="none" w="med" len="med"/>
                      <a:tailEnd type="none" w="med" len="med"/>
                    </a:lnL>
                    <a:lnR w="6350" cap="flat" cmpd="sng" algn="ctr">
                      <a:solidFill>
                        <a:srgbClr val="00D9FF"/>
                      </a:solidFill>
                      <a:prstDash val="solid"/>
                      <a:round/>
                      <a:headEnd type="none" w="med" len="med"/>
                      <a:tailEnd type="none" w="med" len="med"/>
                    </a:lnR>
                    <a:lnT w="6350" cap="flat" cmpd="sng" algn="ctr">
                      <a:solidFill>
                        <a:srgbClr val="00D9FF"/>
                      </a:solidFill>
                      <a:prstDash val="solid"/>
                      <a:round/>
                      <a:headEnd type="none" w="med" len="med"/>
                      <a:tailEnd type="none" w="med" len="med"/>
                    </a:lnT>
                    <a:lnB w="6350" cap="flat" cmpd="sng" algn="ctr">
                      <a:solidFill>
                        <a:srgbClr val="00D9FF"/>
                      </a:solidFill>
                      <a:prstDash val="solid"/>
                      <a:round/>
                      <a:headEnd type="none" w="med" len="med"/>
                      <a:tailEnd type="none" w="med" len="med"/>
                    </a:lnB>
                  </a:tcPr>
                </a:tc>
                <a:tc>
                  <a:txBody>
                    <a:bodyPr/>
                    <a:lstStyle/>
                    <a:p>
                      <a:pPr algn="l" indent="0" marL="0">
                        <a:buNone/>
                      </a:pPr>
                      <a:r>
                        <a:rPr lang="en-US" sz="800" dirty="0">
                          <a:solidFill>
                            <a:srgbClr val="FFD166"/>
                          </a:solidFill>
                          <a:latin typeface="Courier New" pitchFamily="34" charset="0"/>
                          <a:ea typeface="Courier New" pitchFamily="34" charset="-122"/>
                          <a:cs typeface="Courier New" pitchFamily="34" charset="-120"/>
                        </a:rPr>
                        <a:t>10 - 100</a:t>
                      </a:r>
                      <a:endParaRPr lang="en-US" sz="800" dirty="0">
                        <a:latin typeface="Courier New" charset="0"/>
                        <a:ea typeface="Courier New" charset="0"/>
                        <a:cs typeface="Courier New" charset="0"/>
                      </a:endParaRPr>
                    </a:p>
                  </a:txBody>
                  <a:tcPr marL="35719" marR="57150" marT="57150" marB="35719" anchor="ctr">
                    <a:lnL w="6350" cap="flat" cmpd="sng" algn="ctr">
                      <a:solidFill>
                        <a:srgbClr val="00D9FF"/>
                      </a:solidFill>
                      <a:prstDash val="solid"/>
                      <a:round/>
                      <a:headEnd type="none" w="med" len="med"/>
                      <a:tailEnd type="none" w="med" len="med"/>
                    </a:lnL>
                    <a:lnR w="6350" cap="flat" cmpd="sng" algn="ctr">
                      <a:solidFill>
                        <a:srgbClr val="00D9FF"/>
                      </a:solidFill>
                      <a:prstDash val="solid"/>
                      <a:round/>
                      <a:headEnd type="none" w="med" len="med"/>
                      <a:tailEnd type="none" w="med" len="med"/>
                    </a:lnR>
                    <a:lnT w="6350" cap="flat" cmpd="sng" algn="ctr">
                      <a:solidFill>
                        <a:srgbClr val="00D9FF"/>
                      </a:solidFill>
                      <a:prstDash val="solid"/>
                      <a:round/>
                      <a:headEnd type="none" w="med" len="med"/>
                      <a:tailEnd type="none" w="med" len="med"/>
                    </a:lnT>
                    <a:lnB w="6350" cap="flat" cmpd="sng" algn="ctr">
                      <a:solidFill>
                        <a:srgbClr val="00D9FF"/>
                      </a:solidFill>
                      <a:prstDash val="solid"/>
                      <a:round/>
                      <a:headEnd type="none" w="med" len="med"/>
                      <a:tailEnd type="none" w="med" len="med"/>
                    </a:lnB>
                  </a:tcPr>
                </a:tc>
              </a:tr>
            </a:tbl>
          </a:graphicData>
        </a:graphic>
      </p:graphicFrame>
      <p:sp>
        <p:nvSpPr>
          <p:cNvPr id="48" name="Text 38"/>
          <p:cNvSpPr/>
          <p:nvPr/>
        </p:nvSpPr>
        <p:spPr>
          <a:xfrm>
            <a:off x="8643938" y="4900613"/>
            <a:ext cx="42863" cy="42863"/>
          </a:xfrm>
          <a:prstGeom prst="roundRect">
            <a:avLst>
              <a:gd name="adj" fmla="val 66666"/>
            </a:avLst>
          </a:prstGeom>
          <a:solidFill>
            <a:srgbClr val="00D9FF"/>
          </a:solidFill>
          <a:ln/>
        </p:spPr>
        <p:txBody>
          <a:bodyPr wrap="square" rtlCol="0" anchor="ctr"/>
          <a:lstStyle/>
          <a:p>
            <a:pPr indent="0" marL="0">
              <a:buNone/>
            </a:pPr>
            <a:endParaRPr lang="en-US" dirty="0"/>
          </a:p>
        </p:txBody>
      </p:sp>
      <p:sp>
        <p:nvSpPr>
          <p:cNvPr id="49" name="Text 39"/>
          <p:cNvSpPr/>
          <p:nvPr/>
        </p:nvSpPr>
        <p:spPr>
          <a:xfrm>
            <a:off x="8222894" y="4857750"/>
            <a:ext cx="663773"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AI SKILLS</a:t>
            </a:r>
            <a:endParaRPr lang="en-US" sz="800" dirty="0"/>
          </a:p>
        </p:txBody>
      </p:sp>
      <p:sp>
        <p:nvSpPr>
          <p:cNvPr id="50" name="Text 40"/>
          <p:cNvSpPr/>
          <p:nvPr/>
        </p:nvSpPr>
        <p:spPr>
          <a:xfrm>
            <a:off x="457200" y="4857750"/>
            <a:ext cx="7752085"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صفحة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27"/>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alphaModFix amt="65000"/>
          </a:blip>
          <a:stretch>
            <a:fillRect/>
          </a:stretch>
        </p:blipFill>
        <p:spPr>
          <a:xfrm>
            <a:off x="428625" y="571500"/>
            <a:ext cx="3429000" cy="3429000"/>
          </a:xfrm>
          <a:prstGeom prst="rect">
            <a:avLst/>
          </a:prstGeom>
        </p:spPr>
      </p:pic>
      <p:sp>
        <p:nvSpPr>
          <p:cNvPr id="4" name="Text 0"/>
          <p:cNvSpPr/>
          <p:nvPr/>
        </p:nvSpPr>
        <p:spPr>
          <a:xfrm>
            <a:off x="428625" y="571500"/>
            <a:ext cx="3429000" cy="3429000"/>
          </a:xfrm>
          <a:prstGeom prst="ellipse">
            <a:avLst/>
          </a:prstGeom>
          <a:solidFill>
            <a:srgbClr val="FFFFFF">
              <a:alpha val="0"/>
            </a:srgbClr>
          </a:solidFill>
          <a:ln/>
        </p:spPr>
        <p:txBody>
          <a:bodyPr wrap="square" rtlCol="0" anchor="ctr"/>
          <a:lstStyle/>
          <a:p>
            <a:pPr indent="0" marL="0">
              <a:buNone/>
            </a:pPr>
            <a:endParaRPr lang="en-US" dirty="0"/>
          </a:p>
        </p:txBody>
      </p:sp>
      <p:pic>
        <p:nvPicPr>
          <p:cNvPr id="5" name="Image 2" descr="preencoded.png">    </p:cNvPr>
          <p:cNvPicPr>
            <a:picLocks noChangeAspect="1"/>
          </p:cNvPicPr>
          <p:nvPr/>
        </p:nvPicPr>
        <p:blipFill>
          <a:blip r:embed="rId3">
            <a:alphaModFix amt="65000"/>
          </a:blip>
          <a:stretch>
            <a:fillRect/>
          </a:stretch>
        </p:blipFill>
        <p:spPr>
          <a:xfrm>
            <a:off x="7429500" y="3429000"/>
            <a:ext cx="3000375" cy="3000375"/>
          </a:xfrm>
          <a:prstGeom prst="rect">
            <a:avLst/>
          </a:prstGeom>
        </p:spPr>
      </p:pic>
      <p:sp>
        <p:nvSpPr>
          <p:cNvPr id="6" name="Text 1"/>
          <p:cNvSpPr/>
          <p:nvPr/>
        </p:nvSpPr>
        <p:spPr>
          <a:xfrm>
            <a:off x="7429500" y="3429000"/>
            <a:ext cx="3000375" cy="3000375"/>
          </a:xfrm>
          <a:prstGeom prst="ellipse">
            <a:avLst/>
          </a:prstGeom>
          <a:solidFill>
            <a:srgbClr val="FFFFFF">
              <a:alpha val="0"/>
            </a:srgbClr>
          </a:solidFill>
          <a:ln/>
        </p:spPr>
        <p:txBody>
          <a:bodyPr wrap="square" rtlCol="0" anchor="ctr"/>
          <a:lstStyle/>
          <a:p>
            <a:pPr indent="0" marL="0">
              <a:buNone/>
            </a:pPr>
            <a:endParaRPr lang="en-US" dirty="0"/>
          </a:p>
        </p:txBody>
      </p:sp>
      <p:sp>
        <p:nvSpPr>
          <p:cNvPr id="7" name="Shape 2"/>
          <p:cNvSpPr/>
          <p:nvPr/>
        </p:nvSpPr>
        <p:spPr>
          <a:xfrm>
            <a:off x="3749129" y="1298711"/>
            <a:ext cx="4937671" cy="0"/>
          </a:xfrm>
          <a:prstGeom prst="line">
            <a:avLst/>
          </a:prstGeom>
          <a:noFill/>
          <a:ln w="7144">
            <a:solidFill>
              <a:srgbClr val="00D9FF"/>
            </a:solidFill>
            <a:prstDash val="solid"/>
          </a:ln>
        </p:spPr>
      </p:sp>
      <p:sp>
        <p:nvSpPr>
          <p:cNvPr id="8" name="Shape 3"/>
          <p:cNvSpPr/>
          <p:nvPr/>
        </p:nvSpPr>
        <p:spPr>
          <a:xfrm>
            <a:off x="8683228" y="1295140"/>
            <a:ext cx="0" cy="210741"/>
          </a:xfrm>
          <a:prstGeom prst="line">
            <a:avLst/>
          </a:prstGeom>
          <a:noFill/>
          <a:ln w="7144">
            <a:solidFill>
              <a:srgbClr val="00D9FF"/>
            </a:solidFill>
            <a:prstDash val="solid"/>
          </a:ln>
        </p:spPr>
      </p:sp>
      <p:sp>
        <p:nvSpPr>
          <p:cNvPr id="9" name="Shape 4"/>
          <p:cNvSpPr/>
          <p:nvPr/>
        </p:nvSpPr>
        <p:spPr>
          <a:xfrm>
            <a:off x="3752701" y="1295140"/>
            <a:ext cx="0" cy="210741"/>
          </a:xfrm>
          <a:prstGeom prst="line">
            <a:avLst/>
          </a:prstGeom>
          <a:noFill/>
          <a:ln w="7144">
            <a:solidFill>
              <a:srgbClr val="00D9FF"/>
            </a:solidFill>
            <a:prstDash val="solid"/>
          </a:ln>
        </p:spPr>
      </p:sp>
      <p:sp>
        <p:nvSpPr>
          <p:cNvPr id="10" name="Text 5"/>
          <p:cNvSpPr/>
          <p:nvPr/>
        </p:nvSpPr>
        <p:spPr>
          <a:xfrm>
            <a:off x="7644839" y="387248"/>
            <a:ext cx="1064821" cy="264919"/>
          </a:xfrm>
          <a:prstGeom prst="roundRect">
            <a:avLst>
              <a:gd name="adj" fmla="val 3591843"/>
            </a:avLst>
          </a:prstGeom>
          <a:solidFill>
            <a:srgbClr val="FFD166">
              <a:alpha val="10000"/>
            </a:srgbClr>
          </a:solidFill>
          <a:ln w="7144">
            <a:solidFill>
              <a:srgbClr val="FFD166"/>
            </a:solidFill>
            <a:prstDash val="solid"/>
          </a:ln>
        </p:spPr>
        <p:txBody>
          <a:bodyPr wrap="square" rtlCol="0" anchor="ctr"/>
          <a:lstStyle/>
          <a:p>
            <a:pPr indent="0" marL="0">
              <a:buNone/>
            </a:pPr>
            <a:endParaRPr lang="en-US" dirty="0"/>
          </a:p>
        </p:txBody>
      </p:sp>
      <p:sp>
        <p:nvSpPr>
          <p:cNvPr id="11" name="Text 6"/>
          <p:cNvSpPr/>
          <p:nvPr/>
        </p:nvSpPr>
        <p:spPr>
          <a:xfrm>
            <a:off x="7693389" y="457200"/>
            <a:ext cx="810558" cy="143490"/>
          </a:xfrm>
          <a:prstGeom prst="rect">
            <a:avLst/>
          </a:prstGeom>
          <a:noFill/>
          <a:ln/>
        </p:spPr>
        <p:txBody>
          <a:bodyPr wrap="none" lIns="0" tIns="0" rIns="0" bIns="0" rtlCol="0" anchor="t"/>
          <a:lstStyle/>
          <a:p>
            <a:pPr algn="l" indent="0" marL="0">
              <a:lnSpc>
                <a:spcPts val="1097"/>
              </a:lnSpc>
              <a:buNone/>
            </a:pPr>
            <a:r>
              <a:rPr lang="en-US" sz="731" dirty="0">
                <a:solidFill>
                  <a:srgbClr val="FFD166"/>
                </a:solidFill>
                <a:latin typeface="Carlito" pitchFamily="34" charset="0"/>
                <a:ea typeface="Carlito" pitchFamily="34" charset="-122"/>
                <a:cs typeface="Carlito" pitchFamily="34" charset="-120"/>
              </a:rPr>
              <a:t>PYTORCH CODE</a:t>
            </a:r>
            <a:endParaRPr lang="en-US" sz="731" dirty="0"/>
          </a:p>
        </p:txBody>
      </p:sp>
      <p:sp>
        <p:nvSpPr>
          <p:cNvPr id="12" name="Text 7"/>
          <p:cNvSpPr/>
          <p:nvPr/>
        </p:nvSpPr>
        <p:spPr>
          <a:xfrm>
            <a:off x="8479631" y="469702"/>
            <a:ext cx="100013" cy="100013"/>
          </a:xfrm>
          <a:prstGeom prst="rect">
            <a:avLst/>
          </a:prstGeom>
          <a:noFill/>
          <a:ln/>
        </p:spPr>
        <p:txBody>
          <a:bodyPr wrap="none" lIns="0" tIns="0" rIns="0" bIns="0" rtlCol="0" anchor="ctr"/>
          <a:lstStyle/>
          <a:p>
            <a:pPr algn="ctr" indent="0" marL="0">
              <a:buNone/>
            </a:pPr>
            <a:r>
              <a:rPr lang="en-US" sz="984" dirty="0">
                <a:solidFill>
                  <a:srgbClr val="FFD166"/>
                </a:solidFill>
                <a:latin typeface="Segoe UI Symbol" pitchFamily="34" charset="0"/>
                <a:ea typeface="Segoe UI Symbol" pitchFamily="34" charset="-122"/>
                <a:cs typeface="Segoe UI Symbol" pitchFamily="34" charset="-120"/>
              </a:rPr>
              <a:t>✦</a:t>
            </a:r>
            <a:endParaRPr lang="en-US" sz="984" dirty="0"/>
          </a:p>
        </p:txBody>
      </p:sp>
      <p:sp>
        <p:nvSpPr>
          <p:cNvPr id="13" name="Text 8"/>
          <p:cNvSpPr/>
          <p:nvPr/>
        </p:nvSpPr>
        <p:spPr>
          <a:xfrm>
            <a:off x="457200" y="696516"/>
            <a:ext cx="8636000" cy="249723"/>
          </a:xfrm>
          <a:prstGeom prst="rect">
            <a:avLst/>
          </a:prstGeom>
          <a:noFill/>
          <a:ln/>
        </p:spPr>
        <p:txBody>
          <a:bodyPr wrap="none" lIns="0" tIns="0" rIns="0" bIns="0" rtlCol="0" anchor="t">
            <a:normAutofit/>
          </a:bodyPr>
          <a:lstStyle/>
          <a:p>
            <a:pPr algn="l" indent="0" marL="0">
              <a:lnSpc>
                <a:spcPts val="2070"/>
              </a:lnSpc>
              <a:buNone/>
            </a:pPr>
            <a:r>
              <a:rPr lang="en-US" sz="1800" b="1" dirty="0">
                <a:solidFill>
                  <a:srgbClr val="EAF6FF"/>
                </a:solidFill>
                <a:latin typeface="Carlito" pitchFamily="34" charset="0"/>
                <a:ea typeface="Carlito" pitchFamily="34" charset="-122"/>
                <a:cs typeface="Carlito" pitchFamily="34" charset="-120"/>
              </a:rPr>
              <a:t>حلقة التدريب العملية</a:t>
            </a:r>
            <a:endParaRPr lang="en-US" sz="1800" dirty="0"/>
          </a:p>
        </p:txBody>
      </p:sp>
      <p:sp>
        <p:nvSpPr>
          <p:cNvPr id="14" name="Text 9"/>
          <p:cNvSpPr/>
          <p:nvPr/>
        </p:nvSpPr>
        <p:spPr>
          <a:xfrm>
            <a:off x="457200" y="973671"/>
            <a:ext cx="8636000" cy="164592"/>
          </a:xfrm>
          <a:prstGeom prst="rect">
            <a:avLst/>
          </a:prstGeom>
          <a:noFill/>
          <a:ln/>
        </p:spPr>
        <p:txBody>
          <a:bodyPr wrap="square" lIns="0" tIns="0" rIns="0" bIns="0" rtlCol="0" anchor="t"/>
          <a:lstStyle/>
          <a:p>
            <a:pPr algn="l" indent="0" marL="0">
              <a:lnSpc>
                <a:spcPts val="1181"/>
              </a:lnSpc>
              <a:buNone/>
            </a:pPr>
            <a:r>
              <a:rPr lang="en-US" sz="800" dirty="0">
                <a:solidFill>
                  <a:srgbClr val="8AA0CC"/>
                </a:solidFill>
                <a:latin typeface="Carlito" pitchFamily="34" charset="0"/>
                <a:ea typeface="Carlito" pitchFamily="34" charset="-122"/>
                <a:cs typeface="Carlito" pitchFamily="34" charset="-120"/>
              </a:rPr>
              <a:t>مثال حقيقي بحلقة تدريب كاملة باستخدام PyTorch</a:t>
            </a:r>
            <a:endParaRPr lang="en-US" sz="800" dirty="0"/>
          </a:p>
        </p:txBody>
      </p:sp>
      <p:pic>
        <p:nvPicPr>
          <p:cNvPr id="15" name="Image 3" descr="preencoded.png">    </p:cNvPr>
          <p:cNvPicPr>
            <a:picLocks noChangeAspect="1"/>
          </p:cNvPicPr>
          <p:nvPr/>
        </p:nvPicPr>
        <p:blipFill>
          <a:blip r:embed="rId4"/>
          <a:stretch>
            <a:fillRect/>
          </a:stretch>
        </p:blipFill>
        <p:spPr>
          <a:xfrm>
            <a:off x="7829550" y="1180840"/>
            <a:ext cx="857250" cy="14288"/>
          </a:xfrm>
          <a:prstGeom prst="rect">
            <a:avLst/>
          </a:prstGeom>
        </p:spPr>
      </p:pic>
      <p:sp>
        <p:nvSpPr>
          <p:cNvPr id="16" name="Text 10"/>
          <p:cNvSpPr/>
          <p:nvPr/>
        </p:nvSpPr>
        <p:spPr>
          <a:xfrm>
            <a:off x="3749129" y="1295140"/>
            <a:ext cx="4937671" cy="210741"/>
          </a:xfrm>
          <a:prstGeom prst="roundRect">
            <a:avLst>
              <a:gd name="adj" fmla="val 45198"/>
            </a:avLst>
          </a:prstGeom>
          <a:solidFill>
            <a:srgbClr val="0B1230"/>
          </a:solidFill>
          <a:ln/>
        </p:spPr>
        <p:txBody>
          <a:bodyPr wrap="square" rtlCol="0" anchor="ctr"/>
          <a:lstStyle/>
          <a:p>
            <a:pPr indent="0" marL="0">
              <a:buNone/>
            </a:pPr>
            <a:endParaRPr lang="en-US" dirty="0"/>
          </a:p>
        </p:txBody>
      </p:sp>
      <p:sp>
        <p:nvSpPr>
          <p:cNvPr id="17" name="Text 11"/>
          <p:cNvSpPr/>
          <p:nvPr/>
        </p:nvSpPr>
        <p:spPr>
          <a:xfrm>
            <a:off x="8522494" y="1368363"/>
            <a:ext cx="71438" cy="71438"/>
          </a:xfrm>
          <a:prstGeom prst="ellipse">
            <a:avLst/>
          </a:prstGeom>
          <a:solidFill>
            <a:srgbClr val="FF5F57"/>
          </a:solidFill>
          <a:ln/>
        </p:spPr>
        <p:txBody>
          <a:bodyPr wrap="square" rtlCol="0" anchor="ctr"/>
          <a:lstStyle/>
          <a:p>
            <a:pPr indent="0" marL="0">
              <a:buNone/>
            </a:pPr>
            <a:endParaRPr lang="en-US" dirty="0"/>
          </a:p>
        </p:txBody>
      </p:sp>
      <p:sp>
        <p:nvSpPr>
          <p:cNvPr id="18" name="Text 12"/>
          <p:cNvSpPr/>
          <p:nvPr/>
        </p:nvSpPr>
        <p:spPr>
          <a:xfrm>
            <a:off x="8408194" y="1368363"/>
            <a:ext cx="71438" cy="71438"/>
          </a:xfrm>
          <a:prstGeom prst="ellipse">
            <a:avLst/>
          </a:prstGeom>
          <a:solidFill>
            <a:srgbClr val="FEBC2E"/>
          </a:solidFill>
          <a:ln/>
        </p:spPr>
        <p:txBody>
          <a:bodyPr wrap="square" rtlCol="0" anchor="ctr"/>
          <a:lstStyle/>
          <a:p>
            <a:pPr indent="0" marL="0">
              <a:buNone/>
            </a:pPr>
            <a:endParaRPr lang="en-US" dirty="0"/>
          </a:p>
        </p:txBody>
      </p:sp>
      <p:sp>
        <p:nvSpPr>
          <p:cNvPr id="19" name="Text 13"/>
          <p:cNvSpPr/>
          <p:nvPr/>
        </p:nvSpPr>
        <p:spPr>
          <a:xfrm>
            <a:off x="8293894" y="1368363"/>
            <a:ext cx="71438" cy="71438"/>
          </a:xfrm>
          <a:prstGeom prst="ellipse">
            <a:avLst/>
          </a:prstGeom>
          <a:solidFill>
            <a:srgbClr val="28C840"/>
          </a:solidFill>
          <a:ln/>
        </p:spPr>
        <p:txBody>
          <a:bodyPr wrap="square" rtlCol="0" anchor="ctr"/>
          <a:lstStyle/>
          <a:p>
            <a:pPr indent="0" marL="0">
              <a:buNone/>
            </a:pPr>
            <a:endParaRPr lang="en-US" dirty="0"/>
          </a:p>
        </p:txBody>
      </p:sp>
      <p:sp>
        <p:nvSpPr>
          <p:cNvPr id="20" name="Text 14"/>
          <p:cNvSpPr/>
          <p:nvPr/>
        </p:nvSpPr>
        <p:spPr>
          <a:xfrm>
            <a:off x="7565231" y="1345146"/>
            <a:ext cx="736778" cy="117872"/>
          </a:xfrm>
          <a:prstGeom prst="rect">
            <a:avLst/>
          </a:prstGeom>
          <a:noFill/>
          <a:ln/>
        </p:spPr>
        <p:txBody>
          <a:bodyPr wrap="none" lIns="0" tIns="0" rIns="0" bIns="0" rtlCol="0" anchor="t"/>
          <a:lstStyle/>
          <a:p>
            <a:pPr algn="l" indent="0" marL="0">
              <a:lnSpc>
                <a:spcPts val="928"/>
              </a:lnSpc>
              <a:buNone/>
            </a:pPr>
            <a:r>
              <a:rPr lang="en-US" sz="619" dirty="0">
                <a:solidFill>
                  <a:srgbClr val="8AA0CC"/>
                </a:solidFill>
                <a:latin typeface="Courier New" pitchFamily="34" charset="0"/>
                <a:ea typeface="Courier New" pitchFamily="34" charset="-122"/>
                <a:cs typeface="Courier New" pitchFamily="34" charset="-120"/>
              </a:rPr>
              <a:t>training_loop.py</a:t>
            </a:r>
            <a:endParaRPr lang="en-US" sz="619" dirty="0"/>
          </a:p>
        </p:txBody>
      </p:sp>
      <p:sp>
        <p:nvSpPr>
          <p:cNvPr id="21" name="Text 15"/>
          <p:cNvSpPr/>
          <p:nvPr/>
        </p:nvSpPr>
        <p:spPr>
          <a:xfrm>
            <a:off x="3841998" y="1350504"/>
            <a:ext cx="3701802" cy="112514"/>
          </a:xfrm>
          <a:prstGeom prst="rect">
            <a:avLst/>
          </a:prstGeom>
          <a:noFill/>
          <a:ln/>
        </p:spPr>
        <p:txBody>
          <a:bodyPr wrap="square" lIns="0" tIns="0" rIns="0" bIns="0" rtlCol="0" anchor="t"/>
          <a:lstStyle/>
          <a:p>
            <a:pPr algn="l" indent="0" marL="0">
              <a:lnSpc>
                <a:spcPts val="844"/>
              </a:lnSpc>
              <a:buNone/>
            </a:pPr>
            <a:r>
              <a:rPr lang="en-US" sz="800" dirty="0">
                <a:solidFill>
                  <a:srgbClr val="5B6B96"/>
                </a:solidFill>
                <a:latin typeface="Liberation Sans Narrow" pitchFamily="34" charset="0"/>
                <a:ea typeface="Liberation Sans Narrow" pitchFamily="34" charset="-122"/>
                <a:cs typeface="Liberation Sans Narrow" pitchFamily="34" charset="-120"/>
              </a:rPr>
              <a:t>PyTorch • Python 3.11</a:t>
            </a:r>
            <a:endParaRPr lang="en-US" sz="800" dirty="0"/>
          </a:p>
        </p:txBody>
      </p:sp>
      <p:sp>
        <p:nvSpPr>
          <p:cNvPr id="22" name="Text 16"/>
          <p:cNvSpPr/>
          <p:nvPr/>
        </p:nvSpPr>
        <p:spPr>
          <a:xfrm>
            <a:off x="3884861" y="1620180"/>
            <a:ext cx="1523762" cy="121136"/>
          </a:xfrm>
          <a:prstGeom prst="rect">
            <a:avLst/>
          </a:prstGeom>
          <a:noFill/>
          <a:ln/>
        </p:spPr>
        <p:txBody>
          <a:bodyPr wrap="none" lIns="0" tIns="0" rIns="0" bIns="0" rtlCol="0" anchor="t">
            <a:normAutofit/>
          </a:bodyPr>
          <a:lstStyle/>
          <a:p>
            <a:pPr algn="l" indent="0" marL="0">
              <a:lnSpc>
                <a:spcPts val="1170"/>
              </a:lnSpc>
              <a:buNone/>
            </a:pPr>
            <a:r>
              <a:rPr lang="en-US" sz="800" dirty="0">
                <a:solidFill>
                  <a:srgbClr val="6B86B5"/>
                </a:solidFill>
                <a:latin typeface="Courier New" pitchFamily="34" charset="0"/>
                <a:ea typeface="Courier New" pitchFamily="34" charset="-122"/>
                <a:cs typeface="Courier New" pitchFamily="34" charset="-120"/>
              </a:rPr>
              <a:t># 1. إعداد النموذج والمحسّن</a:t>
            </a:r>
            <a:endParaRPr lang="en-US" sz="800" dirty="0"/>
          </a:p>
        </p:txBody>
      </p:sp>
      <p:sp>
        <p:nvSpPr>
          <p:cNvPr id="23" name="Text 17"/>
          <p:cNvSpPr/>
          <p:nvPr/>
        </p:nvSpPr>
        <p:spPr>
          <a:xfrm>
            <a:off x="4244834" y="1768748"/>
            <a:ext cx="620613" cy="143490"/>
          </a:xfrm>
          <a:prstGeom prst="rect">
            <a:avLst/>
          </a:prstGeom>
          <a:noFill/>
          <a:ln/>
        </p:spPr>
        <p:txBody>
          <a:bodyPr wrap="none" lIns="0" tIns="0" rIns="0" bIns="0" rtlCol="0" anchor="t"/>
          <a:lstStyle/>
          <a:p>
            <a:pPr algn="l" indent="0" marL="0">
              <a:lnSpc>
                <a:spcPts val="1170"/>
              </a:lnSpc>
              <a:buNone/>
            </a:pPr>
            <a:r>
              <a:rPr lang="en-US" sz="800" dirty="0">
                <a:solidFill>
                  <a:srgbClr val="00D9FF"/>
                </a:solidFill>
                <a:latin typeface="Courier New" pitchFamily="34" charset="0"/>
                <a:ea typeface="Courier New" pitchFamily="34" charset="-122"/>
                <a:cs typeface="Courier New" pitchFamily="34" charset="-120"/>
              </a:rPr>
              <a:t>SimpleNet</a:t>
            </a:r>
            <a:endParaRPr lang="en-US" sz="800" dirty="0"/>
          </a:p>
        </p:txBody>
      </p:sp>
      <p:sp>
        <p:nvSpPr>
          <p:cNvPr id="24" name="Text 18"/>
          <p:cNvSpPr/>
          <p:nvPr/>
        </p:nvSpPr>
        <p:spPr>
          <a:xfrm>
            <a:off x="4813548" y="1768748"/>
            <a:ext cx="148590" cy="121136"/>
          </a:xfrm>
          <a:prstGeom prst="rect">
            <a:avLst/>
          </a:prstGeom>
          <a:noFill/>
          <a:ln/>
        </p:spPr>
        <p:txBody>
          <a:bodyPr wrap="none" lIns="0" tIns="0" rIns="0" bIns="0" rtlCol="0" anchor="t">
            <a:normAutofit/>
          </a:bodyPr>
          <a:lstStyle/>
          <a:p>
            <a:pPr algn="l" indent="0" marL="0">
              <a:lnSpc>
                <a:spcPts val="1170"/>
              </a:lnSpc>
              <a:buNone/>
            </a:pPr>
            <a:r>
              <a:rPr lang="en-US" sz="800" dirty="0">
                <a:solidFill>
                  <a:srgbClr val="00D9FF"/>
                </a:solidFill>
                <a:latin typeface="Courier New" pitchFamily="34" charset="0"/>
                <a:ea typeface="Courier New" pitchFamily="34" charset="-122"/>
                <a:cs typeface="Courier New" pitchFamily="34" charset="-120"/>
              </a:rPr>
              <a:t>to</a:t>
            </a:r>
            <a:endParaRPr lang="en-US" sz="800" dirty="0"/>
          </a:p>
        </p:txBody>
      </p:sp>
      <p:sp>
        <p:nvSpPr>
          <p:cNvPr id="25" name="Text 19"/>
          <p:cNvSpPr/>
          <p:nvPr/>
        </p:nvSpPr>
        <p:spPr>
          <a:xfrm>
            <a:off x="4999286" y="1917316"/>
            <a:ext cx="297180" cy="143490"/>
          </a:xfrm>
          <a:prstGeom prst="rect">
            <a:avLst/>
          </a:prstGeom>
          <a:noFill/>
          <a:ln/>
        </p:spPr>
        <p:txBody>
          <a:bodyPr wrap="none" lIns="0" tIns="0" rIns="0" bIns="0" rtlCol="0" anchor="t"/>
          <a:lstStyle/>
          <a:p>
            <a:pPr algn="l" indent="0" marL="0">
              <a:lnSpc>
                <a:spcPts val="1170"/>
              </a:lnSpc>
              <a:buNone/>
            </a:pPr>
            <a:r>
              <a:rPr lang="en-US" sz="800" dirty="0">
                <a:solidFill>
                  <a:srgbClr val="00D9FF"/>
                </a:solidFill>
                <a:latin typeface="Courier New" pitchFamily="34" charset="0"/>
                <a:ea typeface="Courier New" pitchFamily="34" charset="-122"/>
                <a:cs typeface="Courier New" pitchFamily="34" charset="-120"/>
              </a:rPr>
              <a:t>Adam</a:t>
            </a:r>
            <a:endParaRPr lang="en-US" sz="800" dirty="0"/>
          </a:p>
        </p:txBody>
      </p:sp>
      <p:sp>
        <p:nvSpPr>
          <p:cNvPr id="26" name="Text 20"/>
          <p:cNvSpPr/>
          <p:nvPr/>
        </p:nvSpPr>
        <p:spPr>
          <a:xfrm>
            <a:off x="6297782" y="1917316"/>
            <a:ext cx="300512" cy="121136"/>
          </a:xfrm>
          <a:prstGeom prst="rect">
            <a:avLst/>
          </a:prstGeom>
          <a:noFill/>
          <a:ln/>
        </p:spPr>
        <p:txBody>
          <a:bodyPr wrap="none" lIns="0" tIns="0" rIns="0" bIns="0" rtlCol="0" anchor="t">
            <a:normAutofit/>
          </a:bodyPr>
          <a:lstStyle/>
          <a:p>
            <a:pPr algn="l" indent="0" marL="0">
              <a:lnSpc>
                <a:spcPts val="1170"/>
              </a:lnSpc>
              <a:buNone/>
            </a:pPr>
            <a:r>
              <a:rPr lang="en-US" sz="800" dirty="0">
                <a:solidFill>
                  <a:srgbClr val="FFD166"/>
                </a:solidFill>
                <a:latin typeface="Liberation Sans Narrow" pitchFamily="34" charset="0"/>
                <a:ea typeface="Liberation Sans Narrow" pitchFamily="34" charset="-122"/>
                <a:cs typeface="Liberation Sans Narrow" pitchFamily="34" charset="-120"/>
              </a:rPr>
              <a:t>1e-3</a:t>
            </a:r>
            <a:endParaRPr lang="en-US" sz="800" dirty="0"/>
          </a:p>
        </p:txBody>
      </p:sp>
      <p:sp>
        <p:nvSpPr>
          <p:cNvPr id="27" name="Text 21"/>
          <p:cNvSpPr/>
          <p:nvPr/>
        </p:nvSpPr>
        <p:spPr>
          <a:xfrm>
            <a:off x="4581376" y="2065883"/>
            <a:ext cx="928688" cy="143490"/>
          </a:xfrm>
          <a:prstGeom prst="rect">
            <a:avLst/>
          </a:prstGeom>
          <a:noFill/>
          <a:ln/>
        </p:spPr>
        <p:txBody>
          <a:bodyPr wrap="none" lIns="0" tIns="0" rIns="0" bIns="0" rtlCol="0" anchor="t"/>
          <a:lstStyle/>
          <a:p>
            <a:pPr algn="l" indent="0" marL="0">
              <a:lnSpc>
                <a:spcPts val="1170"/>
              </a:lnSpc>
              <a:buNone/>
            </a:pPr>
            <a:r>
              <a:rPr lang="en-US" sz="731" dirty="0">
                <a:solidFill>
                  <a:srgbClr val="00D9FF"/>
                </a:solidFill>
                <a:latin typeface="Courier New" pitchFamily="34" charset="0"/>
                <a:ea typeface="Courier New" pitchFamily="34" charset="-122"/>
                <a:cs typeface="Courier New" pitchFamily="34" charset="-120"/>
              </a:rPr>
              <a:t>CrossEntropyLoss</a:t>
            </a:r>
            <a:endParaRPr lang="en-US" sz="731" dirty="0"/>
          </a:p>
        </p:txBody>
      </p:sp>
      <p:sp>
        <p:nvSpPr>
          <p:cNvPr id="28" name="Text 22"/>
          <p:cNvSpPr/>
          <p:nvPr/>
        </p:nvSpPr>
        <p:spPr>
          <a:xfrm>
            <a:off x="3884861" y="2363019"/>
            <a:ext cx="1134070" cy="121136"/>
          </a:xfrm>
          <a:prstGeom prst="rect">
            <a:avLst/>
          </a:prstGeom>
          <a:noFill/>
          <a:ln/>
        </p:spPr>
        <p:txBody>
          <a:bodyPr wrap="none" lIns="0" tIns="0" rIns="0" bIns="0" rtlCol="0" anchor="t">
            <a:normAutofit/>
          </a:bodyPr>
          <a:lstStyle/>
          <a:p>
            <a:pPr algn="l" indent="0" marL="0">
              <a:lnSpc>
                <a:spcPts val="1170"/>
              </a:lnSpc>
              <a:buNone/>
            </a:pPr>
            <a:r>
              <a:rPr lang="en-US" sz="800" dirty="0">
                <a:solidFill>
                  <a:srgbClr val="6B86B5"/>
                </a:solidFill>
                <a:latin typeface="Courier New" pitchFamily="34" charset="0"/>
                <a:ea typeface="Courier New" pitchFamily="34" charset="-122"/>
                <a:cs typeface="Courier New" pitchFamily="34" charset="-120"/>
              </a:rPr>
              <a:t># 2. حلقة التدريب</a:t>
            </a:r>
            <a:endParaRPr lang="en-US" sz="800" dirty="0"/>
          </a:p>
        </p:txBody>
      </p:sp>
      <p:sp>
        <p:nvSpPr>
          <p:cNvPr id="29" name="Text 23"/>
          <p:cNvSpPr/>
          <p:nvPr/>
        </p:nvSpPr>
        <p:spPr>
          <a:xfrm>
            <a:off x="3884861" y="2511586"/>
            <a:ext cx="222885" cy="143490"/>
          </a:xfrm>
          <a:prstGeom prst="rect">
            <a:avLst/>
          </a:prstGeom>
          <a:noFill/>
          <a:ln/>
        </p:spPr>
        <p:txBody>
          <a:bodyPr wrap="none" lIns="0" tIns="0" rIns="0" bIns="0" rtlCol="0" anchor="t"/>
          <a:lstStyle/>
          <a:p>
            <a:pPr algn="l" indent="0" marL="0">
              <a:lnSpc>
                <a:spcPts val="1170"/>
              </a:lnSpc>
              <a:buNone/>
            </a:pPr>
            <a:r>
              <a:rPr lang="en-US" sz="800" dirty="0">
                <a:solidFill>
                  <a:srgbClr val="FF6BC6"/>
                </a:solidFill>
                <a:latin typeface="Courier New" pitchFamily="34" charset="0"/>
                <a:ea typeface="Courier New" pitchFamily="34" charset="-122"/>
                <a:cs typeface="Courier New" pitchFamily="34" charset="-120"/>
              </a:rPr>
              <a:t>for</a:t>
            </a:r>
            <a:endParaRPr lang="en-US" sz="800" dirty="0"/>
          </a:p>
        </p:txBody>
      </p:sp>
      <p:sp>
        <p:nvSpPr>
          <p:cNvPr id="30" name="Text 24"/>
          <p:cNvSpPr/>
          <p:nvPr/>
        </p:nvSpPr>
        <p:spPr>
          <a:xfrm>
            <a:off x="4349204" y="2511586"/>
            <a:ext cx="148590" cy="143490"/>
          </a:xfrm>
          <a:prstGeom prst="rect">
            <a:avLst/>
          </a:prstGeom>
          <a:noFill/>
          <a:ln/>
        </p:spPr>
        <p:txBody>
          <a:bodyPr wrap="none" lIns="0" tIns="0" rIns="0" bIns="0" rtlCol="0" anchor="t"/>
          <a:lstStyle/>
          <a:p>
            <a:pPr algn="l" indent="0" marL="0">
              <a:lnSpc>
                <a:spcPts val="1170"/>
              </a:lnSpc>
              <a:buNone/>
            </a:pPr>
            <a:r>
              <a:rPr lang="en-US" sz="800" dirty="0">
                <a:solidFill>
                  <a:srgbClr val="FF6BC6"/>
                </a:solidFill>
                <a:latin typeface="Courier New" pitchFamily="34" charset="0"/>
                <a:ea typeface="Courier New" pitchFamily="34" charset="-122"/>
                <a:cs typeface="Courier New" pitchFamily="34" charset="-120"/>
              </a:rPr>
              <a:t>in</a:t>
            </a:r>
            <a:endParaRPr lang="en-US" sz="800" dirty="0"/>
          </a:p>
        </p:txBody>
      </p:sp>
      <p:sp>
        <p:nvSpPr>
          <p:cNvPr id="31" name="Text 25"/>
          <p:cNvSpPr/>
          <p:nvPr/>
        </p:nvSpPr>
        <p:spPr>
          <a:xfrm>
            <a:off x="4488507" y="2511586"/>
            <a:ext cx="371475" cy="121136"/>
          </a:xfrm>
          <a:prstGeom prst="rect">
            <a:avLst/>
          </a:prstGeom>
          <a:noFill/>
          <a:ln/>
        </p:spPr>
        <p:txBody>
          <a:bodyPr wrap="none" lIns="0" tIns="0" rIns="0" bIns="0" rtlCol="0" anchor="t">
            <a:normAutofit/>
          </a:bodyPr>
          <a:lstStyle/>
          <a:p>
            <a:pPr algn="l" indent="0" marL="0">
              <a:lnSpc>
                <a:spcPts val="1170"/>
              </a:lnSpc>
              <a:buNone/>
            </a:pPr>
            <a:r>
              <a:rPr lang="en-US" sz="800" dirty="0">
                <a:solidFill>
                  <a:srgbClr val="00D9FF"/>
                </a:solidFill>
                <a:latin typeface="Courier New" pitchFamily="34" charset="0"/>
                <a:ea typeface="Courier New" pitchFamily="34" charset="-122"/>
                <a:cs typeface="Courier New" pitchFamily="34" charset="-120"/>
              </a:rPr>
              <a:t>range</a:t>
            </a:r>
            <a:endParaRPr lang="en-US" sz="800" dirty="0"/>
          </a:p>
        </p:txBody>
      </p:sp>
      <p:sp>
        <p:nvSpPr>
          <p:cNvPr id="32" name="Text 26"/>
          <p:cNvSpPr/>
          <p:nvPr/>
        </p:nvSpPr>
        <p:spPr>
          <a:xfrm>
            <a:off x="4070598" y="2660154"/>
            <a:ext cx="222885" cy="143490"/>
          </a:xfrm>
          <a:prstGeom prst="rect">
            <a:avLst/>
          </a:prstGeom>
          <a:noFill/>
          <a:ln/>
        </p:spPr>
        <p:txBody>
          <a:bodyPr wrap="none" lIns="0" tIns="0" rIns="0" bIns="0" rtlCol="0" anchor="t"/>
          <a:lstStyle/>
          <a:p>
            <a:pPr algn="l" indent="0" marL="0">
              <a:lnSpc>
                <a:spcPts val="1170"/>
              </a:lnSpc>
              <a:buNone/>
            </a:pPr>
            <a:r>
              <a:rPr lang="en-US" sz="800" dirty="0">
                <a:solidFill>
                  <a:srgbClr val="FF6BC6"/>
                </a:solidFill>
                <a:latin typeface="Courier New" pitchFamily="34" charset="0"/>
                <a:ea typeface="Courier New" pitchFamily="34" charset="-122"/>
                <a:cs typeface="Courier New" pitchFamily="34" charset="-120"/>
              </a:rPr>
              <a:t>for</a:t>
            </a:r>
            <a:endParaRPr lang="en-US" sz="800" dirty="0"/>
          </a:p>
        </p:txBody>
      </p:sp>
      <p:sp>
        <p:nvSpPr>
          <p:cNvPr id="33" name="Text 27"/>
          <p:cNvSpPr/>
          <p:nvPr/>
        </p:nvSpPr>
        <p:spPr>
          <a:xfrm>
            <a:off x="5045720" y="2660154"/>
            <a:ext cx="148590" cy="121136"/>
          </a:xfrm>
          <a:prstGeom prst="rect">
            <a:avLst/>
          </a:prstGeom>
          <a:noFill/>
          <a:ln/>
        </p:spPr>
        <p:txBody>
          <a:bodyPr wrap="none" lIns="0" tIns="0" rIns="0" bIns="0" rtlCol="0" anchor="t">
            <a:normAutofit/>
          </a:bodyPr>
          <a:lstStyle/>
          <a:p>
            <a:pPr algn="l" indent="0" marL="0">
              <a:lnSpc>
                <a:spcPts val="1170"/>
              </a:lnSpc>
              <a:buNone/>
            </a:pPr>
            <a:r>
              <a:rPr lang="en-US" sz="800" dirty="0">
                <a:solidFill>
                  <a:srgbClr val="FF6BC6"/>
                </a:solidFill>
                <a:latin typeface="Courier New" pitchFamily="34" charset="0"/>
                <a:ea typeface="Courier New" pitchFamily="34" charset="-122"/>
                <a:cs typeface="Courier New" pitchFamily="34" charset="-120"/>
              </a:rPr>
              <a:t>in</a:t>
            </a:r>
            <a:endParaRPr lang="en-US" sz="800" dirty="0"/>
          </a:p>
        </p:txBody>
      </p:sp>
      <p:sp>
        <p:nvSpPr>
          <p:cNvPr id="34" name="Text 28"/>
          <p:cNvSpPr/>
          <p:nvPr/>
        </p:nvSpPr>
        <p:spPr>
          <a:xfrm>
            <a:off x="5092154" y="2808722"/>
            <a:ext cx="148590" cy="121136"/>
          </a:xfrm>
          <a:prstGeom prst="rect">
            <a:avLst/>
          </a:prstGeom>
          <a:noFill/>
          <a:ln/>
        </p:spPr>
        <p:txBody>
          <a:bodyPr wrap="none" lIns="0" tIns="0" rIns="0" bIns="0" rtlCol="0" anchor="t">
            <a:normAutofit/>
          </a:bodyPr>
          <a:lstStyle/>
          <a:p>
            <a:pPr algn="l" indent="0" marL="0">
              <a:lnSpc>
                <a:spcPts val="1170"/>
              </a:lnSpc>
              <a:buNone/>
            </a:pPr>
            <a:r>
              <a:rPr lang="en-US" sz="800" dirty="0">
                <a:solidFill>
                  <a:srgbClr val="00D9FF"/>
                </a:solidFill>
                <a:latin typeface="Courier New" pitchFamily="34" charset="0"/>
                <a:ea typeface="Courier New" pitchFamily="34" charset="-122"/>
                <a:cs typeface="Courier New" pitchFamily="34" charset="-120"/>
              </a:rPr>
              <a:t>to</a:t>
            </a:r>
            <a:endParaRPr lang="en-US" sz="800" dirty="0"/>
          </a:p>
        </p:txBody>
      </p:sp>
      <p:sp>
        <p:nvSpPr>
          <p:cNvPr id="35" name="Text 29"/>
          <p:cNvSpPr/>
          <p:nvPr/>
        </p:nvSpPr>
        <p:spPr>
          <a:xfrm>
            <a:off x="5092154" y="2957289"/>
            <a:ext cx="148590" cy="143490"/>
          </a:xfrm>
          <a:prstGeom prst="rect">
            <a:avLst/>
          </a:prstGeom>
          <a:noFill/>
          <a:ln/>
        </p:spPr>
        <p:txBody>
          <a:bodyPr wrap="none" lIns="0" tIns="0" rIns="0" bIns="0" rtlCol="0" anchor="t"/>
          <a:lstStyle/>
          <a:p>
            <a:pPr algn="l" indent="0" marL="0">
              <a:lnSpc>
                <a:spcPts val="1170"/>
              </a:lnSpc>
              <a:buNone/>
            </a:pPr>
            <a:r>
              <a:rPr lang="en-US" sz="800" dirty="0">
                <a:solidFill>
                  <a:srgbClr val="00D9FF"/>
                </a:solidFill>
                <a:latin typeface="Courier New" pitchFamily="34" charset="0"/>
                <a:ea typeface="Courier New" pitchFamily="34" charset="-122"/>
                <a:cs typeface="Courier New" pitchFamily="34" charset="-120"/>
              </a:rPr>
              <a:t>to</a:t>
            </a:r>
            <a:endParaRPr lang="en-US" sz="800" dirty="0"/>
          </a:p>
        </p:txBody>
      </p:sp>
      <p:sp>
        <p:nvSpPr>
          <p:cNvPr id="36" name="Text 30"/>
          <p:cNvSpPr/>
          <p:nvPr/>
        </p:nvSpPr>
        <p:spPr>
          <a:xfrm>
            <a:off x="4235439" y="3254425"/>
            <a:ext cx="854395" cy="143490"/>
          </a:xfrm>
          <a:prstGeom prst="rect">
            <a:avLst/>
          </a:prstGeom>
          <a:noFill/>
          <a:ln/>
        </p:spPr>
        <p:txBody>
          <a:bodyPr wrap="none" lIns="0" tIns="0" rIns="0" bIns="0" rtlCol="0" anchor="t"/>
          <a:lstStyle/>
          <a:p>
            <a:pPr algn="l" indent="0" marL="0">
              <a:lnSpc>
                <a:spcPts val="1170"/>
              </a:lnSpc>
              <a:buNone/>
            </a:pPr>
            <a:r>
              <a:rPr lang="en-US" sz="800" dirty="0">
                <a:solidFill>
                  <a:srgbClr val="6B86B5"/>
                </a:solidFill>
                <a:latin typeface="Courier New" pitchFamily="34" charset="0"/>
                <a:ea typeface="Courier New" pitchFamily="34" charset="-122"/>
                <a:cs typeface="Courier New" pitchFamily="34" charset="-120"/>
              </a:rPr>
              <a:t># Forward pass</a:t>
            </a:r>
            <a:endParaRPr lang="en-US" sz="800" dirty="0"/>
          </a:p>
        </p:txBody>
      </p:sp>
      <p:sp>
        <p:nvSpPr>
          <p:cNvPr id="37" name="Text 31"/>
          <p:cNvSpPr/>
          <p:nvPr/>
        </p:nvSpPr>
        <p:spPr>
          <a:xfrm>
            <a:off x="4256336" y="3848695"/>
            <a:ext cx="870645" cy="121136"/>
          </a:xfrm>
          <a:prstGeom prst="rect">
            <a:avLst/>
          </a:prstGeom>
          <a:noFill/>
          <a:ln/>
        </p:spPr>
        <p:txBody>
          <a:bodyPr wrap="none" lIns="0" tIns="0" rIns="0" bIns="0" rtlCol="0" anchor="t">
            <a:normAutofit/>
          </a:bodyPr>
          <a:lstStyle/>
          <a:p>
            <a:pPr algn="l" indent="0" marL="0">
              <a:lnSpc>
                <a:spcPts val="1170"/>
              </a:lnSpc>
              <a:buNone/>
            </a:pPr>
            <a:r>
              <a:rPr lang="en-US" sz="800" dirty="0">
                <a:solidFill>
                  <a:srgbClr val="6B86B5"/>
                </a:solidFill>
                <a:latin typeface="Courier New" pitchFamily="34" charset="0"/>
                <a:ea typeface="Courier New" pitchFamily="34" charset="-122"/>
                <a:cs typeface="Courier New" pitchFamily="34" charset="-120"/>
              </a:rPr>
              <a:t># Backward pass</a:t>
            </a:r>
            <a:endParaRPr lang="en-US" sz="800" dirty="0"/>
          </a:p>
        </p:txBody>
      </p:sp>
      <p:sp>
        <p:nvSpPr>
          <p:cNvPr id="38" name="Text 32"/>
          <p:cNvSpPr/>
          <p:nvPr/>
        </p:nvSpPr>
        <p:spPr>
          <a:xfrm>
            <a:off x="4720679" y="3997263"/>
            <a:ext cx="597610" cy="121136"/>
          </a:xfrm>
          <a:prstGeom prst="rect">
            <a:avLst/>
          </a:prstGeom>
          <a:noFill/>
          <a:ln/>
        </p:spPr>
        <p:txBody>
          <a:bodyPr wrap="none" lIns="0" tIns="0" rIns="0" bIns="0" rtlCol="0" anchor="t">
            <a:normAutofit/>
          </a:bodyPr>
          <a:lstStyle/>
          <a:p>
            <a:pPr algn="l" indent="0" marL="0">
              <a:lnSpc>
                <a:spcPts val="1170"/>
              </a:lnSpc>
              <a:buNone/>
            </a:pPr>
            <a:r>
              <a:rPr lang="en-US" sz="800" dirty="0">
                <a:solidFill>
                  <a:srgbClr val="00D9FF"/>
                </a:solidFill>
                <a:latin typeface="Courier New" pitchFamily="34" charset="0"/>
                <a:ea typeface="Courier New" pitchFamily="34" charset="-122"/>
                <a:cs typeface="Courier New" pitchFamily="34" charset="-120"/>
              </a:rPr>
              <a:t>zero_grad</a:t>
            </a:r>
            <a:endParaRPr lang="en-US" sz="800" dirty="0"/>
          </a:p>
        </p:txBody>
      </p:sp>
      <p:sp>
        <p:nvSpPr>
          <p:cNvPr id="39" name="Text 33"/>
          <p:cNvSpPr/>
          <p:nvPr/>
        </p:nvSpPr>
        <p:spPr>
          <a:xfrm>
            <a:off x="4486965" y="4145831"/>
            <a:ext cx="534294" cy="121136"/>
          </a:xfrm>
          <a:prstGeom prst="rect">
            <a:avLst/>
          </a:prstGeom>
          <a:noFill/>
          <a:ln/>
        </p:spPr>
        <p:txBody>
          <a:bodyPr wrap="none" lIns="0" tIns="0" rIns="0" bIns="0" rtlCol="0" anchor="t">
            <a:normAutofit/>
          </a:bodyPr>
          <a:lstStyle/>
          <a:p>
            <a:pPr algn="l" indent="0" marL="0">
              <a:lnSpc>
                <a:spcPts val="1170"/>
              </a:lnSpc>
              <a:buNone/>
            </a:pPr>
            <a:r>
              <a:rPr lang="en-US" sz="800" dirty="0">
                <a:solidFill>
                  <a:srgbClr val="00D9FF"/>
                </a:solidFill>
                <a:latin typeface="Courier New" pitchFamily="34" charset="0"/>
                <a:ea typeface="Courier New" pitchFamily="34" charset="-122"/>
                <a:cs typeface="Courier New" pitchFamily="34" charset="-120"/>
              </a:rPr>
              <a:t>backward</a:t>
            </a:r>
            <a:endParaRPr lang="en-US" sz="800" dirty="0"/>
          </a:p>
        </p:txBody>
      </p:sp>
      <p:sp>
        <p:nvSpPr>
          <p:cNvPr id="40" name="Text 34"/>
          <p:cNvSpPr/>
          <p:nvPr/>
        </p:nvSpPr>
        <p:spPr>
          <a:xfrm>
            <a:off x="4720679" y="4294398"/>
            <a:ext cx="297180" cy="143490"/>
          </a:xfrm>
          <a:prstGeom prst="rect">
            <a:avLst/>
          </a:prstGeom>
          <a:noFill/>
          <a:ln/>
        </p:spPr>
        <p:txBody>
          <a:bodyPr wrap="none" lIns="0" tIns="0" rIns="0" bIns="0" rtlCol="0" anchor="t"/>
          <a:lstStyle/>
          <a:p>
            <a:pPr algn="l" indent="0" marL="0">
              <a:lnSpc>
                <a:spcPts val="1170"/>
              </a:lnSpc>
              <a:buNone/>
            </a:pPr>
            <a:r>
              <a:rPr lang="en-US" sz="800" dirty="0">
                <a:solidFill>
                  <a:srgbClr val="00D9FF"/>
                </a:solidFill>
                <a:latin typeface="Courier New" pitchFamily="34" charset="0"/>
                <a:ea typeface="Courier New" pitchFamily="34" charset="-122"/>
                <a:cs typeface="Courier New" pitchFamily="34" charset="-120"/>
              </a:rPr>
              <a:t>step</a:t>
            </a:r>
            <a:endParaRPr lang="en-US" sz="800" dirty="0"/>
          </a:p>
        </p:txBody>
      </p:sp>
      <p:sp>
        <p:nvSpPr>
          <p:cNvPr id="41" name="Text 35"/>
          <p:cNvSpPr/>
          <p:nvPr/>
        </p:nvSpPr>
        <p:spPr>
          <a:xfrm>
            <a:off x="4070598" y="4591534"/>
            <a:ext cx="371475" cy="91440"/>
          </a:xfrm>
          <a:prstGeom prst="rect">
            <a:avLst/>
          </a:prstGeom>
          <a:noFill/>
          <a:ln/>
        </p:spPr>
        <p:txBody>
          <a:bodyPr wrap="none" lIns="0" tIns="0" rIns="0" bIns="0" rtlCol="0" anchor="t"/>
          <a:lstStyle/>
          <a:p>
            <a:pPr algn="l" indent="0" marL="0">
              <a:lnSpc>
                <a:spcPts val="1170"/>
              </a:lnSpc>
              <a:buNone/>
            </a:pPr>
            <a:r>
              <a:rPr lang="en-US" sz="800" dirty="0">
                <a:solidFill>
                  <a:srgbClr val="00D9FF"/>
                </a:solidFill>
                <a:latin typeface="Courier New" pitchFamily="34" charset="0"/>
                <a:ea typeface="Courier New" pitchFamily="34" charset="-122"/>
                <a:cs typeface="Courier New" pitchFamily="34" charset="-120"/>
              </a:rPr>
              <a:t>print</a:t>
            </a:r>
            <a:endParaRPr lang="en-US" sz="800" dirty="0"/>
          </a:p>
        </p:txBody>
      </p:sp>
      <p:sp>
        <p:nvSpPr>
          <p:cNvPr id="42" name="Text 36"/>
          <p:cNvSpPr/>
          <p:nvPr/>
        </p:nvSpPr>
        <p:spPr>
          <a:xfrm>
            <a:off x="4349204" y="4591534"/>
            <a:ext cx="2056114" cy="91440"/>
          </a:xfrm>
          <a:prstGeom prst="rect">
            <a:avLst/>
          </a:prstGeom>
          <a:noFill/>
          <a:ln/>
        </p:spPr>
        <p:txBody>
          <a:bodyPr wrap="none" lIns="0" tIns="0" rIns="0" bIns="0" rtlCol="0" anchor="t"/>
          <a:lstStyle/>
          <a:p>
            <a:pPr algn="l" indent="0" marL="0">
              <a:lnSpc>
                <a:spcPts val="1170"/>
              </a:lnSpc>
              <a:buNone/>
            </a:pPr>
            <a:r>
              <a:rPr lang="en-US" sz="731" dirty="0">
                <a:solidFill>
                  <a:srgbClr val="00F5A0"/>
                </a:solidFill>
                <a:latin typeface="Courier New" pitchFamily="34" charset="0"/>
                <a:ea typeface="Courier New" pitchFamily="34" charset="-122"/>
                <a:cs typeface="Courier New" pitchFamily="34" charset="-120"/>
              </a:rPr>
              <a:t>f'Epoch {epoch}, Loss: {loss.item():.4f}'</a:t>
            </a:r>
            <a:endParaRPr lang="en-US" sz="731" dirty="0"/>
          </a:p>
        </p:txBody>
      </p:sp>
      <p:sp>
        <p:nvSpPr>
          <p:cNvPr id="43" name="Text 37"/>
          <p:cNvSpPr/>
          <p:nvPr/>
        </p:nvSpPr>
        <p:spPr>
          <a:xfrm>
            <a:off x="332296" y="1298711"/>
            <a:ext cx="3284674" cy="630994"/>
          </a:xfrm>
          <a:prstGeom prst="roundRect">
            <a:avLst>
              <a:gd name="adj" fmla="val 27171"/>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pic>
        <p:nvPicPr>
          <p:cNvPr id="44" name="Image 4" descr="preencoded.png">    </p:cNvPr>
          <p:cNvPicPr>
            <a:picLocks noChangeAspect="1"/>
          </p:cNvPicPr>
          <p:nvPr/>
        </p:nvPicPr>
        <p:blipFill>
          <a:blip r:embed="rId5"/>
          <a:stretch>
            <a:fillRect/>
          </a:stretch>
        </p:blipFill>
        <p:spPr>
          <a:xfrm>
            <a:off x="3284786" y="1492709"/>
            <a:ext cx="242888" cy="242888"/>
          </a:xfrm>
          <a:prstGeom prst="rect">
            <a:avLst/>
          </a:prstGeom>
        </p:spPr>
      </p:pic>
      <p:sp>
        <p:nvSpPr>
          <p:cNvPr id="45" name="Text 38"/>
          <p:cNvSpPr/>
          <p:nvPr/>
        </p:nvSpPr>
        <p:spPr>
          <a:xfrm>
            <a:off x="3284786" y="1492709"/>
            <a:ext cx="242888" cy="242888"/>
          </a:xfrm>
          <a:prstGeom prst="rect">
            <a:avLst/>
          </a:prstGeom>
          <a:noFill/>
          <a:ln/>
        </p:spPr>
        <p:txBody>
          <a:bodyPr wrap="none" lIns="0" tIns="0" rIns="0" bIns="0" rtlCol="0" anchor="ctr"/>
          <a:lstStyle/>
          <a:p>
            <a:pPr algn="ctr" indent="0" marL="0">
              <a:lnSpc>
                <a:spcPts val="1266"/>
              </a:lnSpc>
              <a:buNone/>
            </a:pPr>
            <a:r>
              <a:rPr lang="en-US" sz="844" b="1" dirty="0">
                <a:solidFill>
                  <a:srgbClr val="FFFFFF"/>
                </a:solidFill>
                <a:latin typeface="Liberation Sans Narrow" pitchFamily="34" charset="0"/>
                <a:ea typeface="Liberation Sans Narrow" pitchFamily="34" charset="-122"/>
                <a:cs typeface="Liberation Sans Narrow" pitchFamily="34" charset="-120"/>
              </a:rPr>
              <a:t>1</a:t>
            </a:r>
            <a:endParaRPr lang="en-US" sz="844" dirty="0"/>
          </a:p>
        </p:txBody>
      </p:sp>
      <p:sp>
        <p:nvSpPr>
          <p:cNvPr id="46" name="Text 39"/>
          <p:cNvSpPr/>
          <p:nvPr/>
        </p:nvSpPr>
        <p:spPr>
          <a:xfrm>
            <a:off x="3113336" y="1500634"/>
            <a:ext cx="100013" cy="100013"/>
          </a:xfrm>
          <a:prstGeom prst="rect">
            <a:avLst/>
          </a:prstGeom>
          <a:noFill/>
          <a:ln/>
        </p:spPr>
        <p:txBody>
          <a:bodyPr wrap="none" lIns="0" tIns="0" rIns="0" bIns="0" rtlCol="0" anchor="ctr"/>
          <a:lstStyle/>
          <a:p>
            <a:pPr algn="ctr" indent="0" marL="0">
              <a:buNone/>
            </a:pPr>
            <a:r>
              <a:rPr lang="en-US" sz="984" dirty="0">
                <a:solidFill>
                  <a:srgbClr val="00D9FF"/>
                </a:solidFill>
                <a:latin typeface="Segoe UI Symbol" pitchFamily="34" charset="0"/>
                <a:ea typeface="Segoe UI Symbol" pitchFamily="34" charset="-122"/>
                <a:cs typeface="Segoe UI Symbol" pitchFamily="34" charset="-120"/>
              </a:rPr>
              <a:t>⚙</a:t>
            </a:r>
            <a:endParaRPr lang="en-US" sz="984" dirty="0"/>
          </a:p>
        </p:txBody>
      </p:sp>
      <p:sp>
        <p:nvSpPr>
          <p:cNvPr id="47" name="Text 40"/>
          <p:cNvSpPr/>
          <p:nvPr/>
        </p:nvSpPr>
        <p:spPr>
          <a:xfrm>
            <a:off x="2266801" y="1470273"/>
            <a:ext cx="1004590" cy="173593"/>
          </a:xfrm>
          <a:prstGeom prst="rect">
            <a:avLst/>
          </a:prstGeom>
          <a:noFill/>
          <a:ln/>
        </p:spPr>
        <p:txBody>
          <a:bodyPr wrap="none" lIns="0" tIns="0" rIns="0" bIns="0" rtlCol="0" anchor="t"/>
          <a:lstStyle/>
          <a:p>
            <a:pPr algn="l" indent="0" marL="0">
              <a:lnSpc>
                <a:spcPts val="1266"/>
              </a:lnSpc>
              <a:buNone/>
            </a:pPr>
            <a:r>
              <a:rPr lang="en-US" sz="844" b="1" dirty="0">
                <a:solidFill>
                  <a:srgbClr val="EAF6FF"/>
                </a:solidFill>
                <a:latin typeface="Carlito" pitchFamily="34" charset="0"/>
                <a:ea typeface="Carlito" pitchFamily="34" charset="-122"/>
                <a:cs typeface="Carlito" pitchFamily="34" charset="-120"/>
              </a:rPr>
              <a:t>إعداد النموذج</a:t>
            </a:r>
            <a:endParaRPr lang="en-US" sz="844" dirty="0"/>
          </a:p>
        </p:txBody>
      </p:sp>
      <p:sp>
        <p:nvSpPr>
          <p:cNvPr id="48" name="Text 41"/>
          <p:cNvSpPr/>
          <p:nvPr/>
        </p:nvSpPr>
        <p:spPr>
          <a:xfrm>
            <a:off x="421593" y="1638151"/>
            <a:ext cx="3015096" cy="153591"/>
          </a:xfrm>
          <a:prstGeom prst="rect">
            <a:avLst/>
          </a:prstGeom>
          <a:noFill/>
          <a:ln/>
        </p:spPr>
        <p:txBody>
          <a:bodyPr wrap="square" lIns="0" tIns="0" rIns="0" bIns="0" rtlCol="0" anchor="t"/>
          <a:lstStyle/>
          <a:p>
            <a:pPr algn="l" indent="0" marL="0">
              <a:lnSpc>
                <a:spcPts val="945"/>
              </a:lnSpc>
              <a:buNone/>
            </a:pPr>
            <a:r>
              <a:rPr lang="en-US" sz="800" dirty="0">
                <a:solidFill>
                  <a:srgbClr val="8AA0CC"/>
                </a:solidFill>
                <a:latin typeface="Carlito" pitchFamily="34" charset="0"/>
                <a:ea typeface="Carlito" pitchFamily="34" charset="-122"/>
                <a:cs typeface="Carlito" pitchFamily="34" charset="-120"/>
              </a:rPr>
              <a:t>تعريف بنية الشبكة ونقلها إلى GPU</a:t>
            </a:r>
            <a:endParaRPr lang="en-US" sz="800" dirty="0"/>
          </a:p>
        </p:txBody>
      </p:sp>
      <p:pic>
        <p:nvPicPr>
          <p:cNvPr id="49" name="Image 5" descr="preencoded.png">    </p:cNvPr>
          <p:cNvPicPr>
            <a:picLocks noChangeAspect="1"/>
          </p:cNvPicPr>
          <p:nvPr/>
        </p:nvPicPr>
        <p:blipFill>
          <a:blip r:embed="rId6"/>
          <a:stretch>
            <a:fillRect/>
          </a:stretch>
        </p:blipFill>
        <p:spPr>
          <a:xfrm>
            <a:off x="328724" y="1997571"/>
            <a:ext cx="3291818" cy="638249"/>
          </a:xfrm>
          <a:prstGeom prst="rect">
            <a:avLst/>
          </a:prstGeom>
        </p:spPr>
      </p:pic>
      <p:sp>
        <p:nvSpPr>
          <p:cNvPr id="50" name="Text 42"/>
          <p:cNvSpPr/>
          <p:nvPr/>
        </p:nvSpPr>
        <p:spPr>
          <a:xfrm>
            <a:off x="332296" y="2001143"/>
            <a:ext cx="3284674" cy="631106"/>
          </a:xfrm>
          <a:prstGeom prst="roundRect">
            <a:avLst>
              <a:gd name="adj" fmla="val 27167"/>
            </a:avLst>
          </a:prstGeom>
          <a:noFill/>
          <a:ln w="7144">
            <a:solidFill>
              <a:srgbClr val="B845FF"/>
            </a:solidFill>
            <a:prstDash val="solid"/>
          </a:ln>
        </p:spPr>
        <p:txBody>
          <a:bodyPr wrap="square" rtlCol="0" anchor="ctr"/>
          <a:lstStyle/>
          <a:p>
            <a:pPr indent="0" marL="0">
              <a:buNone/>
            </a:pPr>
            <a:endParaRPr lang="en-US" dirty="0"/>
          </a:p>
        </p:txBody>
      </p:sp>
      <p:pic>
        <p:nvPicPr>
          <p:cNvPr id="51" name="Image 6" descr="preencoded.png">    </p:cNvPr>
          <p:cNvPicPr>
            <a:picLocks noChangeAspect="1"/>
          </p:cNvPicPr>
          <p:nvPr/>
        </p:nvPicPr>
        <p:blipFill>
          <a:blip r:embed="rId7"/>
          <a:stretch>
            <a:fillRect/>
          </a:stretch>
        </p:blipFill>
        <p:spPr>
          <a:xfrm>
            <a:off x="3284786" y="2195252"/>
            <a:ext cx="242888" cy="242888"/>
          </a:xfrm>
          <a:prstGeom prst="rect">
            <a:avLst/>
          </a:prstGeom>
        </p:spPr>
      </p:pic>
      <p:sp>
        <p:nvSpPr>
          <p:cNvPr id="52" name="Text 43"/>
          <p:cNvSpPr/>
          <p:nvPr/>
        </p:nvSpPr>
        <p:spPr>
          <a:xfrm>
            <a:off x="3284786" y="2195252"/>
            <a:ext cx="242888" cy="242888"/>
          </a:xfrm>
          <a:prstGeom prst="rect">
            <a:avLst/>
          </a:prstGeom>
          <a:noFill/>
          <a:ln/>
        </p:spPr>
        <p:txBody>
          <a:bodyPr wrap="none" lIns="0" tIns="0" rIns="0" bIns="0" rtlCol="0" anchor="ctr"/>
          <a:lstStyle/>
          <a:p>
            <a:pPr algn="ctr" indent="0" marL="0">
              <a:lnSpc>
                <a:spcPts val="1266"/>
              </a:lnSpc>
              <a:buNone/>
            </a:pPr>
            <a:r>
              <a:rPr lang="en-US" sz="844" b="1" dirty="0">
                <a:solidFill>
                  <a:srgbClr val="FFFFFF"/>
                </a:solidFill>
                <a:latin typeface="Liberation Sans Narrow" pitchFamily="34" charset="0"/>
                <a:ea typeface="Liberation Sans Narrow" pitchFamily="34" charset="-122"/>
                <a:cs typeface="Liberation Sans Narrow" pitchFamily="34" charset="-120"/>
              </a:rPr>
              <a:t>2</a:t>
            </a:r>
            <a:endParaRPr lang="en-US" sz="844" dirty="0"/>
          </a:p>
        </p:txBody>
      </p:sp>
      <p:sp>
        <p:nvSpPr>
          <p:cNvPr id="53" name="Text 44"/>
          <p:cNvSpPr/>
          <p:nvPr/>
        </p:nvSpPr>
        <p:spPr>
          <a:xfrm>
            <a:off x="3113336" y="2203066"/>
            <a:ext cx="100013" cy="100013"/>
          </a:xfrm>
          <a:prstGeom prst="rect">
            <a:avLst/>
          </a:prstGeom>
          <a:noFill/>
          <a:ln/>
        </p:spPr>
        <p:txBody>
          <a:bodyPr wrap="none" lIns="0" tIns="0" rIns="0" bIns="0" rtlCol="0" anchor="ctr"/>
          <a:lstStyle/>
          <a:p>
            <a:pPr algn="ctr" indent="0" marL="0">
              <a:buNone/>
            </a:pPr>
            <a:r>
              <a:rPr lang="en-US" sz="984" dirty="0">
                <a:solidFill>
                  <a:srgbClr val="B845FF"/>
                </a:solidFill>
                <a:latin typeface="Segoe UI Symbol" pitchFamily="34" charset="0"/>
                <a:ea typeface="Segoe UI Symbol" pitchFamily="34" charset="-122"/>
                <a:cs typeface="Segoe UI Symbol" pitchFamily="34" charset="-120"/>
              </a:rPr>
              <a:t>⚙</a:t>
            </a:r>
            <a:endParaRPr lang="en-US" sz="984" dirty="0"/>
          </a:p>
        </p:txBody>
      </p:sp>
      <p:sp>
        <p:nvSpPr>
          <p:cNvPr id="54" name="Text 45"/>
          <p:cNvSpPr/>
          <p:nvPr/>
        </p:nvSpPr>
        <p:spPr>
          <a:xfrm>
            <a:off x="2331095" y="2172705"/>
            <a:ext cx="924223" cy="173593"/>
          </a:xfrm>
          <a:prstGeom prst="rect">
            <a:avLst/>
          </a:prstGeom>
          <a:noFill/>
          <a:ln/>
        </p:spPr>
        <p:txBody>
          <a:bodyPr wrap="none" lIns="0" tIns="0" rIns="0" bIns="0" rtlCol="0" anchor="t"/>
          <a:lstStyle/>
          <a:p>
            <a:pPr algn="l" indent="0" marL="0">
              <a:lnSpc>
                <a:spcPts val="1266"/>
              </a:lnSpc>
              <a:buNone/>
            </a:pPr>
            <a:r>
              <a:rPr lang="en-US" sz="844" b="1" dirty="0">
                <a:solidFill>
                  <a:srgbClr val="EAF6FF"/>
                </a:solidFill>
                <a:latin typeface="Carlito" pitchFamily="34" charset="0"/>
                <a:ea typeface="Carlito" pitchFamily="34" charset="-122"/>
                <a:cs typeface="Carlito" pitchFamily="34" charset="-120"/>
              </a:rPr>
              <a:t>تعريف المحسّن</a:t>
            </a:r>
            <a:endParaRPr lang="en-US" sz="844" dirty="0"/>
          </a:p>
        </p:txBody>
      </p:sp>
      <p:sp>
        <p:nvSpPr>
          <p:cNvPr id="55" name="Text 46"/>
          <p:cNvSpPr/>
          <p:nvPr/>
        </p:nvSpPr>
        <p:spPr>
          <a:xfrm>
            <a:off x="421593" y="2340583"/>
            <a:ext cx="3015096" cy="153591"/>
          </a:xfrm>
          <a:prstGeom prst="rect">
            <a:avLst/>
          </a:prstGeom>
          <a:noFill/>
          <a:ln/>
        </p:spPr>
        <p:txBody>
          <a:bodyPr wrap="square" lIns="0" tIns="0" rIns="0" bIns="0" rtlCol="0" anchor="t"/>
          <a:lstStyle/>
          <a:p>
            <a:pPr algn="l" indent="0" marL="0">
              <a:lnSpc>
                <a:spcPts val="945"/>
              </a:lnSpc>
              <a:buNone/>
            </a:pPr>
            <a:r>
              <a:rPr lang="en-US" sz="800" dirty="0">
                <a:solidFill>
                  <a:srgbClr val="8AA0CC"/>
                </a:solidFill>
                <a:latin typeface="Carlito" pitchFamily="34" charset="0"/>
                <a:ea typeface="Carlito" pitchFamily="34" charset="-122"/>
                <a:cs typeface="Carlito" pitchFamily="34" charset="-120"/>
              </a:rPr>
              <a:t>اختيار Adam مع معدل تعلم 0.001</a:t>
            </a:r>
            <a:endParaRPr lang="en-US" sz="800" dirty="0"/>
          </a:p>
        </p:txBody>
      </p:sp>
      <p:sp>
        <p:nvSpPr>
          <p:cNvPr id="56" name="Text 47"/>
          <p:cNvSpPr/>
          <p:nvPr/>
        </p:nvSpPr>
        <p:spPr>
          <a:xfrm>
            <a:off x="332296" y="2703686"/>
            <a:ext cx="3284674" cy="631106"/>
          </a:xfrm>
          <a:prstGeom prst="roundRect">
            <a:avLst>
              <a:gd name="adj" fmla="val 27167"/>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pic>
        <p:nvPicPr>
          <p:cNvPr id="57" name="Image 7" descr="preencoded.png">    </p:cNvPr>
          <p:cNvPicPr>
            <a:picLocks noChangeAspect="1"/>
          </p:cNvPicPr>
          <p:nvPr/>
        </p:nvPicPr>
        <p:blipFill>
          <a:blip r:embed="rId8"/>
          <a:stretch>
            <a:fillRect/>
          </a:stretch>
        </p:blipFill>
        <p:spPr>
          <a:xfrm>
            <a:off x="3284786" y="2897795"/>
            <a:ext cx="242888" cy="242888"/>
          </a:xfrm>
          <a:prstGeom prst="rect">
            <a:avLst/>
          </a:prstGeom>
        </p:spPr>
      </p:pic>
      <p:sp>
        <p:nvSpPr>
          <p:cNvPr id="58" name="Text 48"/>
          <p:cNvSpPr/>
          <p:nvPr/>
        </p:nvSpPr>
        <p:spPr>
          <a:xfrm>
            <a:off x="3284786" y="2897795"/>
            <a:ext cx="242888" cy="242888"/>
          </a:xfrm>
          <a:prstGeom prst="rect">
            <a:avLst/>
          </a:prstGeom>
          <a:noFill/>
          <a:ln/>
        </p:spPr>
        <p:txBody>
          <a:bodyPr wrap="none" lIns="0" tIns="0" rIns="0" bIns="0" rtlCol="0" anchor="ctr"/>
          <a:lstStyle/>
          <a:p>
            <a:pPr algn="ctr" indent="0" marL="0">
              <a:lnSpc>
                <a:spcPts val="1266"/>
              </a:lnSpc>
              <a:buNone/>
            </a:pPr>
            <a:r>
              <a:rPr lang="en-US" sz="844" b="1" dirty="0">
                <a:solidFill>
                  <a:srgbClr val="FFFFFF"/>
                </a:solidFill>
                <a:latin typeface="Liberation Sans Narrow" pitchFamily="34" charset="0"/>
                <a:ea typeface="Liberation Sans Narrow" pitchFamily="34" charset="-122"/>
                <a:cs typeface="Liberation Sans Narrow" pitchFamily="34" charset="-120"/>
              </a:rPr>
              <a:t>3</a:t>
            </a:r>
            <a:endParaRPr lang="en-US" sz="844" dirty="0"/>
          </a:p>
        </p:txBody>
      </p:sp>
      <p:sp>
        <p:nvSpPr>
          <p:cNvPr id="59" name="Text 49"/>
          <p:cNvSpPr/>
          <p:nvPr/>
        </p:nvSpPr>
        <p:spPr>
          <a:xfrm>
            <a:off x="3113336" y="2905609"/>
            <a:ext cx="100013" cy="100013"/>
          </a:xfrm>
          <a:prstGeom prst="rect">
            <a:avLst/>
          </a:prstGeom>
          <a:noFill/>
          <a:ln/>
        </p:spPr>
        <p:txBody>
          <a:bodyPr wrap="none" lIns="0" tIns="0" rIns="0" bIns="0" rtlCol="0" anchor="ctr"/>
          <a:lstStyle/>
          <a:p>
            <a:pPr algn="ctr" indent="0" marL="0">
              <a:buNone/>
            </a:pPr>
            <a:r>
              <a:rPr lang="en-US" sz="984" dirty="0">
                <a:solidFill>
                  <a:srgbClr val="00D9FF"/>
                </a:solidFill>
                <a:latin typeface="Segoe UI Symbol" pitchFamily="34" charset="0"/>
                <a:ea typeface="Segoe UI Symbol" pitchFamily="34" charset="-122"/>
                <a:cs typeface="Segoe UI Symbol" pitchFamily="34" charset="-120"/>
              </a:rPr>
              <a:t>→</a:t>
            </a:r>
            <a:endParaRPr lang="en-US" sz="984" dirty="0"/>
          </a:p>
        </p:txBody>
      </p:sp>
      <p:sp>
        <p:nvSpPr>
          <p:cNvPr id="60" name="Text 50"/>
          <p:cNvSpPr/>
          <p:nvPr/>
        </p:nvSpPr>
        <p:spPr>
          <a:xfrm>
            <a:off x="2202507" y="2875248"/>
            <a:ext cx="1084957" cy="173593"/>
          </a:xfrm>
          <a:prstGeom prst="rect">
            <a:avLst/>
          </a:prstGeom>
          <a:noFill/>
          <a:ln/>
        </p:spPr>
        <p:txBody>
          <a:bodyPr wrap="none" lIns="0" tIns="0" rIns="0" bIns="0" rtlCol="0" anchor="t"/>
          <a:lstStyle/>
          <a:p>
            <a:pPr algn="l" indent="0" marL="0">
              <a:lnSpc>
                <a:spcPts val="1266"/>
              </a:lnSpc>
              <a:buNone/>
            </a:pPr>
            <a:r>
              <a:rPr lang="en-US" sz="844" b="1" dirty="0">
                <a:solidFill>
                  <a:srgbClr val="EAF6FF"/>
                </a:solidFill>
                <a:latin typeface="Carlito" pitchFamily="34" charset="0"/>
                <a:ea typeface="Carlito" pitchFamily="34" charset="-122"/>
                <a:cs typeface="Carlito" pitchFamily="34" charset="-120"/>
              </a:rPr>
              <a:t>التمرير الأمامي</a:t>
            </a:r>
            <a:endParaRPr lang="en-US" sz="844" dirty="0"/>
          </a:p>
        </p:txBody>
      </p:sp>
      <p:sp>
        <p:nvSpPr>
          <p:cNvPr id="61" name="Text 51"/>
          <p:cNvSpPr/>
          <p:nvPr/>
        </p:nvSpPr>
        <p:spPr>
          <a:xfrm>
            <a:off x="421593" y="3043126"/>
            <a:ext cx="3015096" cy="153591"/>
          </a:xfrm>
          <a:prstGeom prst="rect">
            <a:avLst/>
          </a:prstGeom>
          <a:noFill/>
          <a:ln/>
        </p:spPr>
        <p:txBody>
          <a:bodyPr wrap="square" lIns="0" tIns="0" rIns="0" bIns="0" rtlCol="0" anchor="t"/>
          <a:lstStyle/>
          <a:p>
            <a:pPr algn="l" indent="0" marL="0">
              <a:lnSpc>
                <a:spcPts val="945"/>
              </a:lnSpc>
              <a:buNone/>
            </a:pPr>
            <a:r>
              <a:rPr lang="en-US" sz="800" dirty="0">
                <a:solidFill>
                  <a:srgbClr val="8AA0CC"/>
                </a:solidFill>
                <a:latin typeface="Carlito" pitchFamily="34" charset="0"/>
                <a:ea typeface="Carlito" pitchFamily="34" charset="-122"/>
                <a:cs typeface="Carlito" pitchFamily="34" charset="-120"/>
              </a:rPr>
              <a:t>حساب التنبؤات والخطأ (Loss)</a:t>
            </a:r>
            <a:endParaRPr lang="en-US" sz="800" dirty="0"/>
          </a:p>
        </p:txBody>
      </p:sp>
      <p:pic>
        <p:nvPicPr>
          <p:cNvPr id="62" name="Image 8" descr="preencoded.png">    </p:cNvPr>
          <p:cNvPicPr>
            <a:picLocks noChangeAspect="1"/>
          </p:cNvPicPr>
          <p:nvPr/>
        </p:nvPicPr>
        <p:blipFill>
          <a:blip r:embed="rId9"/>
          <a:stretch>
            <a:fillRect/>
          </a:stretch>
        </p:blipFill>
        <p:spPr>
          <a:xfrm>
            <a:off x="328724" y="3402657"/>
            <a:ext cx="3291818" cy="638249"/>
          </a:xfrm>
          <a:prstGeom prst="rect">
            <a:avLst/>
          </a:prstGeom>
        </p:spPr>
      </p:pic>
      <p:sp>
        <p:nvSpPr>
          <p:cNvPr id="63" name="Text 52"/>
          <p:cNvSpPr/>
          <p:nvPr/>
        </p:nvSpPr>
        <p:spPr>
          <a:xfrm>
            <a:off x="332296" y="3406229"/>
            <a:ext cx="3284674" cy="631106"/>
          </a:xfrm>
          <a:prstGeom prst="roundRect">
            <a:avLst>
              <a:gd name="adj" fmla="val 27167"/>
            </a:avLst>
          </a:prstGeom>
          <a:noFill/>
          <a:ln w="7144">
            <a:solidFill>
              <a:srgbClr val="B845FF"/>
            </a:solidFill>
            <a:prstDash val="solid"/>
          </a:ln>
        </p:spPr>
        <p:txBody>
          <a:bodyPr wrap="square" rtlCol="0" anchor="ctr"/>
          <a:lstStyle/>
          <a:p>
            <a:pPr indent="0" marL="0">
              <a:buNone/>
            </a:pPr>
            <a:endParaRPr lang="en-US" dirty="0"/>
          </a:p>
        </p:txBody>
      </p:sp>
      <p:pic>
        <p:nvPicPr>
          <p:cNvPr id="64" name="Image 9" descr="preencoded.png">    </p:cNvPr>
          <p:cNvPicPr>
            <a:picLocks noChangeAspect="1"/>
          </p:cNvPicPr>
          <p:nvPr/>
        </p:nvPicPr>
        <p:blipFill>
          <a:blip r:embed="rId10"/>
          <a:stretch>
            <a:fillRect/>
          </a:stretch>
        </p:blipFill>
        <p:spPr>
          <a:xfrm>
            <a:off x="3284786" y="3600338"/>
            <a:ext cx="242888" cy="242888"/>
          </a:xfrm>
          <a:prstGeom prst="rect">
            <a:avLst/>
          </a:prstGeom>
        </p:spPr>
      </p:pic>
      <p:sp>
        <p:nvSpPr>
          <p:cNvPr id="65" name="Text 53"/>
          <p:cNvSpPr/>
          <p:nvPr/>
        </p:nvSpPr>
        <p:spPr>
          <a:xfrm>
            <a:off x="3284786" y="3600338"/>
            <a:ext cx="242888" cy="242888"/>
          </a:xfrm>
          <a:prstGeom prst="rect">
            <a:avLst/>
          </a:prstGeom>
          <a:noFill/>
          <a:ln/>
        </p:spPr>
        <p:txBody>
          <a:bodyPr wrap="none" lIns="0" tIns="0" rIns="0" bIns="0" rtlCol="0" anchor="ctr"/>
          <a:lstStyle/>
          <a:p>
            <a:pPr algn="ctr" indent="0" marL="0">
              <a:lnSpc>
                <a:spcPts val="1266"/>
              </a:lnSpc>
              <a:buNone/>
            </a:pPr>
            <a:r>
              <a:rPr lang="en-US" sz="844" b="1" dirty="0">
                <a:solidFill>
                  <a:srgbClr val="FFFFFF"/>
                </a:solidFill>
                <a:latin typeface="Liberation Sans Narrow" pitchFamily="34" charset="0"/>
                <a:ea typeface="Liberation Sans Narrow" pitchFamily="34" charset="-122"/>
                <a:cs typeface="Liberation Sans Narrow" pitchFamily="34" charset="-120"/>
              </a:rPr>
              <a:t>4</a:t>
            </a:r>
            <a:endParaRPr lang="en-US" sz="844" dirty="0"/>
          </a:p>
        </p:txBody>
      </p:sp>
      <p:sp>
        <p:nvSpPr>
          <p:cNvPr id="66" name="Text 54"/>
          <p:cNvSpPr/>
          <p:nvPr/>
        </p:nvSpPr>
        <p:spPr>
          <a:xfrm>
            <a:off x="3113336" y="3608152"/>
            <a:ext cx="100013" cy="100013"/>
          </a:xfrm>
          <a:prstGeom prst="rect">
            <a:avLst/>
          </a:prstGeom>
          <a:noFill/>
          <a:ln/>
        </p:spPr>
        <p:txBody>
          <a:bodyPr wrap="none" lIns="0" tIns="0" rIns="0" bIns="0" rtlCol="0" anchor="ctr"/>
          <a:lstStyle/>
          <a:p>
            <a:pPr algn="ctr" indent="0" marL="0">
              <a:buNone/>
            </a:pPr>
            <a:r>
              <a:rPr lang="en-US" sz="984" dirty="0">
                <a:solidFill>
                  <a:srgbClr val="B845FF"/>
                </a:solidFill>
                <a:latin typeface="Segoe UI Symbol" pitchFamily="34" charset="0"/>
                <a:ea typeface="Segoe UI Symbol" pitchFamily="34" charset="-122"/>
                <a:cs typeface="Segoe UI Symbol" pitchFamily="34" charset="-120"/>
              </a:rPr>
              <a:t>←</a:t>
            </a:r>
            <a:endParaRPr lang="en-US" sz="984" dirty="0"/>
          </a:p>
        </p:txBody>
      </p:sp>
      <p:sp>
        <p:nvSpPr>
          <p:cNvPr id="67" name="Text 55"/>
          <p:cNvSpPr/>
          <p:nvPr/>
        </p:nvSpPr>
        <p:spPr>
          <a:xfrm>
            <a:off x="2202507" y="3577791"/>
            <a:ext cx="1084957" cy="173593"/>
          </a:xfrm>
          <a:prstGeom prst="rect">
            <a:avLst/>
          </a:prstGeom>
          <a:noFill/>
          <a:ln/>
        </p:spPr>
        <p:txBody>
          <a:bodyPr wrap="none" lIns="0" tIns="0" rIns="0" bIns="0" rtlCol="0" anchor="t"/>
          <a:lstStyle/>
          <a:p>
            <a:pPr algn="l" indent="0" marL="0">
              <a:lnSpc>
                <a:spcPts val="1266"/>
              </a:lnSpc>
              <a:buNone/>
            </a:pPr>
            <a:r>
              <a:rPr lang="en-US" sz="844" b="1" dirty="0">
                <a:solidFill>
                  <a:srgbClr val="EAF6FF"/>
                </a:solidFill>
                <a:latin typeface="Carlito" pitchFamily="34" charset="0"/>
                <a:ea typeface="Carlito" pitchFamily="34" charset="-122"/>
                <a:cs typeface="Carlito" pitchFamily="34" charset="-120"/>
              </a:rPr>
              <a:t>التمرير العكسي</a:t>
            </a:r>
            <a:endParaRPr lang="en-US" sz="844" dirty="0"/>
          </a:p>
        </p:txBody>
      </p:sp>
      <p:sp>
        <p:nvSpPr>
          <p:cNvPr id="68" name="Text 56"/>
          <p:cNvSpPr/>
          <p:nvPr/>
        </p:nvSpPr>
        <p:spPr>
          <a:xfrm>
            <a:off x="421593" y="3745669"/>
            <a:ext cx="3015096" cy="153591"/>
          </a:xfrm>
          <a:prstGeom prst="rect">
            <a:avLst/>
          </a:prstGeom>
          <a:noFill/>
          <a:ln/>
        </p:spPr>
        <p:txBody>
          <a:bodyPr wrap="square" lIns="0" tIns="0" rIns="0" bIns="0" rtlCol="0" anchor="t"/>
          <a:lstStyle/>
          <a:p>
            <a:pPr algn="l" indent="0" marL="0">
              <a:lnSpc>
                <a:spcPts val="945"/>
              </a:lnSpc>
              <a:buNone/>
            </a:pPr>
            <a:r>
              <a:rPr lang="en-US" sz="800" dirty="0">
                <a:solidFill>
                  <a:srgbClr val="8AA0CC"/>
                </a:solidFill>
                <a:latin typeface="Carlito" pitchFamily="34" charset="0"/>
                <a:ea typeface="Carlito" pitchFamily="34" charset="-122"/>
                <a:cs typeface="Carlito" pitchFamily="34" charset="-120"/>
              </a:rPr>
              <a:t>حساب التدرجات باستخدام Backpropagation</a:t>
            </a:r>
            <a:endParaRPr lang="en-US" sz="800" dirty="0"/>
          </a:p>
        </p:txBody>
      </p:sp>
      <p:sp>
        <p:nvSpPr>
          <p:cNvPr id="69" name="Text 57"/>
          <p:cNvSpPr/>
          <p:nvPr/>
        </p:nvSpPr>
        <p:spPr>
          <a:xfrm>
            <a:off x="332296" y="4108772"/>
            <a:ext cx="3284674" cy="631106"/>
          </a:xfrm>
          <a:prstGeom prst="roundRect">
            <a:avLst>
              <a:gd name="adj" fmla="val 27167"/>
            </a:avLst>
          </a:prstGeom>
          <a:solidFill>
            <a:srgbClr val="111638">
              <a:alpha val="65000"/>
            </a:srgbClr>
          </a:solidFill>
          <a:ln w="7144">
            <a:solidFill>
              <a:srgbClr val="00D9FF"/>
            </a:solidFill>
            <a:prstDash val="solid"/>
          </a:ln>
        </p:spPr>
        <p:txBody>
          <a:bodyPr wrap="square" rtlCol="0" anchor="ctr"/>
          <a:lstStyle/>
          <a:p>
            <a:pPr indent="0" marL="0">
              <a:buNone/>
            </a:pPr>
            <a:endParaRPr lang="en-US" dirty="0"/>
          </a:p>
        </p:txBody>
      </p:sp>
      <p:pic>
        <p:nvPicPr>
          <p:cNvPr id="70" name="Image 10" descr="preencoded.png">    </p:cNvPr>
          <p:cNvPicPr>
            <a:picLocks noChangeAspect="1"/>
          </p:cNvPicPr>
          <p:nvPr/>
        </p:nvPicPr>
        <p:blipFill>
          <a:blip r:embed="rId11"/>
          <a:stretch>
            <a:fillRect/>
          </a:stretch>
        </p:blipFill>
        <p:spPr>
          <a:xfrm>
            <a:off x="3284786" y="4302882"/>
            <a:ext cx="242888" cy="242888"/>
          </a:xfrm>
          <a:prstGeom prst="rect">
            <a:avLst/>
          </a:prstGeom>
        </p:spPr>
      </p:pic>
      <p:sp>
        <p:nvSpPr>
          <p:cNvPr id="71" name="Text 58"/>
          <p:cNvSpPr/>
          <p:nvPr/>
        </p:nvSpPr>
        <p:spPr>
          <a:xfrm>
            <a:off x="3284786" y="4302882"/>
            <a:ext cx="242888" cy="242888"/>
          </a:xfrm>
          <a:prstGeom prst="rect">
            <a:avLst/>
          </a:prstGeom>
          <a:noFill/>
          <a:ln/>
        </p:spPr>
        <p:txBody>
          <a:bodyPr wrap="none" lIns="0" tIns="0" rIns="0" bIns="0" rtlCol="0" anchor="ctr"/>
          <a:lstStyle/>
          <a:p>
            <a:pPr algn="ctr" indent="0" marL="0">
              <a:lnSpc>
                <a:spcPts val="1266"/>
              </a:lnSpc>
              <a:buNone/>
            </a:pPr>
            <a:r>
              <a:rPr lang="en-US" sz="844" b="1" dirty="0">
                <a:solidFill>
                  <a:srgbClr val="FFFFFF"/>
                </a:solidFill>
                <a:latin typeface="Liberation Sans Narrow" pitchFamily="34" charset="0"/>
                <a:ea typeface="Liberation Sans Narrow" pitchFamily="34" charset="-122"/>
                <a:cs typeface="Liberation Sans Narrow" pitchFamily="34" charset="-120"/>
              </a:rPr>
              <a:t>5</a:t>
            </a:r>
            <a:endParaRPr lang="en-US" sz="844" dirty="0"/>
          </a:p>
        </p:txBody>
      </p:sp>
      <p:sp>
        <p:nvSpPr>
          <p:cNvPr id="72" name="Text 59"/>
          <p:cNvSpPr/>
          <p:nvPr/>
        </p:nvSpPr>
        <p:spPr>
          <a:xfrm>
            <a:off x="3113336" y="4310695"/>
            <a:ext cx="100013" cy="100013"/>
          </a:xfrm>
          <a:prstGeom prst="rect">
            <a:avLst/>
          </a:prstGeom>
          <a:noFill/>
          <a:ln/>
        </p:spPr>
        <p:txBody>
          <a:bodyPr wrap="none" lIns="0" tIns="0" rIns="0" bIns="0" rtlCol="0" anchor="ctr"/>
          <a:lstStyle/>
          <a:p>
            <a:pPr algn="ctr" indent="0" marL="0">
              <a:buNone/>
            </a:pPr>
            <a:r>
              <a:rPr lang="en-US" sz="984" dirty="0">
                <a:solidFill>
                  <a:srgbClr val="00D9FF"/>
                </a:solidFill>
                <a:latin typeface="Segoe UI Symbol" pitchFamily="34" charset="0"/>
                <a:ea typeface="Segoe UI Symbol" pitchFamily="34" charset="-122"/>
                <a:cs typeface="Segoe UI Symbol" pitchFamily="34" charset="-120"/>
              </a:rPr>
              <a:t>↻</a:t>
            </a:r>
            <a:endParaRPr lang="en-US" sz="984" dirty="0"/>
          </a:p>
        </p:txBody>
      </p:sp>
      <p:sp>
        <p:nvSpPr>
          <p:cNvPr id="73" name="Text 60"/>
          <p:cNvSpPr/>
          <p:nvPr/>
        </p:nvSpPr>
        <p:spPr>
          <a:xfrm>
            <a:off x="2331095" y="4280334"/>
            <a:ext cx="924223" cy="173593"/>
          </a:xfrm>
          <a:prstGeom prst="rect">
            <a:avLst/>
          </a:prstGeom>
          <a:noFill/>
          <a:ln/>
        </p:spPr>
        <p:txBody>
          <a:bodyPr wrap="none" lIns="0" tIns="0" rIns="0" bIns="0" rtlCol="0" anchor="t"/>
          <a:lstStyle/>
          <a:p>
            <a:pPr algn="l" indent="0" marL="0">
              <a:lnSpc>
                <a:spcPts val="1266"/>
              </a:lnSpc>
              <a:buNone/>
            </a:pPr>
            <a:r>
              <a:rPr lang="en-US" sz="844" b="1" dirty="0">
                <a:solidFill>
                  <a:srgbClr val="EAF6FF"/>
                </a:solidFill>
                <a:latin typeface="Carlito" pitchFamily="34" charset="0"/>
                <a:ea typeface="Carlito" pitchFamily="34" charset="-122"/>
                <a:cs typeface="Carlito" pitchFamily="34" charset="-120"/>
              </a:rPr>
              <a:t>تحديث الأوزان</a:t>
            </a:r>
            <a:endParaRPr lang="en-US" sz="844" dirty="0"/>
          </a:p>
        </p:txBody>
      </p:sp>
      <p:sp>
        <p:nvSpPr>
          <p:cNvPr id="74" name="Text 61"/>
          <p:cNvSpPr/>
          <p:nvPr/>
        </p:nvSpPr>
        <p:spPr>
          <a:xfrm>
            <a:off x="421593" y="4448212"/>
            <a:ext cx="3015096" cy="153591"/>
          </a:xfrm>
          <a:prstGeom prst="rect">
            <a:avLst/>
          </a:prstGeom>
          <a:noFill/>
          <a:ln/>
        </p:spPr>
        <p:txBody>
          <a:bodyPr wrap="square" lIns="0" tIns="0" rIns="0" bIns="0" rtlCol="0" anchor="t"/>
          <a:lstStyle/>
          <a:p>
            <a:pPr algn="l" indent="0" marL="0">
              <a:lnSpc>
                <a:spcPts val="945"/>
              </a:lnSpc>
              <a:buNone/>
            </a:pPr>
            <a:r>
              <a:rPr lang="en-US" sz="800" dirty="0">
                <a:solidFill>
                  <a:srgbClr val="8AA0CC"/>
                </a:solidFill>
                <a:latin typeface="Carlito" pitchFamily="34" charset="0"/>
                <a:ea typeface="Carlito" pitchFamily="34" charset="-122"/>
                <a:cs typeface="Carlito" pitchFamily="34" charset="-120"/>
              </a:rPr>
              <a:t>خطوة المحسّن لتحسين المعلمات</a:t>
            </a:r>
            <a:endParaRPr lang="en-US" sz="800" dirty="0"/>
          </a:p>
        </p:txBody>
      </p:sp>
      <p:sp>
        <p:nvSpPr>
          <p:cNvPr id="75" name="Text 62"/>
          <p:cNvSpPr/>
          <p:nvPr/>
        </p:nvSpPr>
        <p:spPr>
          <a:xfrm>
            <a:off x="8643938" y="4900613"/>
            <a:ext cx="42863" cy="42863"/>
          </a:xfrm>
          <a:prstGeom prst="roundRect">
            <a:avLst>
              <a:gd name="adj" fmla="val 66666"/>
            </a:avLst>
          </a:prstGeom>
          <a:solidFill>
            <a:srgbClr val="00D9FF"/>
          </a:solidFill>
          <a:ln/>
        </p:spPr>
        <p:txBody>
          <a:bodyPr wrap="square" rtlCol="0" anchor="ctr"/>
          <a:lstStyle/>
          <a:p>
            <a:pPr indent="0" marL="0">
              <a:buNone/>
            </a:pPr>
            <a:endParaRPr lang="en-US" dirty="0"/>
          </a:p>
        </p:txBody>
      </p:sp>
      <p:sp>
        <p:nvSpPr>
          <p:cNvPr id="76" name="Text 63"/>
          <p:cNvSpPr/>
          <p:nvPr/>
        </p:nvSpPr>
        <p:spPr>
          <a:xfrm>
            <a:off x="8222894" y="4857750"/>
            <a:ext cx="663773"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AI SKILLS</a:t>
            </a:r>
            <a:endParaRPr lang="en-US" sz="800" dirty="0"/>
          </a:p>
        </p:txBody>
      </p:sp>
      <p:sp>
        <p:nvSpPr>
          <p:cNvPr id="77" name="Text 64"/>
          <p:cNvSpPr/>
          <p:nvPr/>
        </p:nvSpPr>
        <p:spPr>
          <a:xfrm>
            <a:off x="457200" y="4857750"/>
            <a:ext cx="7752085"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صفحة 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27"/>
        </a:solidFill>
      </p:bgPr>
    </p:bg>
    <p:spTree>
      <p:nvGrpSpPr>
        <p:cNvPr id="1" name=""/>
        <p:cNvGrpSpPr/>
        <p:nvPr/>
      </p:nvGrpSpPr>
      <p:grpSpPr>
        <a:xfrm>
          <a:off x="0" y="0"/>
          <a:ext cx="0" cy="0"/>
          <a:chOff x="0" y="0"/>
          <a:chExt cx="0" cy="0"/>
        </a:xfrm>
      </p:grpSpPr>
      <p:pic>
        <p:nvPicPr>
          <p:cNvPr id="2" name="Image 0" descr="/tmp/h2p-fit-1789027902146-dx7ztt.png">    </p:cNvPr>
          <p:cNvPicPr>
            <a:picLocks noChangeAspect="1"/>
          </p:cNvPicPr>
          <p:nvPr/>
        </p:nvPicPr>
        <p:blipFill>
          <a:blip r:embed="rId1"/>
          <a:stretch>
            <a:fillRect/>
          </a:stretch>
        </p:blipFill>
        <p:spPr>
          <a:xfrm>
            <a:off x="4572000" y="0"/>
            <a:ext cx="4572000" cy="5143500"/>
          </a:xfrm>
          <a:prstGeom prst="rect">
            <a:avLst/>
          </a:prstGeom>
        </p:spPr>
      </p:pic>
      <p:pic>
        <p:nvPicPr>
          <p:cNvPr id="3" name="Image 1" descr="preencoded.png">    </p:cNvPr>
          <p:cNvPicPr>
            <a:picLocks noChangeAspect="1"/>
          </p:cNvPicPr>
          <p:nvPr/>
        </p:nvPicPr>
        <p:blipFill>
          <a:blip r:embed="rId2"/>
          <a:stretch>
            <a:fillRect/>
          </a:stretch>
        </p:blipFill>
        <p:spPr>
          <a:xfrm>
            <a:off x="0" y="0"/>
            <a:ext cx="9144000" cy="5143500"/>
          </a:xfrm>
          <a:prstGeom prst="rect">
            <a:avLst/>
          </a:prstGeom>
        </p:spPr>
      </p:pic>
      <p:pic>
        <p:nvPicPr>
          <p:cNvPr id="4" name="Image 2" descr="preencoded.png">    </p:cNvPr>
          <p:cNvPicPr>
            <a:picLocks noChangeAspect="1"/>
          </p:cNvPicPr>
          <p:nvPr/>
        </p:nvPicPr>
        <p:blipFill>
          <a:blip r:embed="rId3">
            <a:alphaModFix amt="66000"/>
          </a:blip>
          <a:stretch>
            <a:fillRect/>
          </a:stretch>
        </p:blipFill>
        <p:spPr>
          <a:xfrm>
            <a:off x="-857250" y="-1143000"/>
            <a:ext cx="3429000" cy="3429000"/>
          </a:xfrm>
          <a:prstGeom prst="rect">
            <a:avLst/>
          </a:prstGeom>
        </p:spPr>
      </p:pic>
      <p:sp>
        <p:nvSpPr>
          <p:cNvPr id="5" name="Text 0"/>
          <p:cNvSpPr/>
          <p:nvPr/>
        </p:nvSpPr>
        <p:spPr>
          <a:xfrm>
            <a:off x="-857250" y="-1143000"/>
            <a:ext cx="3429000" cy="3429000"/>
          </a:xfrm>
          <a:prstGeom prst="ellipse">
            <a:avLst/>
          </a:prstGeom>
          <a:solidFill>
            <a:srgbClr val="FFFFFF">
              <a:alpha val="0"/>
            </a:srgbClr>
          </a:solidFill>
          <a:ln/>
        </p:spPr>
        <p:txBody>
          <a:bodyPr wrap="square" rtlCol="0" anchor="ctr"/>
          <a:lstStyle/>
          <a:p>
            <a:pPr indent="0" marL="0">
              <a:buNone/>
            </a:pPr>
            <a:endParaRPr lang="en-US" dirty="0"/>
          </a:p>
        </p:txBody>
      </p:sp>
      <p:pic>
        <p:nvPicPr>
          <p:cNvPr id="6" name="Image 3" descr="preencoded.png">    </p:cNvPr>
          <p:cNvPicPr>
            <a:picLocks noChangeAspect="1"/>
          </p:cNvPicPr>
          <p:nvPr/>
        </p:nvPicPr>
        <p:blipFill>
          <a:blip r:embed="rId4">
            <a:alphaModFix amt="66000"/>
          </a:blip>
          <a:stretch>
            <a:fillRect/>
          </a:stretch>
        </p:blipFill>
        <p:spPr>
          <a:xfrm>
            <a:off x="7000875" y="3429000"/>
            <a:ext cx="3000375" cy="3000375"/>
          </a:xfrm>
          <a:prstGeom prst="rect">
            <a:avLst/>
          </a:prstGeom>
        </p:spPr>
      </p:pic>
      <p:sp>
        <p:nvSpPr>
          <p:cNvPr id="7" name="Text 1"/>
          <p:cNvSpPr/>
          <p:nvPr/>
        </p:nvSpPr>
        <p:spPr>
          <a:xfrm>
            <a:off x="7000875" y="3429000"/>
            <a:ext cx="3000375" cy="3000375"/>
          </a:xfrm>
          <a:prstGeom prst="ellipse">
            <a:avLst/>
          </a:prstGeom>
          <a:solidFill>
            <a:srgbClr val="FFFFFF">
              <a:alpha val="0"/>
            </a:srgbClr>
          </a:solidFill>
          <a:ln/>
        </p:spPr>
        <p:txBody>
          <a:bodyPr wrap="square" rtlCol="0" anchor="ctr"/>
          <a:lstStyle/>
          <a:p>
            <a:pPr indent="0" marL="0">
              <a:buNone/>
            </a:pPr>
            <a:endParaRPr lang="en-US" dirty="0"/>
          </a:p>
        </p:txBody>
      </p:sp>
      <p:pic>
        <p:nvPicPr>
          <p:cNvPr id="8" name="Image 4" descr="preencoded.png">    </p:cNvPr>
          <p:cNvPicPr>
            <a:picLocks noChangeAspect="1"/>
          </p:cNvPicPr>
          <p:nvPr/>
        </p:nvPicPr>
        <p:blipFill>
          <a:blip r:embed="rId5"/>
          <a:stretch>
            <a:fillRect/>
          </a:stretch>
        </p:blipFill>
        <p:spPr>
          <a:xfrm>
            <a:off x="4114800" y="0"/>
            <a:ext cx="5029200" cy="5143500"/>
          </a:xfrm>
          <a:prstGeom prst="rect">
            <a:avLst/>
          </a:prstGeom>
        </p:spPr>
      </p:pic>
      <p:sp>
        <p:nvSpPr>
          <p:cNvPr id="9" name="Text 2"/>
          <p:cNvSpPr/>
          <p:nvPr/>
        </p:nvSpPr>
        <p:spPr>
          <a:xfrm>
            <a:off x="4747022" y="175022"/>
            <a:ext cx="4221956" cy="4793456"/>
          </a:xfrm>
          <a:prstGeom prst="roundRect">
            <a:avLst>
              <a:gd name="adj" fmla="val 4061"/>
            </a:avLst>
          </a:prstGeom>
          <a:noFill/>
          <a:ln w="7144">
            <a:solidFill>
              <a:srgbClr val="00D9FF"/>
            </a:solidFill>
            <a:prstDash val="solid"/>
          </a:ln>
        </p:spPr>
        <p:txBody>
          <a:bodyPr wrap="square" rtlCol="0" anchor="ctr"/>
          <a:lstStyle/>
          <a:p>
            <a:pPr indent="0" marL="0">
              <a:buNone/>
            </a:pPr>
            <a:endParaRPr lang="en-US" dirty="0"/>
          </a:p>
        </p:txBody>
      </p:sp>
      <p:sp>
        <p:nvSpPr>
          <p:cNvPr id="10" name="Text 3"/>
          <p:cNvSpPr/>
          <p:nvPr/>
        </p:nvSpPr>
        <p:spPr>
          <a:xfrm>
            <a:off x="7662922" y="344386"/>
            <a:ext cx="1103888" cy="264919"/>
          </a:xfrm>
          <a:prstGeom prst="roundRect">
            <a:avLst>
              <a:gd name="adj" fmla="val 3591843"/>
            </a:avLst>
          </a:prstGeom>
          <a:solidFill>
            <a:srgbClr val="FFD166">
              <a:alpha val="10000"/>
            </a:srgbClr>
          </a:solidFill>
          <a:ln w="7144">
            <a:solidFill>
              <a:srgbClr val="FFD166"/>
            </a:solidFill>
            <a:prstDash val="solid"/>
          </a:ln>
        </p:spPr>
        <p:txBody>
          <a:bodyPr wrap="square" rtlCol="0" anchor="ctr"/>
          <a:lstStyle/>
          <a:p>
            <a:pPr indent="0" marL="0">
              <a:buNone/>
            </a:pPr>
            <a:endParaRPr lang="en-US" dirty="0"/>
          </a:p>
        </p:txBody>
      </p:sp>
      <p:sp>
        <p:nvSpPr>
          <p:cNvPr id="11" name="Text 4"/>
          <p:cNvSpPr/>
          <p:nvPr/>
        </p:nvSpPr>
        <p:spPr>
          <a:xfrm>
            <a:off x="7697034" y="414338"/>
            <a:ext cx="878501" cy="143490"/>
          </a:xfrm>
          <a:prstGeom prst="rect">
            <a:avLst/>
          </a:prstGeom>
          <a:noFill/>
          <a:ln/>
        </p:spPr>
        <p:txBody>
          <a:bodyPr wrap="none" lIns="0" tIns="0" rIns="0" bIns="0" rtlCol="0" anchor="t"/>
          <a:lstStyle/>
          <a:p>
            <a:pPr algn="l" indent="0" marL="0">
              <a:lnSpc>
                <a:spcPts val="1097"/>
              </a:lnSpc>
              <a:buNone/>
            </a:pPr>
            <a:r>
              <a:rPr lang="en-US" sz="731" dirty="0">
                <a:solidFill>
                  <a:srgbClr val="FFD166"/>
                </a:solidFill>
                <a:latin typeface="Carlito" pitchFamily="34" charset="0"/>
                <a:ea typeface="Carlito" pitchFamily="34" charset="-122"/>
                <a:cs typeface="Carlito" pitchFamily="34" charset="-120"/>
              </a:rPr>
              <a:t>KEY TAKEAWAYS</a:t>
            </a:r>
            <a:endParaRPr lang="en-US" sz="731" dirty="0"/>
          </a:p>
        </p:txBody>
      </p:sp>
      <p:sp>
        <p:nvSpPr>
          <p:cNvPr id="12" name="Text 5"/>
          <p:cNvSpPr/>
          <p:nvPr/>
        </p:nvSpPr>
        <p:spPr>
          <a:xfrm>
            <a:off x="8536781" y="426839"/>
            <a:ext cx="100013" cy="100013"/>
          </a:xfrm>
          <a:prstGeom prst="rect">
            <a:avLst/>
          </a:prstGeom>
          <a:noFill/>
          <a:ln/>
        </p:spPr>
        <p:txBody>
          <a:bodyPr wrap="none" lIns="0" tIns="0" rIns="0" bIns="0" rtlCol="0" anchor="ctr"/>
          <a:lstStyle/>
          <a:p>
            <a:pPr algn="ctr" indent="0" marL="0">
              <a:buNone/>
            </a:pPr>
            <a:r>
              <a:rPr lang="en-US" sz="984" dirty="0">
                <a:solidFill>
                  <a:srgbClr val="FFD166"/>
                </a:solidFill>
                <a:latin typeface="Segoe UI Symbol" pitchFamily="34" charset="0"/>
                <a:ea typeface="Segoe UI Symbol" pitchFamily="34" charset="-122"/>
                <a:cs typeface="Segoe UI Symbol" pitchFamily="34" charset="-120"/>
              </a:rPr>
              <a:t>★</a:t>
            </a:r>
            <a:endParaRPr lang="en-US" sz="984" dirty="0"/>
          </a:p>
        </p:txBody>
      </p:sp>
      <p:sp>
        <p:nvSpPr>
          <p:cNvPr id="13" name="Text 6"/>
          <p:cNvSpPr/>
          <p:nvPr/>
        </p:nvSpPr>
        <p:spPr>
          <a:xfrm>
            <a:off x="4343400" y="667941"/>
            <a:ext cx="4620578" cy="299729"/>
          </a:xfrm>
          <a:prstGeom prst="rect">
            <a:avLst/>
          </a:prstGeom>
          <a:noFill/>
          <a:ln/>
        </p:spPr>
        <p:txBody>
          <a:bodyPr wrap="none" lIns="0" tIns="0" rIns="0" bIns="0" rtlCol="0" anchor="t">
            <a:normAutofit/>
          </a:bodyPr>
          <a:lstStyle/>
          <a:p>
            <a:pPr algn="l" indent="0" marL="0">
              <a:lnSpc>
                <a:spcPts val="2351"/>
              </a:lnSpc>
              <a:buNone/>
            </a:pPr>
            <a:r>
              <a:rPr lang="en-US" sz="2138" b="1" dirty="0">
                <a:solidFill>
                  <a:srgbClr val="00D9FF"/>
                </a:solidFill>
                <a:latin typeface="Carlito" pitchFamily="34" charset="0"/>
                <a:ea typeface="Carlito" pitchFamily="34" charset="-122"/>
                <a:cs typeface="Carlito" pitchFamily="34" charset="-120"/>
              </a:rPr>
              <a:t>النقاط الأساسية</a:t>
            </a:r>
            <a:endParaRPr lang="en-US" sz="2138" dirty="0"/>
          </a:p>
        </p:txBody>
      </p:sp>
      <p:sp>
        <p:nvSpPr>
          <p:cNvPr id="14" name="Text 7"/>
          <p:cNvSpPr/>
          <p:nvPr/>
        </p:nvSpPr>
        <p:spPr>
          <a:xfrm>
            <a:off x="4343400" y="995102"/>
            <a:ext cx="4752594" cy="173593"/>
          </a:xfrm>
          <a:prstGeom prst="rect">
            <a:avLst/>
          </a:prstGeom>
          <a:noFill/>
          <a:ln/>
        </p:spPr>
        <p:txBody>
          <a:bodyPr wrap="square" lIns="0" tIns="0" rIns="0" bIns="0" rtlCol="0" anchor="t"/>
          <a:lstStyle/>
          <a:p>
            <a:pPr algn="l" indent="0" marL="0">
              <a:lnSpc>
                <a:spcPts val="1266"/>
              </a:lnSpc>
              <a:buNone/>
            </a:pPr>
            <a:r>
              <a:rPr lang="en-US" sz="844" dirty="0">
                <a:solidFill>
                  <a:srgbClr val="8AA0CC"/>
                </a:solidFill>
                <a:latin typeface="Carlito" pitchFamily="34" charset="0"/>
                <a:ea typeface="Carlito" pitchFamily="34" charset="-122"/>
                <a:cs typeface="Carlito" pitchFamily="34" charset="-120"/>
              </a:rPr>
              <a:t>5 مفاتيح لتذكرها من هذه الرحلة</a:t>
            </a:r>
            <a:endParaRPr lang="en-US" sz="844" dirty="0"/>
          </a:p>
        </p:txBody>
      </p:sp>
      <p:pic>
        <p:nvPicPr>
          <p:cNvPr id="15" name="Image 5" descr="preencoded.png">    </p:cNvPr>
          <p:cNvPicPr>
            <a:picLocks noChangeAspect="1"/>
          </p:cNvPicPr>
          <p:nvPr/>
        </p:nvPicPr>
        <p:blipFill>
          <a:blip r:embed="rId6"/>
          <a:stretch>
            <a:fillRect/>
          </a:stretch>
        </p:blipFill>
        <p:spPr>
          <a:xfrm>
            <a:off x="8515350" y="1255849"/>
            <a:ext cx="228600" cy="228600"/>
          </a:xfrm>
          <a:prstGeom prst="rect">
            <a:avLst/>
          </a:prstGeom>
        </p:spPr>
      </p:pic>
      <p:sp>
        <p:nvSpPr>
          <p:cNvPr id="16" name="Text 8"/>
          <p:cNvSpPr/>
          <p:nvPr/>
        </p:nvSpPr>
        <p:spPr>
          <a:xfrm>
            <a:off x="8515350" y="1255849"/>
            <a:ext cx="228600" cy="228600"/>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1</a:t>
            </a:r>
            <a:endParaRPr lang="en-US" sz="800" dirty="0"/>
          </a:p>
        </p:txBody>
      </p:sp>
      <p:sp>
        <p:nvSpPr>
          <p:cNvPr id="17" name="Text 9"/>
          <p:cNvSpPr/>
          <p:nvPr/>
        </p:nvSpPr>
        <p:spPr>
          <a:xfrm>
            <a:off x="6018609" y="1295140"/>
            <a:ext cx="2603897" cy="162020"/>
          </a:xfrm>
          <a:prstGeom prst="rect">
            <a:avLst/>
          </a:prstGeom>
          <a:noFill/>
          <a:ln/>
        </p:spPr>
        <p:txBody>
          <a:bodyPr wrap="square" lIns="0" tIns="0" rIns="0" bIns="0" rtlCol="0" anchor="t"/>
          <a:lstStyle/>
          <a:p>
            <a:pPr algn="l" indent="0" marL="0">
              <a:lnSpc>
                <a:spcPts val="1181"/>
              </a:lnSpc>
              <a:buNone/>
            </a:pPr>
            <a:r>
              <a:rPr lang="en-US" sz="844" dirty="0">
                <a:solidFill>
                  <a:srgbClr val="EAF6FF"/>
                </a:solidFill>
                <a:latin typeface="Carlito" pitchFamily="34" charset="0"/>
                <a:ea typeface="Carlito" pitchFamily="34" charset="-122"/>
                <a:cs typeface="Carlito" pitchFamily="34" charset="-120"/>
              </a:rPr>
              <a:t>البيانات الجيدة أهم من الخوارزمية الذكية</a:t>
            </a:r>
            <a:endParaRPr lang="en-US" sz="844" dirty="0"/>
          </a:p>
        </p:txBody>
      </p:sp>
      <p:pic>
        <p:nvPicPr>
          <p:cNvPr id="18" name="Image 6" descr="preencoded.png">    </p:cNvPr>
          <p:cNvPicPr>
            <a:picLocks noChangeAspect="1"/>
          </p:cNvPicPr>
          <p:nvPr/>
        </p:nvPicPr>
        <p:blipFill>
          <a:blip r:embed="rId7"/>
          <a:stretch>
            <a:fillRect/>
          </a:stretch>
        </p:blipFill>
        <p:spPr>
          <a:xfrm>
            <a:off x="8515350" y="1541599"/>
            <a:ext cx="228600" cy="228600"/>
          </a:xfrm>
          <a:prstGeom prst="rect">
            <a:avLst/>
          </a:prstGeom>
        </p:spPr>
      </p:pic>
      <p:sp>
        <p:nvSpPr>
          <p:cNvPr id="19" name="Text 10"/>
          <p:cNvSpPr/>
          <p:nvPr/>
        </p:nvSpPr>
        <p:spPr>
          <a:xfrm>
            <a:off x="8515350" y="1541599"/>
            <a:ext cx="228600" cy="228600"/>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2</a:t>
            </a:r>
            <a:endParaRPr lang="en-US" sz="800" dirty="0"/>
          </a:p>
        </p:txBody>
      </p:sp>
      <p:sp>
        <p:nvSpPr>
          <p:cNvPr id="20" name="Text 11"/>
          <p:cNvSpPr/>
          <p:nvPr/>
        </p:nvSpPr>
        <p:spPr>
          <a:xfrm>
            <a:off x="6211491" y="1580890"/>
            <a:ext cx="2395585" cy="162020"/>
          </a:xfrm>
          <a:prstGeom prst="rect">
            <a:avLst/>
          </a:prstGeom>
          <a:noFill/>
          <a:ln/>
        </p:spPr>
        <p:txBody>
          <a:bodyPr wrap="square" lIns="0" tIns="0" rIns="0" bIns="0" rtlCol="0" anchor="t"/>
          <a:lstStyle/>
          <a:p>
            <a:pPr algn="l" indent="0" marL="0">
              <a:lnSpc>
                <a:spcPts val="1181"/>
              </a:lnSpc>
              <a:buNone/>
            </a:pPr>
            <a:r>
              <a:rPr lang="en-US" sz="844" dirty="0">
                <a:solidFill>
                  <a:srgbClr val="EAF6FF"/>
                </a:solidFill>
                <a:latin typeface="Carlito" pitchFamily="34" charset="0"/>
                <a:ea typeface="Carlito" pitchFamily="34" charset="-122"/>
                <a:cs typeface="Carlito" pitchFamily="34" charset="-120"/>
              </a:rPr>
              <a:t>اختر نوع التعلم المناسب لطبيعة مشكلتك</a:t>
            </a:r>
            <a:endParaRPr lang="en-US" sz="844" dirty="0"/>
          </a:p>
        </p:txBody>
      </p:sp>
      <p:pic>
        <p:nvPicPr>
          <p:cNvPr id="21" name="Image 7" descr="preencoded.png">    </p:cNvPr>
          <p:cNvPicPr>
            <a:picLocks noChangeAspect="1"/>
          </p:cNvPicPr>
          <p:nvPr/>
        </p:nvPicPr>
        <p:blipFill>
          <a:blip r:embed="rId8"/>
          <a:stretch>
            <a:fillRect/>
          </a:stretch>
        </p:blipFill>
        <p:spPr>
          <a:xfrm>
            <a:off x="8515350" y="1827349"/>
            <a:ext cx="228600" cy="228600"/>
          </a:xfrm>
          <a:prstGeom prst="rect">
            <a:avLst/>
          </a:prstGeom>
        </p:spPr>
      </p:pic>
      <p:sp>
        <p:nvSpPr>
          <p:cNvPr id="22" name="Text 12"/>
          <p:cNvSpPr/>
          <p:nvPr/>
        </p:nvSpPr>
        <p:spPr>
          <a:xfrm>
            <a:off x="8515350" y="1827349"/>
            <a:ext cx="228600" cy="228600"/>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3</a:t>
            </a:r>
            <a:endParaRPr lang="en-US" sz="800" dirty="0"/>
          </a:p>
        </p:txBody>
      </p:sp>
      <p:sp>
        <p:nvSpPr>
          <p:cNvPr id="23" name="Text 13"/>
          <p:cNvSpPr/>
          <p:nvPr/>
        </p:nvSpPr>
        <p:spPr>
          <a:xfrm>
            <a:off x="6076764" y="1866640"/>
            <a:ext cx="2541090" cy="162020"/>
          </a:xfrm>
          <a:prstGeom prst="rect">
            <a:avLst/>
          </a:prstGeom>
          <a:noFill/>
          <a:ln/>
        </p:spPr>
        <p:txBody>
          <a:bodyPr wrap="square" lIns="0" tIns="0" rIns="0" bIns="0" rtlCol="0" anchor="t"/>
          <a:lstStyle/>
          <a:p>
            <a:pPr algn="l" indent="0" marL="0">
              <a:lnSpc>
                <a:spcPts val="1181"/>
              </a:lnSpc>
              <a:buNone/>
            </a:pPr>
            <a:r>
              <a:rPr lang="en-US" sz="844" dirty="0">
                <a:solidFill>
                  <a:srgbClr val="EAF6FF"/>
                </a:solidFill>
                <a:latin typeface="Carlito" pitchFamily="34" charset="0"/>
                <a:ea typeface="Carlito" pitchFamily="34" charset="-122"/>
                <a:cs typeface="Carlito" pitchFamily="34" charset="-120"/>
              </a:rPr>
              <a:t>Adam هو المحسّن الافتراضي لمعظم التطبيقات</a:t>
            </a:r>
            <a:endParaRPr lang="en-US" sz="844" dirty="0"/>
          </a:p>
        </p:txBody>
      </p:sp>
      <p:pic>
        <p:nvPicPr>
          <p:cNvPr id="24" name="Image 8" descr="preencoded.png">    </p:cNvPr>
          <p:cNvPicPr>
            <a:picLocks noChangeAspect="1"/>
          </p:cNvPicPr>
          <p:nvPr/>
        </p:nvPicPr>
        <p:blipFill>
          <a:blip r:embed="rId9"/>
          <a:stretch>
            <a:fillRect/>
          </a:stretch>
        </p:blipFill>
        <p:spPr>
          <a:xfrm>
            <a:off x="8515350" y="2113099"/>
            <a:ext cx="228600" cy="228600"/>
          </a:xfrm>
          <a:prstGeom prst="rect">
            <a:avLst/>
          </a:prstGeom>
        </p:spPr>
      </p:pic>
      <p:sp>
        <p:nvSpPr>
          <p:cNvPr id="25" name="Text 14"/>
          <p:cNvSpPr/>
          <p:nvPr/>
        </p:nvSpPr>
        <p:spPr>
          <a:xfrm>
            <a:off x="8515350" y="2113099"/>
            <a:ext cx="228600" cy="228600"/>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4</a:t>
            </a:r>
            <a:endParaRPr lang="en-US" sz="800" dirty="0"/>
          </a:p>
        </p:txBody>
      </p:sp>
      <p:sp>
        <p:nvSpPr>
          <p:cNvPr id="26" name="Text 15"/>
          <p:cNvSpPr/>
          <p:nvPr/>
        </p:nvSpPr>
        <p:spPr>
          <a:xfrm>
            <a:off x="6275338" y="2152390"/>
            <a:ext cx="2326630" cy="162020"/>
          </a:xfrm>
          <a:prstGeom prst="rect">
            <a:avLst/>
          </a:prstGeom>
          <a:noFill/>
          <a:ln/>
        </p:spPr>
        <p:txBody>
          <a:bodyPr wrap="square" lIns="0" tIns="0" rIns="0" bIns="0" rtlCol="0" anchor="t"/>
          <a:lstStyle/>
          <a:p>
            <a:pPr algn="l" indent="0" marL="0">
              <a:lnSpc>
                <a:spcPts val="1181"/>
              </a:lnSpc>
              <a:buNone/>
            </a:pPr>
            <a:r>
              <a:rPr lang="en-US" sz="844" dirty="0">
                <a:solidFill>
                  <a:srgbClr val="EAF6FF"/>
                </a:solidFill>
                <a:latin typeface="Carlito" pitchFamily="34" charset="0"/>
                <a:ea typeface="Carlito" pitchFamily="34" charset="-122"/>
                <a:cs typeface="Carlito" pitchFamily="34" charset="-120"/>
              </a:rPr>
              <a:t>حلقة التدريب = Forward + Backward + Step</a:t>
            </a:r>
            <a:endParaRPr lang="en-US" sz="844" dirty="0"/>
          </a:p>
        </p:txBody>
      </p:sp>
      <p:pic>
        <p:nvPicPr>
          <p:cNvPr id="27" name="Image 9" descr="preencoded.png">    </p:cNvPr>
          <p:cNvPicPr>
            <a:picLocks noChangeAspect="1"/>
          </p:cNvPicPr>
          <p:nvPr/>
        </p:nvPicPr>
        <p:blipFill>
          <a:blip r:embed="rId10"/>
          <a:stretch>
            <a:fillRect/>
          </a:stretch>
        </p:blipFill>
        <p:spPr>
          <a:xfrm>
            <a:off x="8515350" y="2398849"/>
            <a:ext cx="228600" cy="228600"/>
          </a:xfrm>
          <a:prstGeom prst="rect">
            <a:avLst/>
          </a:prstGeom>
        </p:spPr>
      </p:pic>
      <p:sp>
        <p:nvSpPr>
          <p:cNvPr id="28" name="Text 16"/>
          <p:cNvSpPr/>
          <p:nvPr/>
        </p:nvSpPr>
        <p:spPr>
          <a:xfrm>
            <a:off x="8515350" y="2398849"/>
            <a:ext cx="228600" cy="228600"/>
          </a:xfrm>
          <a:prstGeom prst="rect">
            <a:avLst/>
          </a:prstGeom>
          <a:noFill/>
          <a:ln/>
        </p:spPr>
        <p:txBody>
          <a:bodyPr wrap="none" lIns="0" tIns="0" rIns="0" bIns="0" rtlCol="0" anchor="ctr"/>
          <a:lstStyle/>
          <a:p>
            <a:pPr algn="ctr" indent="0" marL="0">
              <a:lnSpc>
                <a:spcPts val="1181"/>
              </a:lnSpc>
              <a:buNone/>
            </a:pPr>
            <a:r>
              <a:rPr lang="en-US" sz="800" b="1" dirty="0">
                <a:solidFill>
                  <a:srgbClr val="FFFFFF"/>
                </a:solidFill>
                <a:latin typeface="Liberation Sans Narrow" pitchFamily="34" charset="0"/>
                <a:ea typeface="Liberation Sans Narrow" pitchFamily="34" charset="-122"/>
                <a:cs typeface="Liberation Sans Narrow" pitchFamily="34" charset="-120"/>
              </a:rPr>
              <a:t>5</a:t>
            </a:r>
            <a:endParaRPr lang="en-US" sz="800" dirty="0"/>
          </a:p>
        </p:txBody>
      </p:sp>
      <p:sp>
        <p:nvSpPr>
          <p:cNvPr id="29" name="Text 17"/>
          <p:cNvSpPr/>
          <p:nvPr/>
        </p:nvSpPr>
        <p:spPr>
          <a:xfrm>
            <a:off x="5890022" y="2438140"/>
            <a:ext cx="2742771" cy="162020"/>
          </a:xfrm>
          <a:prstGeom prst="rect">
            <a:avLst/>
          </a:prstGeom>
          <a:noFill/>
          <a:ln/>
        </p:spPr>
        <p:txBody>
          <a:bodyPr wrap="square" lIns="0" tIns="0" rIns="0" bIns="0" rtlCol="0" anchor="t"/>
          <a:lstStyle/>
          <a:p>
            <a:pPr algn="l" indent="0" marL="0">
              <a:lnSpc>
                <a:spcPts val="1181"/>
              </a:lnSpc>
              <a:buNone/>
            </a:pPr>
            <a:r>
              <a:rPr lang="en-US" sz="844" dirty="0">
                <a:solidFill>
                  <a:srgbClr val="EAF6FF"/>
                </a:solidFill>
                <a:latin typeface="Carlito" pitchFamily="34" charset="0"/>
                <a:ea typeface="Carlito" pitchFamily="34" charset="-122"/>
                <a:cs typeface="Carlito" pitchFamily="34" charset="-120"/>
              </a:rPr>
              <a:t>القياس والمراقبة هما مفتاح التحسين المستمر</a:t>
            </a:r>
            <a:endParaRPr lang="en-US" sz="844" dirty="0"/>
          </a:p>
        </p:txBody>
      </p:sp>
      <p:sp>
        <p:nvSpPr>
          <p:cNvPr id="30" name="Text 18"/>
          <p:cNvSpPr/>
          <p:nvPr/>
        </p:nvSpPr>
        <p:spPr>
          <a:xfrm>
            <a:off x="4343400" y="3682603"/>
            <a:ext cx="4800600" cy="372618"/>
          </a:xfrm>
          <a:prstGeom prst="rect">
            <a:avLst/>
          </a:prstGeom>
          <a:noFill/>
          <a:ln/>
        </p:spPr>
        <p:txBody>
          <a:bodyPr wrap="none" lIns="0" tIns="0" rIns="0" bIns="0" rtlCol="0" anchor="t">
            <a:normAutofit/>
          </a:bodyPr>
          <a:lstStyle/>
          <a:p>
            <a:pPr algn="l" indent="0" marL="0">
              <a:lnSpc>
                <a:spcPts val="3038"/>
              </a:lnSpc>
              <a:buNone/>
            </a:pPr>
            <a:r>
              <a:rPr lang="en-US" sz="3038" b="1" dirty="0">
                <a:solidFill>
                  <a:srgbClr val="00D9FF"/>
                </a:solidFill>
                <a:latin typeface="Carlito" pitchFamily="34" charset="0"/>
                <a:ea typeface="Carlito" pitchFamily="34" charset="-122"/>
                <a:cs typeface="Carlito" pitchFamily="34" charset="-120"/>
              </a:rPr>
              <a:t>شكراً لكم</a:t>
            </a:r>
            <a:endParaRPr lang="en-US" sz="3038" dirty="0"/>
          </a:p>
        </p:txBody>
      </p:sp>
      <p:sp>
        <p:nvSpPr>
          <p:cNvPr id="31" name="Text 19"/>
          <p:cNvSpPr/>
          <p:nvPr/>
        </p:nvSpPr>
        <p:spPr>
          <a:xfrm>
            <a:off x="4343400" y="4082653"/>
            <a:ext cx="4800600" cy="164592"/>
          </a:xfrm>
          <a:prstGeom prst="rect">
            <a:avLst/>
          </a:prstGeom>
          <a:noFill/>
          <a:ln/>
        </p:spPr>
        <p:txBody>
          <a:bodyPr wrap="none" lIns="0" tIns="0" rIns="0" bIns="0" rtlCol="0" anchor="t"/>
          <a:lstStyle/>
          <a:p>
            <a:pPr algn="l" indent="0" marL="0">
              <a:lnSpc>
                <a:spcPts val="1181"/>
              </a:lnSpc>
              <a:buNone/>
            </a:pPr>
            <a:r>
              <a:rPr lang="en-US" sz="800" spc="32" kern="0" dirty="0">
                <a:solidFill>
                  <a:srgbClr val="8AA0CC"/>
                </a:solidFill>
                <a:latin typeface="Courier New" pitchFamily="34" charset="0"/>
                <a:ea typeface="Courier New" pitchFamily="34" charset="-122"/>
                <a:cs typeface="Courier New" pitchFamily="34" charset="-120"/>
              </a:rPr>
              <a:t>Thank You</a:t>
            </a:r>
            <a:endParaRPr lang="en-US" sz="800" dirty="0"/>
          </a:p>
        </p:txBody>
      </p:sp>
      <p:sp>
        <p:nvSpPr>
          <p:cNvPr id="32" name="Text 20"/>
          <p:cNvSpPr/>
          <p:nvPr/>
        </p:nvSpPr>
        <p:spPr>
          <a:xfrm>
            <a:off x="8629650" y="4293394"/>
            <a:ext cx="114300" cy="114300"/>
          </a:xfrm>
          <a:prstGeom prst="rect">
            <a:avLst/>
          </a:prstGeom>
          <a:noFill/>
          <a:ln/>
        </p:spPr>
        <p:txBody>
          <a:bodyPr wrap="none" lIns="0" tIns="0" rIns="0" bIns="0" rtlCol="0" anchor="ctr"/>
          <a:lstStyle/>
          <a:p>
            <a:pPr algn="ctr" indent="0" marL="0">
              <a:buNone/>
            </a:pPr>
            <a:r>
              <a:rPr lang="en-US" sz="1125" dirty="0">
                <a:solidFill>
                  <a:srgbClr val="00D9FF"/>
                </a:solidFill>
                <a:latin typeface="Segoe UI Symbol" pitchFamily="34" charset="0"/>
                <a:ea typeface="Segoe UI Symbol" pitchFamily="34" charset="-122"/>
                <a:cs typeface="Segoe UI Symbol" pitchFamily="34" charset="-120"/>
              </a:rPr>
              <a:t>◌</a:t>
            </a:r>
            <a:endParaRPr lang="en-US" sz="1125" dirty="0"/>
          </a:p>
        </p:txBody>
      </p:sp>
      <p:sp>
        <p:nvSpPr>
          <p:cNvPr id="33" name="Text 21"/>
          <p:cNvSpPr/>
          <p:nvPr/>
        </p:nvSpPr>
        <p:spPr>
          <a:xfrm>
            <a:off x="7383735" y="4275534"/>
            <a:ext cx="1323357" cy="164592"/>
          </a:xfrm>
          <a:prstGeom prst="rect">
            <a:avLst/>
          </a:prstGeom>
          <a:noFill/>
          <a:ln/>
        </p:spPr>
        <p:txBody>
          <a:bodyPr wrap="none" lIns="0" tIns="0" rIns="0" bIns="0" rtlCol="0" anchor="t"/>
          <a:lstStyle/>
          <a:p>
            <a:pPr algn="l" indent="0" marL="0">
              <a:lnSpc>
                <a:spcPts val="1181"/>
              </a:lnSpc>
              <a:buNone/>
            </a:pPr>
            <a:r>
              <a:rPr lang="en-US" sz="800" dirty="0">
                <a:solidFill>
                  <a:srgbClr val="EAF6FF"/>
                </a:solidFill>
                <a:latin typeface="Carlito" pitchFamily="34" charset="0"/>
                <a:ea typeface="Carlito" pitchFamily="34" charset="-122"/>
                <a:cs typeface="Carlito" pitchFamily="34" charset="-120"/>
              </a:rPr>
              <a:t>أسئلتكم تستحق المناقشة</a:t>
            </a:r>
            <a:endParaRPr lang="en-US" sz="800" dirty="0"/>
          </a:p>
        </p:txBody>
      </p:sp>
      <p:sp>
        <p:nvSpPr>
          <p:cNvPr id="34" name="Text 22"/>
          <p:cNvSpPr/>
          <p:nvPr/>
        </p:nvSpPr>
        <p:spPr>
          <a:xfrm>
            <a:off x="7999549" y="4499062"/>
            <a:ext cx="744401" cy="228029"/>
          </a:xfrm>
          <a:prstGeom prst="roundRect">
            <a:avLst>
              <a:gd name="adj" fmla="val 4172923"/>
            </a:avLst>
          </a:prstGeom>
          <a:solidFill>
            <a:srgbClr val="00D9FF">
              <a:alpha val="8000"/>
            </a:srgbClr>
          </a:solidFill>
          <a:ln w="7144">
            <a:solidFill>
              <a:srgbClr val="00D9FF"/>
            </a:solidFill>
            <a:prstDash val="solid"/>
          </a:ln>
        </p:spPr>
        <p:txBody>
          <a:bodyPr wrap="square" rtlCol="0" anchor="ctr"/>
          <a:lstStyle/>
          <a:p>
            <a:pPr indent="0" marL="0">
              <a:buNone/>
            </a:pPr>
            <a:endParaRPr lang="en-US" dirty="0"/>
          </a:p>
        </p:txBody>
      </p:sp>
      <p:sp>
        <p:nvSpPr>
          <p:cNvPr id="35" name="Text 23"/>
          <p:cNvSpPr/>
          <p:nvPr/>
        </p:nvSpPr>
        <p:spPr>
          <a:xfrm>
            <a:off x="8085274" y="4561284"/>
            <a:ext cx="658676" cy="139654"/>
          </a:xfrm>
          <a:prstGeom prst="rect">
            <a:avLst/>
          </a:prstGeom>
          <a:noFill/>
          <a:ln/>
        </p:spPr>
        <p:txBody>
          <a:bodyPr wrap="none" lIns="0" tIns="0" rIns="0" bIns="0" rtlCol="0" anchor="t"/>
          <a:lstStyle/>
          <a:p>
            <a:pPr algn="l" indent="0" marL="0">
              <a:lnSpc>
                <a:spcPts val="928"/>
              </a:lnSpc>
              <a:buNone/>
            </a:pPr>
            <a:r>
              <a:rPr lang="en-US" sz="800" dirty="0">
                <a:solidFill>
                  <a:srgbClr val="00D9FF"/>
                </a:solidFill>
                <a:latin typeface="Carlito" pitchFamily="34" charset="0"/>
                <a:ea typeface="Carlito" pitchFamily="34" charset="-122"/>
                <a:cs typeface="Carlito" pitchFamily="34" charset="-120"/>
              </a:rPr>
              <a:t>Q&amp;A مفتوح</a:t>
            </a:r>
            <a:endParaRPr lang="en-US" sz="800" dirty="0"/>
          </a:p>
        </p:txBody>
      </p:sp>
      <p:sp>
        <p:nvSpPr>
          <p:cNvPr id="36" name="Text 24"/>
          <p:cNvSpPr/>
          <p:nvPr/>
        </p:nvSpPr>
        <p:spPr>
          <a:xfrm>
            <a:off x="8565356" y="4566642"/>
            <a:ext cx="92869" cy="92869"/>
          </a:xfrm>
          <a:prstGeom prst="rect">
            <a:avLst/>
          </a:prstGeom>
          <a:noFill/>
          <a:ln/>
        </p:spPr>
        <p:txBody>
          <a:bodyPr wrap="none" lIns="0" tIns="0" rIns="0" bIns="0" rtlCol="0" anchor="ctr"/>
          <a:lstStyle/>
          <a:p>
            <a:pPr algn="ctr" indent="0" marL="0">
              <a:buNone/>
            </a:pPr>
            <a:r>
              <a:rPr lang="en-US" sz="914" dirty="0">
                <a:solidFill>
                  <a:srgbClr val="00D9FF"/>
                </a:solidFill>
                <a:latin typeface="Segoe UI Symbol" pitchFamily="34" charset="0"/>
                <a:ea typeface="Segoe UI Symbol" pitchFamily="34" charset="-122"/>
                <a:cs typeface="Segoe UI Symbol" pitchFamily="34" charset="-120"/>
              </a:rPr>
              <a:t>◌</a:t>
            </a:r>
            <a:endParaRPr lang="en-US" sz="914" dirty="0"/>
          </a:p>
        </p:txBody>
      </p:sp>
      <p:sp>
        <p:nvSpPr>
          <p:cNvPr id="37" name="Text 25"/>
          <p:cNvSpPr/>
          <p:nvPr/>
        </p:nvSpPr>
        <p:spPr>
          <a:xfrm>
            <a:off x="6874408" y="4499062"/>
            <a:ext cx="1067991" cy="228029"/>
          </a:xfrm>
          <a:prstGeom prst="roundRect">
            <a:avLst>
              <a:gd name="adj" fmla="val 4172923"/>
            </a:avLst>
          </a:prstGeom>
          <a:solidFill>
            <a:srgbClr val="B845FF">
              <a:alpha val="10000"/>
            </a:srgbClr>
          </a:solidFill>
          <a:ln w="7144">
            <a:solidFill>
              <a:srgbClr val="B845FF"/>
            </a:solidFill>
            <a:prstDash val="solid"/>
          </a:ln>
        </p:spPr>
        <p:txBody>
          <a:bodyPr wrap="square" rtlCol="0" anchor="ctr"/>
          <a:lstStyle/>
          <a:p>
            <a:pPr indent="0" marL="0">
              <a:buNone/>
            </a:pPr>
            <a:endParaRPr lang="en-US" dirty="0"/>
          </a:p>
        </p:txBody>
      </p:sp>
      <p:sp>
        <p:nvSpPr>
          <p:cNvPr id="38" name="Text 26"/>
          <p:cNvSpPr/>
          <p:nvPr/>
        </p:nvSpPr>
        <p:spPr>
          <a:xfrm>
            <a:off x="6960133" y="4561284"/>
            <a:ext cx="1010841" cy="139654"/>
          </a:xfrm>
          <a:prstGeom prst="rect">
            <a:avLst/>
          </a:prstGeom>
          <a:noFill/>
          <a:ln/>
        </p:spPr>
        <p:txBody>
          <a:bodyPr wrap="none" lIns="0" tIns="0" rIns="0" bIns="0" rtlCol="0" anchor="t"/>
          <a:lstStyle/>
          <a:p>
            <a:pPr algn="l" indent="0" marL="0">
              <a:lnSpc>
                <a:spcPts val="928"/>
              </a:lnSpc>
              <a:buNone/>
            </a:pPr>
            <a:r>
              <a:rPr lang="en-US" sz="619" dirty="0">
                <a:solidFill>
                  <a:srgbClr val="B845FF"/>
                </a:solidFill>
                <a:latin typeface="Courier New" pitchFamily="34" charset="0"/>
                <a:ea typeface="Courier New" pitchFamily="34" charset="-122"/>
                <a:cs typeface="Courier New" pitchFamily="34" charset="-120"/>
              </a:rPr>
              <a:t>@AI_Training_Skills</a:t>
            </a:r>
            <a:endParaRPr lang="en-US" sz="619" dirty="0"/>
          </a:p>
        </p:txBody>
      </p:sp>
      <p:sp>
        <p:nvSpPr>
          <p:cNvPr id="39" name="Text 27"/>
          <p:cNvSpPr/>
          <p:nvPr/>
        </p:nvSpPr>
        <p:spPr>
          <a:xfrm>
            <a:off x="7763805" y="4566642"/>
            <a:ext cx="92869" cy="92869"/>
          </a:xfrm>
          <a:prstGeom prst="rect">
            <a:avLst/>
          </a:prstGeom>
          <a:noFill/>
          <a:ln/>
        </p:spPr>
        <p:txBody>
          <a:bodyPr wrap="none" lIns="0" tIns="0" rIns="0" bIns="0" rtlCol="0" anchor="ctr"/>
          <a:lstStyle/>
          <a:p>
            <a:pPr algn="ctr" indent="0" marL="0">
              <a:buNone/>
            </a:pPr>
            <a:r>
              <a:rPr lang="en-US" sz="914" dirty="0">
                <a:solidFill>
                  <a:srgbClr val="B845FF"/>
                </a:solidFill>
                <a:latin typeface="Segoe UI Symbol" pitchFamily="34" charset="0"/>
                <a:ea typeface="Segoe UI Symbol" pitchFamily="34" charset="-122"/>
                <a:cs typeface="Segoe UI Symbol" pitchFamily="34" charset="-120"/>
              </a:rPr>
              <a:t>✉</a:t>
            </a:r>
            <a:endParaRPr lang="en-US" sz="914" dirty="0"/>
          </a:p>
        </p:txBody>
      </p:sp>
      <p:sp>
        <p:nvSpPr>
          <p:cNvPr id="40" name="Text 28"/>
          <p:cNvSpPr/>
          <p:nvPr/>
        </p:nvSpPr>
        <p:spPr>
          <a:xfrm>
            <a:off x="6145746" y="4499062"/>
            <a:ext cx="671513" cy="228029"/>
          </a:xfrm>
          <a:prstGeom prst="roundRect">
            <a:avLst>
              <a:gd name="adj" fmla="val 4172923"/>
            </a:avLst>
          </a:prstGeom>
          <a:solidFill>
            <a:srgbClr val="FFD166">
              <a:alpha val="10000"/>
            </a:srgbClr>
          </a:solidFill>
          <a:ln w="7144">
            <a:solidFill>
              <a:srgbClr val="FFD166"/>
            </a:solidFill>
            <a:prstDash val="solid"/>
          </a:ln>
        </p:spPr>
        <p:txBody>
          <a:bodyPr wrap="square" rtlCol="0" anchor="ctr"/>
          <a:lstStyle/>
          <a:p>
            <a:pPr indent="0" marL="0">
              <a:buNone/>
            </a:pPr>
            <a:endParaRPr lang="en-US" dirty="0"/>
          </a:p>
        </p:txBody>
      </p:sp>
      <p:sp>
        <p:nvSpPr>
          <p:cNvPr id="41" name="Text 29"/>
          <p:cNvSpPr/>
          <p:nvPr/>
        </p:nvSpPr>
        <p:spPr>
          <a:xfrm>
            <a:off x="6231471" y="4561284"/>
            <a:ext cx="614363" cy="139654"/>
          </a:xfrm>
          <a:prstGeom prst="rect">
            <a:avLst/>
          </a:prstGeom>
          <a:noFill/>
          <a:ln/>
        </p:spPr>
        <p:txBody>
          <a:bodyPr wrap="none" lIns="0" tIns="0" rIns="0" bIns="0" rtlCol="0" anchor="t"/>
          <a:lstStyle/>
          <a:p>
            <a:pPr algn="l" indent="0" marL="0">
              <a:lnSpc>
                <a:spcPts val="928"/>
              </a:lnSpc>
              <a:buNone/>
            </a:pPr>
            <a:r>
              <a:rPr lang="en-US" sz="800" dirty="0">
                <a:solidFill>
                  <a:srgbClr val="FFD166"/>
                </a:solidFill>
                <a:latin typeface="Carlito" pitchFamily="34" charset="0"/>
                <a:ea typeface="Carlito" pitchFamily="34" charset="-122"/>
                <a:cs typeface="Carlito" pitchFamily="34" charset="-120"/>
              </a:rPr>
              <a:t>النهاية</a:t>
            </a:r>
            <a:endParaRPr lang="en-US" sz="800" dirty="0"/>
          </a:p>
        </p:txBody>
      </p:sp>
      <p:sp>
        <p:nvSpPr>
          <p:cNvPr id="42" name="Text 30"/>
          <p:cNvSpPr/>
          <p:nvPr/>
        </p:nvSpPr>
        <p:spPr>
          <a:xfrm>
            <a:off x="6638665" y="4566642"/>
            <a:ext cx="92869" cy="92869"/>
          </a:xfrm>
          <a:prstGeom prst="rect">
            <a:avLst/>
          </a:prstGeom>
          <a:noFill/>
          <a:ln/>
        </p:spPr>
        <p:txBody>
          <a:bodyPr wrap="none" lIns="0" tIns="0" rIns="0" bIns="0" rtlCol="0" anchor="ctr"/>
          <a:lstStyle/>
          <a:p>
            <a:pPr algn="ctr" indent="0" marL="0">
              <a:buNone/>
            </a:pPr>
            <a:r>
              <a:rPr lang="en-US" sz="914" dirty="0">
                <a:solidFill>
                  <a:srgbClr val="FFD166"/>
                </a:solidFill>
                <a:latin typeface="Segoe UI Symbol" pitchFamily="34" charset="0"/>
                <a:ea typeface="Segoe UI Symbol" pitchFamily="34" charset="-122"/>
                <a:cs typeface="Segoe UI Symbol" pitchFamily="34" charset="-120"/>
              </a:rPr>
              <a:t>⚑</a:t>
            </a:r>
            <a:endParaRPr lang="en-US" sz="914" dirty="0"/>
          </a:p>
        </p:txBody>
      </p:sp>
      <p:sp>
        <p:nvSpPr>
          <p:cNvPr id="43" name="Text 31"/>
          <p:cNvSpPr/>
          <p:nvPr/>
        </p:nvSpPr>
        <p:spPr>
          <a:xfrm>
            <a:off x="8643938" y="4900613"/>
            <a:ext cx="42863" cy="42863"/>
          </a:xfrm>
          <a:prstGeom prst="roundRect">
            <a:avLst>
              <a:gd name="adj" fmla="val 66666"/>
            </a:avLst>
          </a:prstGeom>
          <a:solidFill>
            <a:srgbClr val="00D9FF"/>
          </a:solidFill>
          <a:ln/>
        </p:spPr>
        <p:txBody>
          <a:bodyPr wrap="square" rtlCol="0" anchor="ctr"/>
          <a:lstStyle/>
          <a:p>
            <a:pPr indent="0" marL="0">
              <a:buNone/>
            </a:pPr>
            <a:endParaRPr lang="en-US" dirty="0"/>
          </a:p>
        </p:txBody>
      </p:sp>
      <p:sp>
        <p:nvSpPr>
          <p:cNvPr id="44" name="Text 32"/>
          <p:cNvSpPr/>
          <p:nvPr/>
        </p:nvSpPr>
        <p:spPr>
          <a:xfrm>
            <a:off x="7897361" y="4857750"/>
            <a:ext cx="1007852"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AI SKILLS — END</a:t>
            </a:r>
            <a:endParaRPr lang="en-US" sz="800" dirty="0"/>
          </a:p>
        </p:txBody>
      </p:sp>
      <p:sp>
        <p:nvSpPr>
          <p:cNvPr id="45" name="Text 33"/>
          <p:cNvSpPr/>
          <p:nvPr/>
        </p:nvSpPr>
        <p:spPr>
          <a:xfrm>
            <a:off x="457200" y="4857750"/>
            <a:ext cx="7453945" cy="164592"/>
          </a:xfrm>
          <a:prstGeom prst="rect">
            <a:avLst/>
          </a:prstGeom>
          <a:noFill/>
          <a:ln/>
        </p:spPr>
        <p:txBody>
          <a:bodyPr wrap="none" lIns="0" tIns="0" rIns="0" bIns="0" rtlCol="0" anchor="t"/>
          <a:lstStyle/>
          <a:p>
            <a:pPr algn="l" indent="0" marL="0">
              <a:lnSpc>
                <a:spcPts val="1013"/>
              </a:lnSpc>
              <a:buNone/>
            </a:pPr>
            <a:r>
              <a:rPr lang="en-US" sz="800" dirty="0">
                <a:solidFill>
                  <a:srgbClr val="5B6B96"/>
                </a:solidFill>
                <a:latin typeface="Carlito" pitchFamily="34" charset="0"/>
                <a:ea typeface="Carlito" pitchFamily="34" charset="-122"/>
                <a:cs typeface="Carlito" pitchFamily="34" charset="-120"/>
              </a:rPr>
              <a:t>صفحة 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2026-09-10T08:11:42Z</dcterms:created>
  <dcterms:modified xsi:type="dcterms:W3CDTF">2026-09-10T08:11:42Z</dcterms:modified>
</cp:coreProperties>
</file>