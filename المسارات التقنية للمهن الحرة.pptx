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أهلاً بكم في هذا العرض حول المسارات التقنية للمهن الحرة. اليوم سنتحدث عن كيفية تحويل مهاراتكم التقنية إلى عمل حر مستدام ومربح.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لماذا نركز على العمل الحر الآن؟ لأننا نعيش في عصر اقتصاد المهارات، حيث لم يعد العمل التقليدي هو الخيار الوحيد، والذكاء الاصطناعي ضاعف قدراتنا بشكل مذهل.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هي الخريطة العامة لمساراتنا اليوم: البناء، التصميم، النمو، والأتمتة. كل مسار يمثل فرصة سوقية ضخمة.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مسار البناء هو القلب النابض للتقنية. سواء كنت تطور مواقع ويب أو تطبيقات هواتف، فأنت تبني الأصول الرقمية التي يحتاجها العالم.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التصميم ليس مجرد جماليات، بل هو وظيفة وتجربة مستخدم. المصمم الناجح هو من يجعل التكنولوجيا سهلة وممتعة للاستخدام.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النمو هو ما يطلبه أصحاب الأعمال فعلياً. استخدام البيانات والـ SEO لتحقيق نتائج ملموسة هو مهارة لا تقدر بثمن.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الأتمتة هي المستقبل. القدرة على ربط الأدوات وبناء سير عمل ذكي توفر آلاف الساعات للشركات، وهي خدمة عالية القيمة.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يكفي أن تكون ماهراً تقنياً، يجب أن تمتلك مكدساً للأعمال: معرض أعمال قوي، عرض واضح، وتسعير ذكي يعتمد على القيمة.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خطة عملية للـ 90 يوماً القادمة. ابدأ بالتعلم، ثم ابنِ ظهورك الرقمي، ثم انطلق تجارياً. التخصص هو مفتاح النجاح.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الخلاصة: العميل لا يشتري الكود أو التصميم، بل يشتري حل مشكلته. ركز على النتيجة وستنجح في مهنتك الحرة. شكراً لكم.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225278" y="1306246"/>
            <a:ext cx="4693444" cy="2531008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00E5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2668191" y="1749158"/>
            <a:ext cx="3807619" cy="1234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750" b="1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المسارات التقنية</a:t>
            </a:r>
            <a:r>
              <a:rPr lang="en-US" sz="3750" b="1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
</a:t>
            </a:r>
            <a:r>
              <a:rPr lang="en-US" sz="3750" b="1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للمهن الحرة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2668191" y="3155026"/>
            <a:ext cx="3807619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spc="1" kern="0" dirty="0">
                <a:solidFill>
                  <a:srgbClr val="00E5FF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ابنِ مهنتك الحرة من مهارة تقنية قابلة للبيع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575947" y="4436269"/>
            <a:ext cx="122515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دليل العمل الحر الحديث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575947" y="4647009"/>
            <a:ext cx="122515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2026 Edition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42900" y="4679156"/>
            <a:ext cx="928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8758238" y="342900"/>
            <a:ext cx="42863" cy="64293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لماذا الآن؟</a:t>
            </a:r>
            <a:endParaRPr lang="en-US" sz="2450" dirty="0"/>
          </a:p>
        </p:txBody>
      </p:sp>
      <p:sp>
        <p:nvSpPr>
          <p:cNvPr id="7" name="Shape 3"/>
          <p:cNvSpPr/>
          <p:nvPr/>
        </p:nvSpPr>
        <p:spPr>
          <a:xfrm>
            <a:off x="4714875" y="1271588"/>
            <a:ext cx="4086225" cy="352901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8" name="Shape 4"/>
          <p:cNvSpPr/>
          <p:nvPr/>
        </p:nvSpPr>
        <p:spPr>
          <a:xfrm>
            <a:off x="8772525" y="1271588"/>
            <a:ext cx="28575" cy="3529013"/>
          </a:xfrm>
          <a:prstGeom prst="rect">
            <a:avLst/>
          </a:prstGeom>
          <a:solidFill>
            <a:srgbClr val="23355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0" y="165735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72213" y="1557338"/>
            <a:ext cx="19002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الماضي: دخل جانبي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763" y="2386013"/>
            <a:ext cx="128588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04359" y="2343150"/>
            <a:ext cx="199667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مهام بسيطة ومنخفضة القيمة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763" y="2746772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00763" y="2703909"/>
            <a:ext cx="22002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الوصول للعملاء العالميين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6763" y="3107531"/>
            <a:ext cx="128588" cy="1285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897291" y="3064669"/>
            <a:ext cx="1403747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محدودة وبطيئة</a:t>
            </a:r>
            <a:endParaRPr lang="en-US" sz="1150" dirty="0"/>
          </a:p>
        </p:txBody>
      </p:sp>
      <p:sp>
        <p:nvSpPr>
          <p:cNvPr id="17" name="Shape 9"/>
          <p:cNvSpPr/>
          <p:nvPr/>
        </p:nvSpPr>
        <p:spPr>
          <a:xfrm>
            <a:off x="342900" y="1271588"/>
            <a:ext cx="4100513" cy="352901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8" name="Shape 10"/>
          <p:cNvSpPr/>
          <p:nvPr/>
        </p:nvSpPr>
        <p:spPr>
          <a:xfrm>
            <a:off x="4414838" y="1271588"/>
            <a:ext cx="28575" cy="3529013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4775" y="1657350"/>
            <a:ext cx="228600" cy="2286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3672" y="1557338"/>
            <a:ext cx="299680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الحاضر: مسار مهني استراتيجي</a:t>
            </a:r>
            <a:endParaRPr lang="en-US" sz="17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788" y="2386013"/>
            <a:ext cx="128588" cy="12858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2818991" y="2343150"/>
            <a:ext cx="1110072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اقتصاد المهارات:</a:t>
            </a:r>
            <a:endParaRPr lang="en-US" sz="1100" dirty="0"/>
          </a:p>
        </p:txBody>
      </p:sp>
      <p:sp>
        <p:nvSpPr>
          <p:cNvPr id="23" name="Text 13"/>
          <p:cNvSpPr/>
          <p:nvPr/>
        </p:nvSpPr>
        <p:spPr>
          <a:xfrm>
            <a:off x="628650" y="2343150"/>
            <a:ext cx="2104616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E6F1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القيمة تُقاس بالنتيجة لا بالساعات</a:t>
            </a:r>
            <a:endParaRPr lang="en-US" sz="11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4788" y="2936081"/>
            <a:ext cx="128588" cy="12858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2761673" y="2893219"/>
            <a:ext cx="116738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الذكاء الاصطناعي:</a:t>
            </a:r>
            <a:endParaRPr lang="en-US" sz="1100" dirty="0"/>
          </a:p>
        </p:txBody>
      </p:sp>
      <p:sp>
        <p:nvSpPr>
          <p:cNvPr id="26" name="Text 15"/>
          <p:cNvSpPr/>
          <p:nvPr/>
        </p:nvSpPr>
        <p:spPr>
          <a:xfrm>
            <a:off x="628650" y="2893219"/>
            <a:ext cx="2047298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E6F1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مضاعف إنتاجية هائل للفرد الواحد</a:t>
            </a:r>
            <a:endParaRPr lang="en-US" sz="11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4788" y="3486150"/>
            <a:ext cx="128588" cy="12858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2839641" y="3443288"/>
            <a:ext cx="108942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الوصول العالمي:</a:t>
            </a:r>
            <a:endParaRPr lang="en-US" sz="1100" dirty="0"/>
          </a:p>
        </p:txBody>
      </p:sp>
      <p:sp>
        <p:nvSpPr>
          <p:cNvPr id="29" name="Text 17"/>
          <p:cNvSpPr/>
          <p:nvPr/>
        </p:nvSpPr>
        <p:spPr>
          <a:xfrm>
            <a:off x="714375" y="3443288"/>
            <a:ext cx="203954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E6F1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منصات متطورة وسوق بلا حدود</a:t>
            </a:r>
            <a:endParaRPr lang="en-US" sz="1150" dirty="0"/>
          </a:p>
        </p:txBody>
      </p:sp>
      <p:sp>
        <p:nvSpPr>
          <p:cNvPr id="30" name="Text 18"/>
          <p:cNvSpPr/>
          <p:nvPr/>
        </p:nvSpPr>
        <p:spPr>
          <a:xfrm>
            <a:off x="342900" y="4679156"/>
            <a:ext cx="1000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8758238" y="342900"/>
            <a:ext cx="42863" cy="64293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خريطة المسارات التقنية</a:t>
            </a:r>
            <a:endParaRPr lang="en-US" sz="2450" dirty="0"/>
          </a:p>
        </p:txBody>
      </p:sp>
      <p:sp>
        <p:nvSpPr>
          <p:cNvPr id="7" name="Shape 3"/>
          <p:cNvSpPr/>
          <p:nvPr/>
        </p:nvSpPr>
        <p:spPr>
          <a:xfrm>
            <a:off x="4657725" y="1271588"/>
            <a:ext cx="4143375" cy="167878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8" name="Shape 4"/>
          <p:cNvSpPr/>
          <p:nvPr/>
        </p:nvSpPr>
        <p:spPr>
          <a:xfrm>
            <a:off x="8772525" y="1271588"/>
            <a:ext cx="28575" cy="1678781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5"/>
          <p:cNvSpPr/>
          <p:nvPr/>
        </p:nvSpPr>
        <p:spPr>
          <a:xfrm>
            <a:off x="8193881" y="1764841"/>
            <a:ext cx="3786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23355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886325" y="1500188"/>
            <a:ext cx="3164681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E5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مسار البناء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86325" y="1960959"/>
            <a:ext cx="31646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تحويل الأفكار إلى واقع ملموس عبر البرمجة وتطوير المنتجات الرقمية.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886325" y="2436019"/>
            <a:ext cx="357188" cy="2857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42900" y="1271588"/>
            <a:ext cx="4143375" cy="167878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4" name="Shape 9"/>
          <p:cNvSpPr/>
          <p:nvPr/>
        </p:nvSpPr>
        <p:spPr>
          <a:xfrm>
            <a:off x="4457700" y="1271588"/>
            <a:ext cx="28575" cy="1678781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5" name="Text 10"/>
          <p:cNvSpPr/>
          <p:nvPr/>
        </p:nvSpPr>
        <p:spPr>
          <a:xfrm>
            <a:off x="3879056" y="1764841"/>
            <a:ext cx="3786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23355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571500" y="1500188"/>
            <a:ext cx="3164681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E5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مسار التصميم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71500" y="1960959"/>
            <a:ext cx="31646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صناعة الجمال والوظيفة من خلال واجهات المستخدم والهوية البصرية.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71500" y="2436019"/>
            <a:ext cx="285750" cy="28575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657725" y="3121819"/>
            <a:ext cx="4143375" cy="167878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0" name="Shape 14"/>
          <p:cNvSpPr/>
          <p:nvPr/>
        </p:nvSpPr>
        <p:spPr>
          <a:xfrm>
            <a:off x="8772525" y="3121819"/>
            <a:ext cx="28575" cy="1678781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1" name="Text 15"/>
          <p:cNvSpPr/>
          <p:nvPr/>
        </p:nvSpPr>
        <p:spPr>
          <a:xfrm>
            <a:off x="8193881" y="3615072"/>
            <a:ext cx="3786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23355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4886325" y="3350419"/>
            <a:ext cx="3164681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E5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مسار النمو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886325" y="3811191"/>
            <a:ext cx="31646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البيانات والمحتوى لجذب العملاء وتحقيق النتائج التجارية.</a:t>
            </a:r>
            <a:endParaRPr lang="en-US" sz="9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4886325" y="4286250"/>
            <a:ext cx="285750" cy="28575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342900" y="3121819"/>
            <a:ext cx="4143375" cy="167878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6" name="Shape 19"/>
          <p:cNvSpPr/>
          <p:nvPr/>
        </p:nvSpPr>
        <p:spPr>
          <a:xfrm>
            <a:off x="4457700" y="3121819"/>
            <a:ext cx="28575" cy="1678781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7" name="Text 20"/>
          <p:cNvSpPr/>
          <p:nvPr/>
        </p:nvSpPr>
        <p:spPr>
          <a:xfrm>
            <a:off x="3879056" y="3512214"/>
            <a:ext cx="3786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23355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764381" y="3350419"/>
            <a:ext cx="297180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E5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مسار الأتمتة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64381" y="3811191"/>
            <a:ext cx="29718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بناء الأنظمة الذكية التي تعمل بدلاً عن البشر وتوفر الوقت.</a:t>
            </a:r>
            <a:endParaRPr lang="en-US" sz="9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71500" y="4286250"/>
            <a:ext cx="357188" cy="2857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2900" y="4679156"/>
            <a:ext cx="1035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8758238" y="342900"/>
            <a:ext cx="42863" cy="64293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مسار البناء: كود ومنتجات</a:t>
            </a:r>
            <a:endParaRPr lang="en-US" sz="2450" dirty="0"/>
          </a:p>
        </p:txBody>
      </p:sp>
      <p:sp>
        <p:nvSpPr>
          <p:cNvPr id="7" name="Shape 3"/>
          <p:cNvSpPr/>
          <p:nvPr/>
        </p:nvSpPr>
        <p:spPr>
          <a:xfrm>
            <a:off x="4779169" y="1535906"/>
            <a:ext cx="4021931" cy="2857500"/>
          </a:xfrm>
          <a:prstGeom prst="rect">
            <a:avLst/>
          </a:prstGeom>
          <a:solidFill>
            <a:srgbClr val="112240"/>
          </a:solidFill>
          <a:ln w="9144">
            <a:solidFill>
              <a:srgbClr val="23355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52170" y="2246709"/>
            <a:ext cx="23918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&lt;div class="freelance-success"&gt;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446453" y="2439591"/>
            <a:ext cx="169753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[Build] =&gt; "Web Apps",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43482" y="2632472"/>
            <a:ext cx="270050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[Stack] =&gt; ["React", "Node", "AI"],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32216" y="2825353"/>
            <a:ext cx="13117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[Value] =&gt; "High"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680982" y="3018234"/>
            <a:ext cx="4630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&lt;/div&gt;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443482" y="3346847"/>
            <a:ext cx="2700505" cy="34290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2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المهارة الأكثر طلباً في السوق العالمي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656" y="1364456"/>
            <a:ext cx="250031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00263" y="1276945"/>
            <a:ext cx="1921669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تطوير الويب المتكامل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42900" y="1709142"/>
            <a:ext cx="40147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بناء مواقع وتطبيقات تفاعلية من الصفر.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153966" y="1994892"/>
            <a:ext cx="1203722" cy="178594"/>
          </a:xfrm>
          <a:prstGeom prst="rect">
            <a:avLst/>
          </a:prstGeom>
          <a:solidFill>
            <a:srgbClr val="233554"/>
          </a:solidFill>
          <a:ln/>
        </p:spPr>
      </p:sp>
      <p:sp>
        <p:nvSpPr>
          <p:cNvPr id="18" name="Text 13"/>
          <p:cNvSpPr/>
          <p:nvPr/>
        </p:nvSpPr>
        <p:spPr>
          <a:xfrm>
            <a:off x="3153966" y="1994892"/>
            <a:ext cx="1203722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React / Next.js / Tailwind</a:t>
            </a:r>
            <a:endParaRPr lang="en-US" sz="7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669" y="2489597"/>
            <a:ext cx="150019" cy="2000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589609" y="2402086"/>
            <a:ext cx="153233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تطبيقات الهواتف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42900" y="2834283"/>
            <a:ext cx="40147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تطوير تطبيقات iOS و Android عابرة للمنصات.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289697" y="3120033"/>
            <a:ext cx="1067991" cy="178594"/>
          </a:xfrm>
          <a:prstGeom prst="rect">
            <a:avLst/>
          </a:prstGeom>
          <a:solidFill>
            <a:srgbClr val="233554"/>
          </a:solidFill>
          <a:ln/>
        </p:spPr>
      </p:sp>
      <p:sp>
        <p:nvSpPr>
          <p:cNvPr id="23" name="Text 17"/>
          <p:cNvSpPr/>
          <p:nvPr/>
        </p:nvSpPr>
        <p:spPr>
          <a:xfrm>
            <a:off x="3289697" y="3120033"/>
            <a:ext cx="1067991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Flutter / React Native</a:t>
            </a:r>
            <a:endParaRPr lang="en-US" sz="7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663" y="3614738"/>
            <a:ext cx="200025" cy="2000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8738" y="3527227"/>
            <a:ext cx="274320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البرمجيات الصغيرة (Micro-SaaS)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342900" y="3959423"/>
            <a:ext cx="40147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بناء أدوات متخصصة تحل مشكلة واحدة محددة.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3375422" y="4245173"/>
            <a:ext cx="982266" cy="178594"/>
          </a:xfrm>
          <a:prstGeom prst="rect">
            <a:avLst/>
          </a:prstGeom>
          <a:solidFill>
            <a:srgbClr val="233554"/>
          </a:solidFill>
          <a:ln/>
        </p:spPr>
      </p:sp>
      <p:sp>
        <p:nvSpPr>
          <p:cNvPr id="28" name="Text 21"/>
          <p:cNvSpPr/>
          <p:nvPr/>
        </p:nvSpPr>
        <p:spPr>
          <a:xfrm>
            <a:off x="3375422" y="4245173"/>
            <a:ext cx="982266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Python / Serverless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342900" y="4679156"/>
            <a:ext cx="1071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8758238" y="342900"/>
            <a:ext cx="42863" cy="64293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مسار التصميم: تجربة وهوية</a:t>
            </a:r>
            <a:endParaRPr lang="en-US" sz="2450" dirty="0"/>
          </a:p>
        </p:txBody>
      </p:sp>
      <p:sp>
        <p:nvSpPr>
          <p:cNvPr id="7" name="Shape 3"/>
          <p:cNvSpPr/>
          <p:nvPr/>
        </p:nvSpPr>
        <p:spPr>
          <a:xfrm>
            <a:off x="6096019" y="1271588"/>
            <a:ext cx="2705081" cy="352901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8" name="Shape 4"/>
          <p:cNvSpPr/>
          <p:nvPr/>
        </p:nvSpPr>
        <p:spPr>
          <a:xfrm>
            <a:off x="6096019" y="1271588"/>
            <a:ext cx="2705081" cy="2857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275" y="1500188"/>
            <a:ext cx="428625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69943" y="2014538"/>
            <a:ext cx="1157288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UI/UX Design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324619" y="2646759"/>
            <a:ext cx="22478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تصميم واجهات المستخدم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324619" y="2886075"/>
            <a:ext cx="22478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هندسة تجربة المستخدم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324619" y="3125391"/>
            <a:ext cx="22478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بناء النماذج الأولية (Prototyping)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6324619" y="3364706"/>
            <a:ext cx="22478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اختبارات قابلية الاستخدام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219487" y="1271588"/>
            <a:ext cx="2705081" cy="352901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6" name="Shape 11"/>
          <p:cNvSpPr/>
          <p:nvPr/>
        </p:nvSpPr>
        <p:spPr>
          <a:xfrm>
            <a:off x="3219487" y="1271588"/>
            <a:ext cx="2705081" cy="28575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743" y="1500188"/>
            <a:ext cx="428625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50550" y="2014538"/>
            <a:ext cx="1243013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Visual Identity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448087" y="2646759"/>
            <a:ext cx="22478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تصميم الشعارات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3448087" y="2886075"/>
            <a:ext cx="22478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بناء أدلة الهوية البصرية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3448087" y="3125391"/>
            <a:ext cx="22478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تصميم المطبوعات الرقمية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3448087" y="3364706"/>
            <a:ext cx="22478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أيقونات مخصصة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42956" y="1271588"/>
            <a:ext cx="2705081" cy="352901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4" name="Shape 18"/>
          <p:cNvSpPr/>
          <p:nvPr/>
        </p:nvSpPr>
        <p:spPr>
          <a:xfrm>
            <a:off x="342956" y="1271588"/>
            <a:ext cx="2705081" cy="2857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74" y="1500188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4342" y="2014538"/>
            <a:ext cx="1782366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Motion &amp; Interaction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571556" y="2646759"/>
            <a:ext cx="22478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تحريك الواجهات (Lottie)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571556" y="2886075"/>
            <a:ext cx="22478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تصميم التفاعلات الدقيقة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71556" y="3125391"/>
            <a:ext cx="22478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فيديوهات شرح المنتجات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71556" y="3364706"/>
            <a:ext cx="22478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مؤثرات بصرية للويب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342900" y="4679156"/>
            <a:ext cx="1035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8758238" y="342900"/>
            <a:ext cx="42863" cy="64293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مسار النمو: بيانات ومحتوى</a:t>
            </a:r>
            <a:endParaRPr lang="en-US" sz="2450" dirty="0"/>
          </a:p>
        </p:txBody>
      </p:sp>
      <p:sp>
        <p:nvSpPr>
          <p:cNvPr id="7" name="Shape 3"/>
          <p:cNvSpPr/>
          <p:nvPr/>
        </p:nvSpPr>
        <p:spPr>
          <a:xfrm>
            <a:off x="3720443" y="1226939"/>
            <a:ext cx="5080657" cy="3475434"/>
          </a:xfrm>
          <a:prstGeom prst="rect">
            <a:avLst/>
          </a:prstGeom>
          <a:solidFill>
            <a:srgbClr val="112240"/>
          </a:solidFill>
          <a:ln w="9144">
            <a:solidFill>
              <a:srgbClr val="23355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494" y="1448395"/>
            <a:ext cx="4636294" cy="2857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40504" y="4377333"/>
            <a:ext cx="464628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المصدر: تقديرات نمو الطلب على المهارات الرقمية 2024-2026</a:t>
            </a:r>
            <a:endParaRPr lang="en-US" sz="600" dirty="0"/>
          </a:p>
        </p:txBody>
      </p:sp>
      <p:sp>
        <p:nvSpPr>
          <p:cNvPr id="10" name="Shape 5"/>
          <p:cNvSpPr/>
          <p:nvPr/>
        </p:nvSpPr>
        <p:spPr>
          <a:xfrm>
            <a:off x="342900" y="1284089"/>
            <a:ext cx="3097541" cy="10287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6"/>
          <p:cNvSpPr/>
          <p:nvPr/>
        </p:nvSpPr>
        <p:spPr>
          <a:xfrm>
            <a:off x="3411866" y="1284089"/>
            <a:ext cx="28575" cy="10287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7"/>
          <p:cNvSpPr/>
          <p:nvPr/>
        </p:nvSpPr>
        <p:spPr>
          <a:xfrm>
            <a:off x="514350" y="1455539"/>
            <a:ext cx="27546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التسويق بالأداء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14350" y="1834158"/>
            <a:ext cx="275464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الحملات الإعلانية الممولة وتحقيق أعلى عائد على الاستثمار (ROAS).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42900" y="2455664"/>
            <a:ext cx="3097541" cy="87510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0"/>
          <p:cNvSpPr/>
          <p:nvPr/>
        </p:nvSpPr>
        <p:spPr>
          <a:xfrm>
            <a:off x="3411866" y="2455664"/>
            <a:ext cx="28575" cy="87510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1"/>
          <p:cNvSpPr/>
          <p:nvPr/>
        </p:nvSpPr>
        <p:spPr>
          <a:xfrm>
            <a:off x="514350" y="2627114"/>
            <a:ext cx="27546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تحليل البيانات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14350" y="3005733"/>
            <a:ext cx="275464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تحويل الأرقام الخام إلى قرارات تجارية ذكية للعملاء.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42900" y="3473648"/>
            <a:ext cx="3097541" cy="10287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Shape 14"/>
          <p:cNvSpPr/>
          <p:nvPr/>
        </p:nvSpPr>
        <p:spPr>
          <a:xfrm>
            <a:off x="3411866" y="3473648"/>
            <a:ext cx="28575" cy="10287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5"/>
          <p:cNvSpPr/>
          <p:nvPr/>
        </p:nvSpPr>
        <p:spPr>
          <a:xfrm>
            <a:off x="514350" y="3645098"/>
            <a:ext cx="27546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تحسين المحركات (SEO)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14350" y="4023717"/>
            <a:ext cx="275464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تصدر نتائج البحث وجذب الزيارات المجانية المستهدفة.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342900" y="4679156"/>
            <a:ext cx="1071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8758238" y="342900"/>
            <a:ext cx="42863" cy="64293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مسار الأتمتة والذكاء الاصطناعي</a:t>
            </a:r>
            <a:endParaRPr lang="en-US" sz="2450" dirty="0"/>
          </a:p>
        </p:txBody>
      </p:sp>
      <p:sp>
        <p:nvSpPr>
          <p:cNvPr id="7" name="Shape 3"/>
          <p:cNvSpPr/>
          <p:nvPr/>
        </p:nvSpPr>
        <p:spPr>
          <a:xfrm>
            <a:off x="2428875" y="1300163"/>
            <a:ext cx="4286250" cy="814388"/>
          </a:xfrm>
          <a:prstGeom prst="rect">
            <a:avLst/>
          </a:prstGeom>
          <a:solidFill>
            <a:srgbClr val="112240"/>
          </a:solidFill>
          <a:ln w="9144">
            <a:solidFill>
              <a:srgbClr val="00E5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5" y="1593056"/>
            <a:ext cx="17145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600325" y="1478756"/>
            <a:ext cx="36004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ربط الأدوات (Integration)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2600325" y="1800225"/>
            <a:ext cx="36004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جعل التطبيقات المختلفة تتحدث مع بعضها البعض تلقائياً.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991" y="2250281"/>
            <a:ext cx="150019" cy="17145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428875" y="2621756"/>
            <a:ext cx="4286250" cy="814388"/>
          </a:xfrm>
          <a:prstGeom prst="rect">
            <a:avLst/>
          </a:prstGeom>
          <a:solidFill>
            <a:srgbClr val="112240"/>
          </a:solidFill>
          <a:ln w="9144">
            <a:solidFill>
              <a:srgbClr val="00E5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2914650"/>
            <a:ext cx="28575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600325" y="2800350"/>
            <a:ext cx="34861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بناء سير العمل (Workflows)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2600325" y="3121819"/>
            <a:ext cx="34861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أتمتة المهام المتكررة مثل الفواتير، خدمة العملاء، والتقارير.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991" y="3571875"/>
            <a:ext cx="150019" cy="17145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2428875" y="3943350"/>
            <a:ext cx="4286250" cy="814388"/>
          </a:xfrm>
          <a:prstGeom prst="rect">
            <a:avLst/>
          </a:prstGeom>
          <a:solidFill>
            <a:srgbClr val="112240"/>
          </a:solidFill>
          <a:ln w="9144">
            <a:solidFill>
              <a:srgbClr val="FF6B35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5075" y="4236244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2600325" y="4121944"/>
            <a:ext cx="35433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تطبيقات الذكاء الاصطناعي</a:t>
            </a:r>
            <a:endParaRPr lang="en-US" sz="1250" dirty="0"/>
          </a:p>
        </p:txBody>
      </p:sp>
      <p:sp>
        <p:nvSpPr>
          <p:cNvPr id="20" name="Text 11"/>
          <p:cNvSpPr/>
          <p:nvPr/>
        </p:nvSpPr>
        <p:spPr>
          <a:xfrm>
            <a:off x="2600325" y="4443413"/>
            <a:ext cx="35433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دمج LLMs في العمليات اليومية لرفع الكفاءة 10 أضعاف.</a:t>
            </a:r>
            <a:endParaRPr lang="en-US" sz="850" dirty="0"/>
          </a:p>
        </p:txBody>
      </p:sp>
      <p:sp>
        <p:nvSpPr>
          <p:cNvPr id="21" name="Text 12"/>
          <p:cNvSpPr/>
          <p:nvPr/>
        </p:nvSpPr>
        <p:spPr>
          <a:xfrm>
            <a:off x="342900" y="4679156"/>
            <a:ext cx="964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8758238" y="342900"/>
            <a:ext cx="42863" cy="64293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المكدس الذي يبيع مهارتك</a:t>
            </a:r>
            <a:endParaRPr lang="en-US" sz="2450" dirty="0"/>
          </a:p>
        </p:txBody>
      </p:sp>
      <p:sp>
        <p:nvSpPr>
          <p:cNvPr id="7" name="Shape 3"/>
          <p:cNvSpPr/>
          <p:nvPr/>
        </p:nvSpPr>
        <p:spPr>
          <a:xfrm>
            <a:off x="342900" y="1271588"/>
            <a:ext cx="8458200" cy="66436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8" name="Shape 4"/>
          <p:cNvSpPr/>
          <p:nvPr/>
        </p:nvSpPr>
        <p:spPr>
          <a:xfrm>
            <a:off x="8743950" y="1271588"/>
            <a:ext cx="57150" cy="664369"/>
          </a:xfrm>
          <a:prstGeom prst="rect">
            <a:avLst/>
          </a:prstGeom>
          <a:solidFill>
            <a:srgbClr val="233554"/>
          </a:solidFill>
          <a:ln/>
        </p:spPr>
      </p:sp>
      <p:sp>
        <p:nvSpPr>
          <p:cNvPr id="9" name="Text 5"/>
          <p:cNvSpPr/>
          <p:nvPr/>
        </p:nvSpPr>
        <p:spPr>
          <a:xfrm>
            <a:off x="7086600" y="1443038"/>
            <a:ext cx="14287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الأدوات التقنية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68666" y="1493044"/>
            <a:ext cx="617934" cy="221456"/>
          </a:xfrm>
          <a:prstGeom prst="roundRect">
            <a:avLst/>
          </a:prstGeom>
          <a:solidFill>
            <a:srgbClr val="233554"/>
          </a:solidFill>
          <a:ln/>
        </p:spPr>
      </p:sp>
      <p:sp>
        <p:nvSpPr>
          <p:cNvPr id="11" name="Text 7"/>
          <p:cNvSpPr/>
          <p:nvPr/>
        </p:nvSpPr>
        <p:spPr>
          <a:xfrm>
            <a:off x="6468666" y="1493044"/>
            <a:ext cx="617934" cy="221456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VS Code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800725" y="1493044"/>
            <a:ext cx="525066" cy="221456"/>
          </a:xfrm>
          <a:prstGeom prst="roundRect">
            <a:avLst/>
          </a:prstGeom>
          <a:solidFill>
            <a:srgbClr val="233554"/>
          </a:solidFill>
          <a:ln/>
        </p:spPr>
      </p:sp>
      <p:sp>
        <p:nvSpPr>
          <p:cNvPr id="13" name="Text 9"/>
          <p:cNvSpPr/>
          <p:nvPr/>
        </p:nvSpPr>
        <p:spPr>
          <a:xfrm>
            <a:off x="5800725" y="1493044"/>
            <a:ext cx="525066" cy="221456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Figma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097066" y="1493044"/>
            <a:ext cx="560784" cy="221456"/>
          </a:xfrm>
          <a:prstGeom prst="roundRect">
            <a:avLst/>
          </a:prstGeom>
          <a:solidFill>
            <a:srgbClr val="233554"/>
          </a:solidFill>
          <a:ln/>
        </p:spPr>
      </p:sp>
      <p:sp>
        <p:nvSpPr>
          <p:cNvPr id="15" name="Text 11"/>
          <p:cNvSpPr/>
          <p:nvPr/>
        </p:nvSpPr>
        <p:spPr>
          <a:xfrm>
            <a:off x="5097066" y="1493044"/>
            <a:ext cx="560784" cy="221456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GitHub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129088" y="1493044"/>
            <a:ext cx="825103" cy="221456"/>
          </a:xfrm>
          <a:prstGeom prst="roundRect">
            <a:avLst/>
          </a:prstGeom>
          <a:solidFill>
            <a:srgbClr val="233554"/>
          </a:solidFill>
          <a:ln/>
        </p:spPr>
      </p:sp>
      <p:sp>
        <p:nvSpPr>
          <p:cNvPr id="17" name="Text 13"/>
          <p:cNvSpPr/>
          <p:nvPr/>
        </p:nvSpPr>
        <p:spPr>
          <a:xfrm>
            <a:off x="4129088" y="1493044"/>
            <a:ext cx="825103" cy="221456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ChatGPT API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42900" y="2050256"/>
            <a:ext cx="8458200" cy="66436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Shape 15"/>
          <p:cNvSpPr/>
          <p:nvPr/>
        </p:nvSpPr>
        <p:spPr>
          <a:xfrm>
            <a:off x="8743950" y="2050256"/>
            <a:ext cx="57150" cy="664369"/>
          </a:xfrm>
          <a:prstGeom prst="rect">
            <a:avLst/>
          </a:prstGeom>
          <a:solidFill>
            <a:srgbClr val="233554"/>
          </a:solidFill>
          <a:ln/>
        </p:spPr>
      </p:sp>
      <p:sp>
        <p:nvSpPr>
          <p:cNvPr id="20" name="Text 16"/>
          <p:cNvSpPr/>
          <p:nvPr/>
        </p:nvSpPr>
        <p:spPr>
          <a:xfrm>
            <a:off x="7086600" y="2221706"/>
            <a:ext cx="14287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دليل الأعمال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28650" y="2296716"/>
            <a:ext cx="6457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معرض أعمال (Portfolio) قوي يركز على النتائج لا المهارات.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42900" y="2828925"/>
            <a:ext cx="8458200" cy="66436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3" name="Shape 19"/>
          <p:cNvSpPr/>
          <p:nvPr/>
        </p:nvSpPr>
        <p:spPr>
          <a:xfrm>
            <a:off x="8743950" y="2828925"/>
            <a:ext cx="57150" cy="66436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0"/>
          <p:cNvSpPr/>
          <p:nvPr/>
        </p:nvSpPr>
        <p:spPr>
          <a:xfrm>
            <a:off x="7086600" y="3000375"/>
            <a:ext cx="14287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الباقة والعرض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28650" y="3075384"/>
            <a:ext cx="6457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تحديد "ماذا سأقدم؟" و "لمن؟" و "بكم؟" بوضوح تام.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42900" y="3607594"/>
            <a:ext cx="8458200" cy="66436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7" name="Shape 23"/>
          <p:cNvSpPr/>
          <p:nvPr/>
        </p:nvSpPr>
        <p:spPr>
          <a:xfrm>
            <a:off x="8743950" y="3607594"/>
            <a:ext cx="57150" cy="664369"/>
          </a:xfrm>
          <a:prstGeom prst="rect">
            <a:avLst/>
          </a:prstGeom>
          <a:solidFill>
            <a:srgbClr val="233554"/>
          </a:solidFill>
          <a:ln/>
        </p:spPr>
      </p:sp>
      <p:sp>
        <p:nvSpPr>
          <p:cNvPr id="28" name="Text 24"/>
          <p:cNvSpPr/>
          <p:nvPr/>
        </p:nvSpPr>
        <p:spPr>
          <a:xfrm>
            <a:off x="7086600" y="3779044"/>
            <a:ext cx="14287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التسعير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28650" y="3854053"/>
            <a:ext cx="6457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التسعير القائم على القيمة (Value-based) بدلاً من السعر بالساعة.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42900" y="4679156"/>
            <a:ext cx="1071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8758238" y="342900"/>
            <a:ext cx="42863" cy="64293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6F1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خطة 90 يومًا للبداية</a:t>
            </a:r>
            <a:endParaRPr lang="en-US" sz="2450" dirty="0"/>
          </a:p>
        </p:txBody>
      </p:sp>
      <p:sp>
        <p:nvSpPr>
          <p:cNvPr id="7" name="Shape 3"/>
          <p:cNvSpPr/>
          <p:nvPr/>
        </p:nvSpPr>
        <p:spPr>
          <a:xfrm>
            <a:off x="342900" y="2128838"/>
            <a:ext cx="8458200" cy="14288"/>
          </a:xfrm>
          <a:prstGeom prst="rect">
            <a:avLst/>
          </a:prstGeom>
          <a:solidFill>
            <a:srgbClr val="233554"/>
          </a:solidFill>
          <a:ln/>
        </p:spPr>
      </p:sp>
      <p:sp>
        <p:nvSpPr>
          <p:cNvPr id="8" name="Shape 4"/>
          <p:cNvSpPr/>
          <p:nvPr/>
        </p:nvSpPr>
        <p:spPr>
          <a:xfrm>
            <a:off x="7248562" y="1700213"/>
            <a:ext cx="285750" cy="285750"/>
          </a:xfrm>
          <a:prstGeom prst="ellipse">
            <a:avLst/>
          </a:prstGeom>
          <a:solidFill>
            <a:srgbClr val="0A192F"/>
          </a:solidFill>
          <a:ln w="27432">
            <a:solidFill>
              <a:srgbClr val="00E5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248562" y="170021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6319875" y="2200275"/>
            <a:ext cx="2143125" cy="159662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7"/>
          <p:cNvSpPr/>
          <p:nvPr/>
        </p:nvSpPr>
        <p:spPr>
          <a:xfrm>
            <a:off x="6319875" y="3768328"/>
            <a:ext cx="2143125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8"/>
          <p:cNvSpPr/>
          <p:nvPr/>
        </p:nvSpPr>
        <p:spPr>
          <a:xfrm>
            <a:off x="6491325" y="2371725"/>
            <a:ext cx="1800225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الأيام 1-30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91325" y="2725341"/>
            <a:ext cx="18002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التعلم المركز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91325" y="3018234"/>
            <a:ext cx="18002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• اختيار مسار واحد فقط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491325" y="3211116"/>
            <a:ext cx="18002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• بناء 3 مشاريع تجريبية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491325" y="3403997"/>
            <a:ext cx="18002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• إتقان الأدوات الأساسية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429181" y="1700213"/>
            <a:ext cx="285750" cy="285750"/>
          </a:xfrm>
          <a:prstGeom prst="ellipse">
            <a:avLst/>
          </a:prstGeom>
          <a:solidFill>
            <a:srgbClr val="FF6B35"/>
          </a:solidFill>
          <a:ln w="27432">
            <a:solidFill>
              <a:srgbClr val="FF6B3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29181" y="170021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F1FF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500493" y="2200275"/>
            <a:ext cx="2143125" cy="159662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0" name="Shape 16"/>
          <p:cNvSpPr/>
          <p:nvPr/>
        </p:nvSpPr>
        <p:spPr>
          <a:xfrm>
            <a:off x="3500493" y="3768328"/>
            <a:ext cx="2143125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7"/>
          <p:cNvSpPr/>
          <p:nvPr/>
        </p:nvSpPr>
        <p:spPr>
          <a:xfrm>
            <a:off x="3671943" y="2371725"/>
            <a:ext cx="1800225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الأيام 31-60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671943" y="2725341"/>
            <a:ext cx="18002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بناء الظهور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3671943" y="3018234"/>
            <a:ext cx="18002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• إطلاق معرض الأعمال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671943" y="3211116"/>
            <a:ext cx="18002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• التواجد على LinkedIn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671943" y="3403997"/>
            <a:ext cx="18002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• تقديم خدمات مجانية لعميلين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1609799" y="1700213"/>
            <a:ext cx="285750" cy="285750"/>
          </a:xfrm>
          <a:prstGeom prst="ellipse">
            <a:avLst/>
          </a:prstGeom>
          <a:solidFill>
            <a:srgbClr val="0A192F"/>
          </a:solidFill>
          <a:ln w="27432">
            <a:solidFill>
              <a:srgbClr val="00E5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609799" y="170021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81112" y="2200275"/>
            <a:ext cx="2143125" cy="159662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9" name="Shape 25"/>
          <p:cNvSpPr/>
          <p:nvPr/>
        </p:nvSpPr>
        <p:spPr>
          <a:xfrm>
            <a:off x="681112" y="3768328"/>
            <a:ext cx="2143125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0" name="Text 26"/>
          <p:cNvSpPr/>
          <p:nvPr/>
        </p:nvSpPr>
        <p:spPr>
          <a:xfrm>
            <a:off x="852562" y="2371725"/>
            <a:ext cx="1800225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الأيام 61-90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852562" y="2725341"/>
            <a:ext cx="18002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الانطلاق التجاري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852562" y="3018234"/>
            <a:ext cx="18002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• أول عميل مدفوع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852562" y="3211116"/>
            <a:ext cx="18002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• تحسين العرض السعري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852562" y="3403997"/>
            <a:ext cx="18002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• البدء في التخصص الدقيق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342900" y="4679156"/>
            <a:ext cx="1071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493169" y="1130889"/>
            <a:ext cx="415766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6B35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ابدأ بمشكلة واحدة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2493169" y="2216739"/>
            <a:ext cx="4157663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6F1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تبيع التقنية كأدوات مجردة؛</a:t>
            </a:r>
            <a:r>
              <a:rPr lang="en-US" sz="1700" dirty="0">
                <a:solidFill>
                  <a:srgbClr val="E6F1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
</a:t>
            </a:r>
            <a:r>
              <a:rPr lang="en-US" sz="1700" dirty="0">
                <a:solidFill>
                  <a:srgbClr val="E6F1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 النتيجة التي يشتريها العميل لحل مشكلته.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2493169" y="3376817"/>
            <a:ext cx="4157663" cy="635794"/>
          </a:xfrm>
          <a:prstGeom prst="rect">
            <a:avLst/>
          </a:prstGeom>
          <a:noFill/>
          <a:ln/>
        </p:spPr>
        <p:txBody>
          <a:bodyPr wrap="square" lIns="408178" tIns="170053" rIns="408178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ابدأ رحلتك اليوم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342900" y="4679156"/>
            <a:ext cx="928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2026-09-10T07:28:42Z</dcterms:created>
  <dcterms:modified xsi:type="dcterms:W3CDTF">2026-09-10T07:28:42Z</dcterms:modified>
</cp:coreProperties>
</file>